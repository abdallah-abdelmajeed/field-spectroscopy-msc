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slideMasters/slideMaster247.xml" ContentType="application/vnd.openxmlformats-officedocument.presentationml.slideMaster+xml"/>
  <Override PartName="/ppt/slides/slide247.xml" ContentType="application/vnd.openxmlformats-officedocument.presentationml.slide+xml"/>
  <Override PartName="/ppt/slideMasters/slideMaster248.xml" ContentType="application/vnd.openxmlformats-officedocument.presentationml.slideMaster+xml"/>
  <Override PartName="/ppt/slides/slide248.xml" ContentType="application/vnd.openxmlformats-officedocument.presentationml.slide+xml"/>
  <Override PartName="/ppt/slideMasters/slideMaster249.xml" ContentType="application/vnd.openxmlformats-officedocument.presentationml.slideMaster+xml"/>
  <Override PartName="/ppt/slides/slide2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Lst>
  <p:notesMasterIdLst>
    <p:notesMasterId r:id="rId25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notesMaster" Target="notesMasters/notesMaster1.xml"/><Relationship Id="rId252" Type="http://schemas.openxmlformats.org/officeDocument/2006/relationships/presProps" Target="presProps.xml"/><Relationship Id="rId253" Type="http://schemas.openxmlformats.org/officeDocument/2006/relationships/viewProps" Target="viewProps.xml"/><Relationship Id="rId254" Type="http://schemas.openxmlformats.org/officeDocument/2006/relationships/theme" Target="theme/theme1.xml"/><Relationship Id="rId2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In this introductory lecture, we define field spectroscopy not merely as a measurement technique, but as the foundational ground-truth pillar of modern optical remote sensing.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division of wavelengths. Each spectral region interacts with matter at distinct quantum energetic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why we neglect self-emission from targets below 2500 nm in normal environmental temperatures (&lt; 50°C). Optical field spectroscopy measures reflected solar photons.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mathematical derivation connecting Wien's displacement to the derivative of Planck's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 close attention to projected area (dA cos θ). Spectroradiometers measure spectral radiance entering their field-of-view foreoptic.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a broadband pyranometer can indicate stable global solar flux while spectral irradiance changes due to changing water vapor.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why field spectroscopic campaigns should restrict measurements to AM &lt; 1.5 to minimize excessive atmospheric attenuation.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solar distance correction factor (d0/d) squared for Earth-Sun elliptical orbital eccentricity.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transmission spectrum from MODTRAN/6S radiative transfer code to demonstrate the deep water vapor dips.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Oxygen A-band at 760 nm. This band is widely used in satellite remote sensing to retrieve solar-induced chlorophyll fluorescence (SIF).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why targets measured in shadows still receive significant blue illumination: diffuse Rayleigh skylight.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hazy day with identical total lux to a clear day has radically different spectral composition due to forward Mie scattering.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measurements made under partly cloudy skies fail because the diffuse component fluctuates erratically.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students distinguish between reflected radiance [W/m²/sr/nm] and reflectance [dimensionless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BRDF is not dimensionless—it has units of 1/steradian. Its integral over the hemisphere produces directional-hemispherical reflectance.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paper by Schaepman-Strub is mandatory reading. Misidentifying HCRF as BRF or BRDF is an immediate red flag in MSc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the integral on the board. Students often confuse 2π with π because they forget the cosine projection weighting.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to always compute true solar time rather than civil clock time (accounting for equation of time and longitude).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that cross-polarizing filters can remove waxy specular reflections, isolating the internal diffuse cellular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absorbance spectra of isolated pigments in acetone vs. in vivo intact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 atoms like Hydrogen (H) vibrating against O, C, or N yield high vibrational frequencies, placing overtones in the SWIR.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Water Index (WI = R900 / R970) as a robust indicator of canopy hydration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field spectroscopy is utilized in exploration geology, planetary missions, and acid mine drainage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without multiple internal scattering, leaves would be transparent in the NIR. The NIR plateau reflectance is typically 40–50%.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Soil roughness creates micro-shadows that decrease apparent reflectance; always rake or level soil surfaces or log roughness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laboratory measurements cannot simply be substituted for field spectra: canopies are dynamic living biophysical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why an optical pyranometer or dual-beam spectrometer setup is ideal for detecting subtle irradiance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expanding conical footprint on the board. Remind students that moving the sensor 2x higher covers 4x the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students to the NERC FSF calibration documentation and Coblentz spectral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the lecture, open the floor for questions, and preview the practical laboratory on solar spectrum modeling.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Module 2, we study the physical hardware subsystems that convert incident photons into calibrated digital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physical instrument cutaway diagrams and compare the internal spectrometer optical benches.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students: Attaching a 1° or 8° foreoptic lens changes optical throughput and requires a new white reference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fragile inner structure of a fiber cable. Broken strands permanently reduce throughput and degrade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measure leaves with contact probe clamped for no more than 3–5 seconds to prevent thermal scorch.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diffraction order overlap can cause false signals in the NIR if filter transitions degrade.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quantum efficiency curve of silicon: peaks around 700–800 nm, drops sharply at 1000 nm.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why older spectrometers used liquid nitrogen cooled detectors; modern thermoelectric coolers made portable field radiometry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mechanical vulnerability of rotating scanning gratings with solid-state array 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Caution students: Just because a vendor exports data with 1 nm increments does not mean the optical resolution is 1 nm! ASD is 3 nm in VNIR, 8–10 nm in SWIR.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the mathematical convolution of a hyperspectral curve with Sentinel-2 spectral response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what a clipped, flat-topped saturated spectrum looks like in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integration time scales linearly with counts in VNIR array detectors.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an uncorrected vegetation spectrum showing a prominent 5% jump at 1000 nm. Explain splice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averaging 25 spectra improves SNR by a factor of 5 (√25 = 5), while averaging 100 scans improves it by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rule of diminishing returns: moving from 25 to 100 scans quadruples measurement time but only doubles SNR.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dark current count spectrum across the 2151 channels, highlighting the difference between cooled and uncooled detectors.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stray light leads to underestimation of deep absorption feature depths if not mathematically calibrated.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built-in temperature logging in modern SVC and ASD instruments.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operational trade-offs: single-beam is simpler and lighter; dual-beam is essential in variable temperate climates like the 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photos of well-designed field boom arms versus sloppy handheld operator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microscopic porous structure of PTFE that creates almost perfect diffuse scattering through multiple internal refractions.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how to re-sand and clean a Spectralon panel according to Labsphere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measuring only leaf reflectance is insufficient to parameterize PROSPECT; leaf transmittance is equally 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field-portable integrating spheres (e.g. ASD RTS-3ZC, SVC LC-RP Pro).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why reflectance can be measured accurately in the field even if absolute radiometric calibration has decayed by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field horror stories of spending two hours hiking to a remote field site only to find dead batteries.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live software GUI and highlight the key indicators students must watch during active data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geological cross-section and show how 500 point spectra mapped the entire hydrothermal alteration gradient.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hardware lecture, confirm understanding of detector bandgap limits and fiber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3. We focus on sensor calibration, white reference integrity, and rigorous uncertainty propagation.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emission spectrum of a Hg-Ar lamp. Emphasize that these physical atomic transitions never drift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practical procedure for placing a Mylar film over the entrance foreoptic under a stable halogen lamp.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integrating spheres must be calibrated against NIST gold-standard blackbody cavity furnaces.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a 1 mm positioning error in lamp distance at 50 cm produces a 0.4% calibration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dark current subtraction is non-negotiable; forgetting it renders all reflectance math invalid.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departure from linearity at counts &gt; 55,000 on a 16-bit ADC, explaining why 45,000 counts is the target optimization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reading a genuine Labsphere calibration certificate and extracting the tabular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before-and-after spectral curves of an abused field panel versus a pristine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Labsphere recommended sanding procedure step-by-step.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Instill this institutional discipline: field working standards will get dirty; master standards must remain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BRDF scattering polar plot of Spectralon measured by sandmeier et al. using a laboratory goniometer.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polar response curve of a cosine diffuser against the theoretical cosine circle.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how an uncorrected 5-minute delay creates a false spectral slope across the entire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dual-beam is not magic: it trades temporal solar uncertainty for inter-channel calibration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GUM methodology. Remote sensing papers that state "reflectance = 0.42" without ± uncertainty are methodologically deficient.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a spreadsheet table totaling the individual variance terms in quadrature.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derivative of a sharp absorption peak: slope is steepest on the wings, where wavelength shifts generate maximum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NERC FSF field validation lamp kits.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results from the CEOS WGCV inter-comparison campaigns over dry lake salt flats.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official CEOS document and review its mandatory field log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the live RadCalNet web portal and inspect a real-time calibrated reflectance curve from Railroad Valley.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field spectroscopy was critical for re-calibrating Landsat-7 ETM+ and Landsat-8 OLI after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 the laminated checklist template 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spectrum where one channel was saturated and how it created a massive spike when computing NDVI.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how a cubic spline creates a false absorption feature near the steep red edge if tie points are sparse.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keeping these water vapor bands in statistical models (PLSR/Random Forest) leads to catastrophic overfitting.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experimental layout diagram and show student-collected cross-calibration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of the FAIR data principles: Findable, Accessible, Interoperable, Reusable.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calibration module, invite questions on the uncertainty budget, and preview Field Exercise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4. Here we transition from instrument mechanics to the operational choreography of outdoor field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solar elevation chart and emphasize why trying to acquire field spectra at 8:00 AM or 17:00 PM yields uninterpretable BRDF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calculating true solar noon for their exact university campus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aerial photos of the bright hotspot halo around an aircraft shadow over forests or crop canopies.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with a laser pointer mounted on a handheld grip how much hand tremor shifts the target footprint.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calculate footprint sizes for 1°, 8°, and 25° foreoptics held at heights of 1 m, 2 m, and 5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REV graph: variance is huge at small scale, drops to a stable plateau, then rises as regional landscape heterogeneity enters.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polar diagram of diffuse sky blockage caused by an operator standing 50 cm away from a Spectralon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3D spherical coordinate geometry showing the SPP and CPP orientations relative to solar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an example: If CV = 20% and we want mean reflectance estimated within 5% error, N = (1.96 * 0.20 / 0.05)^2 ≈ 62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four sampling diagrams and discuss when stratified random is superior to systematic grids.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Gaussian 2D PSF of Sentinel-2 MSI and how off-center ground targets contribute to adjacent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difference between RTK Fixed (integer ambiguity resolved, cm accuracy) and RTK Float (decimeter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a passing thin cirrus cloud creates a 3% dip in pyranometer flux that is invisible to the naked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Microtops instrument and show how AERONET data can substitute if a fixed site is within 25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neglecting soil moisture changes during a day can lead to false conclusions about vegetation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photos of an erectophile grass canopy vs planophile clover and contrast their nadir reflectance spectra.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proper leaf preservation techniques for remote expeditions.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biological soil crusts in drylands produce a false "vegetation" signal due to cyanobacterial chlorophyll.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why measuring water straight down (nadir) fails: severe sun glint blinds the spectrometer.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video/photos of the FIGIFIGO goniometer operating over snow and peat bogs.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how UAV reconnaissance prevents wasting field time on non-representative ground patches.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hierarchical tree structure of an ISO 19115-2 metadata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 printable NERC FSF field sheets and review their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how an electronic form ensures no required parameter is accidentally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a photograph taken 5 years ago helped resolve an unexpected spectral anomaly in a long-term ecological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 mock drill in the classroom simulating the two-person team verbal communication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students the heartbreak of lost field data and how strict daily triage saves research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Jasper Ridge spatial maps, hyperspectral image cubes, and the strong agreement with field spectra.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golden rules of field radiometry, answer questions on sampling geometry, and introduce Lab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5. We transition from stationary tripods to airborne drone imaging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3D data cube animation illustrating line-scan vs frame-sequential acquisition.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spectral band comparisons of MicaSense 5-band vs Headwall 270-band curves over the same leaf.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out a practical flight calculation: if GSD = 3 cm and frame rate = 100 Hz, maximum flight speed is 3.0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raw distorted "snake" pushbroom image before IMU trajectory correction and the clean orthorectified image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boresight pitch error of only 0.2° produces a 17 cm ground projection error from a flight altitude of 50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Agisoft Metashape and Pix4D workflows for multispectral radiometric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MicaSense DLS-2 sensor and discuss how its built-in magnetometer and orientation sensor correct for drone tilt.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why ELM remains the gold standard for UAV optical calibration: it eliminates atmospheric model uncertainties.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classic rolling shutter photo of a bent airplane propeller to explain why it destroys photogrammetric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an uncorrected multispectral mosaic with dark circular halos in every frame before vignetting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an unbalanced gimbal overheats its motor drivers and induces high-frequency micro-jitter.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Calculate GSD for a 5.5 µm pixel pitch, 8 mm lens flown at 50 m AGL (GSD = 50 * 5.5e-6 / 8e-3 = 3.44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flight profile cross-section of a terrain-following flight vs a flat barometric flight.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full atmospheric radiative transfer codes like 6S/MODTRAN are usually overkill for low-altitude UAVs, whereas ELM is ideal.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this core trade-off: You cannot have 1 cm spatial resolution, 1 nm spectral resolution, and 1000:1 SNR simultaneously on a drone.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multispectral orthomosaic over an orchard where half the leaves are washed out white from sun glint.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photos of well-pinned tarps versus wrinkled, windblown tarps that ruined a drone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flight planning in software, showing overlap coverage heatmaps.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the radiometric calibration settings panel in Pix4Dmapper and Agisoft Metashape.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3D LiDAR canopy point cloud color-coded by hyperspectral chlorophyll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legal liabilities of conducting university UAV research flights.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Calculate daily storage requirements for a 4-flight research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examples of poor orthomosaic stitching where tree crowns are smeared into blurred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the high-resolution vine segmentation mask and the resulting water stress prescription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classified forest map with individual delineated crowns color-coded by species.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geological false-color composite and mineral abundance maps from an abandoned copper 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multi-tier scaling pyramid diagram from leaf clip to space station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cutting-edge prototypes currently in academic flight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UAV lecture, address flight planning questions, and preview Practical Lab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6. Here we master the mathematical toolkit of chemometrics and spectroscopic feature extraction.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on the board how a moving average blunts a sharp Kaolinite doublet into an uninterpretable lump.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effect of increasing window size from 5 to 51 nm on the Chlorophyll red edge slope.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after SNV, every spectrum has a mean of 0.0 and a standard deviation of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MSC with SNV: MSC uses the population mean; SNV is purely sample-internal. Their results are mathematically very similar.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an agricultural grain flour spectrum before and after SNV-Detrend.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rubber-band analogy on the board: imagine stretching a rubber band tightly over the top of the spectral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how Band Area scales linearly with chemical absorber concentration according to radiative transfer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Al-OH 2200 nm feature in pure muscovite vs phengite and how asymmetry shifts.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Warning: Taking a numerical derivative of raw noisy data amplifies high-frequency noise by 1/Δλ. Always smooth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red edge shift in leaves subjected to heavy metal stress vs healthy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saturation curve of broadband NDVI vs narrowband NDRE over a dense corn canopy.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three-band concept: 1/R(pigment) - 1/R(interfering) normalized by R(NIR).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diurnal PRI curves: drops sharply at midday as plants enter photo-inhibition, recovers in late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use 970 and 1240 nm rather than 1400 nm? Because 1400 nm saturates immediately and is blocked by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SWIR spectrum of dry wheat straw vs green wheat vs bare mineral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mining geologists use these exact band ratios to map alteration zones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geometric intuition: Two spectra that have identical shapes but differ in brightness lie along the same vector ray (θ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classification confusion matrices of SAM vs SID for discriminating 12 mineral species.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scree plot of eigenvalues and display false-color composites of PC1, PC2, and PC3.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MNF with PCA. Explain why MNF is the standard preprocessing step prior to spectral unmixing.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unmixing a mixed pixel containing 40% green leaf, 35% dry litter, and 25% bare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multiple scattering photon trajectory through a 3D forest canopy to explain non-linear mixing.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VIP scores: Wavelengths with VIP &gt; 1.0 are considered statistically significant predictors.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an example of a 100-band noise dataset predicting a random coin flip with R² = 0.92 when overfitted with 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USGS mineral library database and the Tetracorder decision-tree logic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dry leaf spectra vs fresh leaf spectra in the 2100–2200 nm zone to demonstrate protein feature unmasking.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package dependencies and show the online documentation for hsdar and prospectr.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flowchart of an automated batch script processing 5,000 field spectra in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preprocessing lecture, confirm understanding of continuum removal math, and introduce Lab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7. Here we explore the physics-based heart of quantitative optical remote sensing: PROSAIL and RTM 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forward and inverse arrows on the board. Emphasize why the inverse problem requires regularization.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anatomical cross-section of a dicot leaf: upper epidermis, palisade mesophyll, spongy mesophyll with intercellular air cavities.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chronological development of PROSPECT versions over three decades of peer-reviewed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N is dimensionless (typically 1.1 for monocots up to 2.5 for thick sclerophyllous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increasing N from 1.0 to 3.0 boosts 800 nm reflectance from 10% to 55% while keeping chlorophyll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"cavity effect": photons entering canopy gaps bounce between leaves, increasing the probability of absorption.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the 4x4 matrix: k is extinction, a is attenuation, σ is backscattering, K is directional viewing extinction.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6 standard leaf angle distribution types according to de Wit (1965) and Verhoef (1984).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the combined workflow diagram showing PROSPECT outputs flowing seamlessly as inputs into 4SAIL.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classic Sobol sensitivity variance decomposition plot across 400–2500 nm.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concept of "spectral equifinality" and why brute-force minimization leads to unphysical parameter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why averaging the top 50 matches (mean or median) is far more robust than taking the single best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adding the prior penalty term (Tikhonov regularization) eliminates wild outlier retrievals.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Sentinel-2 biophysical processor in ESA SNAP which runs GPR to output LAI, FAPAR, and FVC.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3D visual renderings from DART showing ray-traced photons interacting with individual leaf facets in an orchard.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gap fraction curve of a clumped spruce stand vs a uniform wheat field to illustrate optical clumping.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oxygen absorption notch at 760 nm where SIF fills in the dark atmospheric absorption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validation scatter plots of retrieved LAI vs harvested leaf area for maize, wheat, and grassland.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how an erroneous dry soil assumption over moist soil causes RTM inversion to overestimate 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coupled atmosphere-canopy radiative transfer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why hybrid approaches dominate operational satellite processors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SWIR water overtone fit between field measurements and inverted PROSAIL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seasonal leaf spectra tracking anthocyanin development in autumn red maple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simplicity of calling `prosail.run_prosail` in Python with only 10 input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active learning prevents over-populating the LUT in non-informative dense parameter 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nadir vs oblique viewing rays penetrating through vertical grass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dynamic yield forecast curve updating after each satellite/drone RTM ingestion.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next generation of 3D radiative transfer digital twins.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RTM lecture, confirm understanding of the forward and inverse loops, and preview Lab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capstone Module 8. We examine how to structure, preserve, and publish field spectroscopy data according to international FAIR 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15 formal FAIR facets and show how they apply specifically to optical field radiometry.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Entity-Relationship (ER) diagram of the SPECCHIO PostgreSQL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following a spectral vector back to the exact factory calibration certificate of the fiber cable.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Navigate the USGS online spectral portal and show how to download ASCII spectral vectors.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CEOS Working Group on Calibration and Validation (WGCV) technical specifications.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ncdump header of a multi-campaign NetCDF-4 file containing 10,000 field spectra.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Python loader script that ingests an entire folder of 500 raw ASD files in 3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 live SQL query showing how spatial and spectral filters combine seamlessly.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how an ASD 2151-channel field spectrum is resampled into the 13 Sentinel-2 MSI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GitHub repository structure of a peer-reviewed remote sensing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images acquired by EnMAP and PRISMA and show how field spectra validate their atmospheric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capstone project grading rubric and deliverable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inspiring closing remarks congratulating students on completing the course lectures and preparing them for the field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students how to generate a DOI on Zenodo for their field spectroscopy research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modern dashboard interfaces used in national environmental monitoring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Google Slides API export feature built directly into this course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students to apply for student membership in IEEE GRSS and attend NERC FSF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Navigate the IDB website and show how to look up specific sensor band combinations.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research ethics and environmental stewardship during outdoor field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deconvolution of a complex clay spectrum into three distinct Gaussian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interactive point-and-click spectrum extraction from a 3D data cube in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a 5-year continuous time series of NDVI and PRI from a NEON forest tower.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Lichtenthaler (1987) equations for calculating chlorophyll a, b, and total carotenoids in acetone.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SuperCam spectra from Mars compared against ground spectra collected in Chilean analog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paradigm shift toward Physics-Informed Machine Learning in Earth 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post-field season maintenance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common reviewer criticisms of field spectroscopy manuscripts and how to avoid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querying the AI Research Tutor within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inspiring final congratulations to the graduating MSc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sp>
        <p:nvSpPr>
          <p:cNvPr id="2" name="Text 0"/>
          <p:cNvSpPr/>
          <p:nvPr/>
        </p:nvSpPr>
        <p:spPr>
          <a:xfrm>
            <a:off x="731520" y="1097280"/>
            <a:ext cx="7772400" cy="365760"/>
          </a:xfrm>
          <a:prstGeom prst="rect">
            <a:avLst/>
          </a:prstGeom>
          <a:noFill/>
          <a:ln/>
        </p:spPr>
        <p:txBody>
          <a:bodyPr wrap="square" rtlCol="0" anchor="ctr"/>
          <a:lstStyle/>
          <a:p>
            <a:pPr indent="0" marL="0">
              <a:buNone/>
            </a:pPr>
            <a:r>
              <a:rPr lang="en-US" sz="1400" b="1" dirty="0">
                <a:solidFill>
                  <a:srgbClr val="34D399"/>
                </a:solidFill>
              </a:rPr>
              <a:t>GEO-MSc-704 MASTER CURRICULUM</a:t>
            </a:r>
            <a:endParaRPr lang="en-US" sz="1400" dirty="0"/>
          </a:p>
        </p:txBody>
      </p:sp>
      <p:sp>
        <p:nvSpPr>
          <p:cNvPr id="3" name="Text 1"/>
          <p:cNvSpPr/>
          <p:nvPr/>
        </p:nvSpPr>
        <p:spPr>
          <a:xfrm>
            <a:off x="731520" y="1645920"/>
            <a:ext cx="7772400" cy="1097280"/>
          </a:xfrm>
          <a:prstGeom prst="rect">
            <a:avLst/>
          </a:prstGeom>
          <a:noFill/>
          <a:ln/>
        </p:spPr>
        <p:txBody>
          <a:bodyPr wrap="square" rtlCol="0" anchor="ctr"/>
          <a:lstStyle/>
          <a:p>
            <a:pPr indent="0" marL="0">
              <a:buNone/>
            </a:pPr>
            <a:r>
              <a:rPr lang="en-US" sz="3200" b="1" dirty="0">
                <a:solidFill>
                  <a:srgbClr val="FFFFFF"/>
                </a:solidFill>
              </a:rPr>
              <a:t>Principles of Field Spectroscopy</a:t>
            </a:r>
            <a:endParaRPr lang="en-US" sz="3200" dirty="0"/>
          </a:p>
        </p:txBody>
      </p:sp>
      <p:sp>
        <p:nvSpPr>
          <p:cNvPr id="4" name="Text 2"/>
          <p:cNvSpPr/>
          <p:nvPr/>
        </p:nvSpPr>
        <p:spPr>
          <a:xfrm>
            <a:off x="731520" y="2926080"/>
            <a:ext cx="7772400" cy="457200"/>
          </a:xfrm>
          <a:prstGeom prst="rect">
            <a:avLst/>
          </a:prstGeom>
          <a:noFill/>
          <a:ln/>
        </p:spPr>
        <p:txBody>
          <a:bodyPr wrap="square" rtlCol="0" anchor="ctr"/>
          <a:lstStyle/>
          <a:p>
            <a:pPr indent="0" marL="0">
              <a:buNone/>
            </a:pPr>
            <a:r>
              <a:rPr lang="en-US" sz="1600" dirty="0">
                <a:solidFill>
                  <a:srgbClr val="CBD5E1"/>
                </a:solidFill>
              </a:rPr>
              <a:t>Complete Lecture Series • All 8 Modules • 240 Rigorous Technical Slides</a:t>
            </a:r>
            <a:endParaRPr lang="en-US" sz="1600" dirty="0"/>
          </a:p>
        </p:txBody>
      </p:sp>
      <p:sp>
        <p:nvSpPr>
          <p:cNvPr id="5" name="Text 3"/>
          <p:cNvSpPr/>
          <p:nvPr/>
        </p:nvSpPr>
        <p:spPr>
          <a:xfrm>
            <a:off x="731520" y="3657600"/>
            <a:ext cx="7772400" cy="548640"/>
          </a:xfrm>
          <a:prstGeom prst="rect">
            <a:avLst/>
          </a:prstGeom>
          <a:noFill/>
          <a:ln/>
        </p:spPr>
        <p:txBody>
          <a:bodyPr wrap="square" rtlCol="0" anchor="ctr"/>
          <a:lstStyle/>
          <a:p>
            <a:pPr indent="0" marL="0">
              <a:buNone/>
            </a:pPr>
            <a:r>
              <a:rPr lang="en-US" sz="1200" i="1" dirty="0">
                <a:solidFill>
                  <a:srgbClr val="94A3B8"/>
                </a:solidFill>
              </a:rPr>
              <a:t>Optical Physics • Radiometry • Calibration • Protocols • UAV Imaging • Preprocessing • PROSAIL • Spectral Libraries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1645920"/>
            <a:ext cx="7772400" cy="365760"/>
          </a:xfrm>
          <a:prstGeom prst="rect">
            <a:avLst/>
          </a:prstGeom>
          <a:noFill/>
          <a:ln/>
        </p:spPr>
        <p:txBody>
          <a:bodyPr wrap="square" rtlCol="0" anchor="ctr"/>
          <a:lstStyle/>
          <a:p>
            <a:pPr indent="0" marL="0">
              <a:buNone/>
            </a:pPr>
            <a:r>
              <a:rPr lang="en-US" sz="1600" b="1" dirty="0">
                <a:solidFill>
                  <a:srgbClr val="34D399"/>
                </a:solidFill>
              </a:rPr>
              <a:t>MODULE 1</a:t>
            </a:r>
            <a:endParaRPr lang="en-US" sz="1600" dirty="0"/>
          </a:p>
        </p:txBody>
      </p:sp>
      <p:sp>
        <p:nvSpPr>
          <p:cNvPr id="3" name="Text 1"/>
          <p:cNvSpPr/>
          <p:nvPr/>
        </p:nvSpPr>
        <p:spPr>
          <a:xfrm>
            <a:off x="731520" y="2194560"/>
            <a:ext cx="7772400" cy="1097280"/>
          </a:xfrm>
          <a:prstGeom prst="rect">
            <a:avLst/>
          </a:prstGeom>
          <a:noFill/>
          <a:ln/>
        </p:spPr>
        <p:txBody>
          <a:bodyPr wrap="square" rtlCol="0" anchor="ctr"/>
          <a:lstStyle/>
          <a:p>
            <a:pPr indent="0" marL="0">
              <a:buNone/>
            </a:pPr>
            <a:r>
              <a:rPr lang="en-US" sz="2600" b="1" dirty="0">
                <a:solidFill>
                  <a:srgbClr val="FFFFFF"/>
                </a:solidFill>
              </a:rPr>
              <a:t>Physics of Optical Radiation, Radiometry &amp; Atmospheric Transmission</a:t>
            </a:r>
            <a:endParaRPr lang="en-US" sz="2600" dirty="0"/>
          </a:p>
        </p:txBody>
      </p:sp>
      <p:sp>
        <p:nvSpPr>
          <p:cNvPr id="4" name="Text 2"/>
          <p:cNvSpPr/>
          <p:nvPr/>
        </p:nvSpPr>
        <p:spPr>
          <a:xfrm>
            <a:off x="731520" y="3474720"/>
            <a:ext cx="7772400" cy="1371600"/>
          </a:xfrm>
          <a:prstGeom prst="rect">
            <a:avLst/>
          </a:prstGeom>
          <a:noFill/>
          <a:ln/>
        </p:spPr>
        <p:txBody>
          <a:bodyPr wrap="square" rtlCol="0" anchor="ctr"/>
          <a:lstStyle/>
          <a:p>
            <a:pPr indent="0" marL="0">
              <a:buNone/>
            </a:pPr>
            <a:r>
              <a:rPr lang="en-US" sz="1100" dirty="0">
                <a:solidFill>
                  <a:srgbClr val="94A3B8"/>
                </a:solidFill>
              </a:rPr>
              <a:t>4 Teaching Hours • 1.5 ECTS Credits • This foundational module introduces MSc students to the core electromagnetic physics and radiative principles governing field spectroscopy. Students master Planck's law, Wien's displacement, blackbody emission, and the radiometric cascade from radiant flux to spectral radiance. The module investigates extraterrestrial solar irradiance (AM0 vs AM1.5), atmospheric attenuation mechanisms (Rayleigh and Mie scattering, gaseous absorption by H2O, CO2, O2, and O3), and the formal reflectance nomenclature defined by Schaepman-Strub et al., contrasting theoretical BRDF with field-measurable HCRF.</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Introduction to Field Spectroscopy in Environmental Science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Field spectroscopy bridges laboratory optical physics, ground truth validation, and airborne/satellite Earth observation.</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Definition: In situ measurement of solar spectral radiance and material spectral reflectance.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Core purpose: Calibrating spaceborne sensors, validating atmospheric corrections, and quantifying surface biogeochemical traits.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Distinction between laboratory spectrophotometry and field spectroradiometry under dynamic solar illumination.</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Natural outdoor measurements inherit solar zenith dynamics and atmospheric aerosol fluctuations.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(1987). Principles of field spectroscopy. International Journal of Remote Sensing, 8(12), 1807-1827.</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Electromagnetic Spectrum &amp; Optical Domain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Field spectroscopy operates primarily in the 350–2500 nm range: VNIR (350–1000 nm), SWIR-1 (1000–1800 nm), and SWIR-2 (1800–2500 nm).</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Visible range (380–740 nm): Governed by electronic transitions in photosynthetic pigments and iron oxides.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Near-Infrared (NIR 740–1000 nm): Dominated by internal leaf cellular scattering and mineral crystal lattice reflections.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Shortwave-Infrared (SWIR 1000–2500 nm): Dominated by fundamental molecular vibrations, overtones, and combination bands (O-H, C-H, N-H, Al-OH).</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c = \lambda \cdot \nu \quad \text{and} \quad E = h \cdot \nu = \frac{h \cdot c}{\lambda}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Clark, R. N. (1999). Spectroscopy of rocks and minerals, and principles of spectroscopy. Manual of Remote Sensing, 3, 3-58.</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Blackbody Radiation &amp; Planck's Law</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Planck's distribution defines ideal thermal radiative emission as a function of absolute temperature and wavelength.</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Ideal blackbody: Perfect absorber and emitter of electromagnetic radiation at thermodynamic equilibrium.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Solar effective surface temperature: ~5778 K, with spectral emission peaking around 500 nm (green visible light).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Earth surface temperature: ~300 K, peaking in thermal infrared (8–14 µm), well outside optical field spectroscopy.</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B_\lambda(\lambda, T) = \frac{2hc^2}{\lambda^5 \left( e^{\frac{hc}{\lambda k_B T}} - 1 \right)}</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Planck, M. (1901). On the law of distribution of energy in the normal spectrum. Annalen der Physik, 4(553), 1-11.</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[Mathematics] • SLIDE 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Wien's Displacement Law &amp; Stefan-Boltzmann Law</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peak wavelength of emission shifts inversely with absolute temperature; total radiant emittance scales with T⁴.</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Wien's displacement constant b ≈ 2897.77 µm·K.</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Solar peak: λ_max = 2898 / 5778 K ≈ 0.501 µm (501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Stefan-Boltzmann law integrates Planck's equation across all wavelengths: M = σ·T⁴ (σ = 5.670374 × 10⁻⁸ W m⁻² K⁻⁴).</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\lambda_{\max} = \frac{b}{T} \quad \text{and} \quad M = \sigma T^4</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Siegel, R., &amp; Howell, J. R. (2002). Thermal Radiation Heat Transfer. Taylor &amp; Francis.</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Radiometric Quantities: Energy to Radiance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Understanding radiometric units is mandatory to avoid catastrophic calibration and unit-conversion errors.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Radiant Flux (Φ): Total radiant energy per unit time [Watts, W].</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Radiant Intensity (I): Radiant flux emitted per unit solid angle [W sr⁻¹].</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Irradiance (E): Radiant flux incident onto a surface per unit area [W m⁻²].</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Radiance (L): Radiant flux per unit projected surface area per unit solid angle [W m⁻² sr⁻¹].</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L = \frac{d^2\Phi}{dA \cos\theta \, d\Omega}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Nicodemus, F. E. et al. (1977). Geometrical Considerations and Nomenclature for Reflectance. NBS Monograph 160.</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[Instrumentation] • SLIDE 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Spectral Radiometry vs. Broadband Radiometry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Spectral quantities are derivatives with respect to wavelength, expressed per unit wavelength interval (nm or µm).</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Spectral Irradiance: E_λ(λ) [W m⁻² nm⁻¹].</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Spectral Radiance: L_λ(λ) [W m⁻² sr⁻¹ nm⁻¹].</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Broadband sensors (pyranometers) integrate over 300–3000 nm, losing molecular absorption fingerprinting.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Spectroradiometers resolve radiation into hundreds or thousands of discrete contiguous spectral channels.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E = \int_{\lambda_1}^{\lambda_2} E_\lambda(\lambda) \, d\lambda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Schaepman, M. E. (2007). Spectroradiometry—A review. Remote Sensing of Environment.</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Extraterrestrial Solar Spectrum: AM0 vs. AM1.5</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Atmospheric path length attenuates extraterrestrial irradiance according to the optical Air Mass (AM).</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AM0: Solar spectrum outside Earth's atmosphere (solar constant S₀ ≈ 1361 W m⁻²).</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AM1: Sun directly overhead at zenith (θ_s = 0°) at sea level.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AM1.5: Standard solar reference spectrum for mid-latitudes (θ_s ≈ 48.2°), representing path length 1.5 times zenith.</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AM \approx \frac{1}{\cos\theta_s + 0.50572(96.07995 - \theta_s)^{-1.6364}}</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Gueymard, C. A. (2004). The sun’s total and spectral irradiance for solar energy applications and solar radiation models. Solar Energy, 76(4), 423-453.</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[Mathematics] • SLIDE 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Beer-Lambert-Bouguer Attenuation Law</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Direct beam solar radiance decays exponentially through an absorbing and scattering atmospheric column.</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Total atmospheric optical depth (τ_λ) is the sum of Rayleigh scattering, aerosol scattering, and molecular absorption.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Transmittance: T_λ = exp(-m · τ_λ), where m is the relative optical air mass.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Any spatial or temporal change in optical depth alters the downwelling spectral distribution incident on field targets.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E_{\text{dir},\lambda} = E_{0,\lambda} \cdot \left(\frac{d_0}{d}\right)^2 \cdot \cos\theta_s \cdot \exp\left( -m \cdot \tau_\lambda \right)</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Bouguer, P. (1729). Essai d’optique sur la gradation de la lumière.</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Atmospheric Transmission Windows in Optical Sensing</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Outdoor spectroscopy is only viable inside atmospheric transmission windows where gases do not completely extinguish photons.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Window 1 (VNIR): 400–920 nm (high transmission, minor ozone absorption in Chappuis band 550–650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Window 2 (SWIR-1): 1000–1350 nm (between water vapor bands).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Window 3 (SWIR-2): 1500–1800 nm (clean window, optimal for mineral and cellulose absorption).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Window 4 (SWIR-3): 2000–2400 nm (carbonate and clay mineral diagnostic absorption).</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Never report reflectance data inside the 1350–1450 nm and 1800–1980 nm bands due to zero signal-to-noise ratio.</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Berk, A. et al. (2014). MODTRAN 6: A summary of recent advances. SPIE Defense + Security.</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10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Major Atmospheric Absorption Species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Water vapor, carbon dioxide, ozone, and oxygen create localized diagnostic absorption notches in solar irradiance.</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Water Vapor (H₂O): 720 nm, 820 nm, 940 nm, 1130 nm, 1400 nm, 1900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Carbon Dioxide (CO₂): 2010 nm, 2060 nm (strong doublet in SWIR).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Oxygen (O₂): Fraunhofer A-band at 760.4 nm, B-band at 687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Ozone (O₃): Hartley band (&lt; 340 nm), Huggins band (310–380 nm), Chappuis band (500–700 nm).</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\tau_\lambda = \tau_{\text{Rayleigh}} + \tau_{\text{Aerosol}} + \tau_{\text{H}_2\text{O}} + \tau_{\text{CO}_2} + \tau_{\text{O}_3} + \tau_{\text{O}_2}</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Gao, B. C., &amp; Goetz, A. F. (1990). Column atmospheric water vapor and vegetation liquid water retrievals. Remote Sensing of Environment.</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11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Rayleigh Scattering: Molecular Physics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Elastic scattering by molecules much smaller than the wavelength scales with λ⁻⁴, dominating blue and UV wavelengths.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Discovered by Lord Rayleigh (1871); caused by polarizability of N₂ and O₂ molecules.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Explains the blue color of cloudless daytime skies and the strong polarization of skylight at 90° from the sun.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field spectroscopy, Rayleigh scattering creates significant diffuse downwelling skylight in the 350–500 nm range.</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\sigma_R(\lambda) = \frac{8\pi^3 (n^2 - 1)^2}{3 N^2 \lambda^4} \left( \frac{6 + 3\delta}{6 - 7\delta} \right)</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Rayleigh, Lord (1899). On the transmission of light through an atmosphere containing small particles. Philosophical Magazine.</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12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Mie Scattering: Aerosols and Particulates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Scattering by particles of size comparable to wavelength (aerosols, dust, pollen, smog) is strongly forward-peaked.</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Wavelength dependency parameterized by Ångström turbidity law: τ_a(λ) = β · λ^(-α).</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Typical continental aerosol exponent α ≈ 1.3; lower α (~0.5) indicates coarse maritime or desert dust aerosols.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High aerosol loading creates a bright aureole around the sun, increasing diffuse-to-direct irradiance ratio.</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\tau_a(\lambda) = \beta \cdot \lambda^{-\alpha}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Ångström, A. (1929). On the atmospheric transmission of sun radiation and on dust in the air. Geografiska Annaler.</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13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Direct vs. Diffuse Solar Irradiance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Global solar irradiance on a horizontal surface is the sum of direct beam and hemispherical diffuse skylight.</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Direct Irradiance (E_dir): Parallel collimated rays from the solar disk (subtending ~0.5°).</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Diffuse Irradiance (E_dif): Scattered skylight arriving from the entire 2π steradian upper hemisphere.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The ratio E_dir / E_dif varies dramatically with wavelength, solar zenith angle, and aerosol optical depth.</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E_{\text{global}}(\lambda) = E_{\text{dir}}(\lambda) \cdot \cos\theta_s + E_{\text{dif}}(\lambda)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et al. (2009). Progress in field spectroscopy. Remote Sensing of Environment, 113, S92-S109.</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14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Concept of Surface Reflectance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Reflectance is an intrinsic material property independent of illumination intensity when measured correctly.</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Radiance depends on solar position, cloud cover, and atmosphere; reflectance normalizes for incident irradiance.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True hemispherical reflectance: Fraction of total incident flux reflected across all directions into the upper hemisphere.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outdoor field spectroscopy, we rarely measure hemispherical reflectance directly; we measure directional reflectance factors.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\rho(\lambda) = \frac{\Phi_{\text{reflected}}(\lambda)}{\Phi_{\text{incident}}(\lambda)} = \frac{M(\lambda)}{E(\lambda)}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Nicodemus, F. E. (1970). Reflectance nomenclature and directional reflectance and emissivity. Applied Optics.</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[Mathematics] • SLIDE 15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Bidirectional Reflectance Distribution Function (BRDF)</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BRDF describes the directional scattering behavior of a surface for a given incident and exitant beam geometry.</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Formally defined by Nicodemus et al. (1977) as the ratio of differential reflected radiance to differential incident irradiance.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Unit of BRDF: Inverse steradians [sr⁻¹].</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BRDF is a theoretical distribution function for infinitesimal beams; cannot be measured directly with finite solid angles.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f_r(\theta_i, \phi_i; \theta_r, \phi_r; \lambda) = \frac{d L_r(\theta_i, \phi_i; \theta_r, \phi_r; \lambda)}{d E_i(\theta_i, \phi_i; \lambda)} \; [\text{sr}^{-1}]</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Nicodemus, F. E. et al. (1977). Geometrical Considerations and Nomenclature for Reflectance. NBS Monograph 160.</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16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Schaepman-Strub Reflectance Nomenclature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Natural outdoor measurements yield Hemispherical-Conical Reflectance Factor (HCRF) rather than pure BRDF.</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Schaepman-Strub et al. (2006) unified reflectance terminology for remote sensing.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Illumination: Hemispherical (direct sun + diffuse skylight).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Viewing: Conical (defined by the finite Field of View FOV solid angle of the spectrometer foreoptic).</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Standard field spectroscopy measurement is formally HCRF, denoted R(2π; θ_r, φ_r, ω_r; λ).</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R(2\pi; \theta_r, \phi_r, \omega_r; \lambda) = \frac{\int_{\omega_r} L_r(\theta, \phi; \lambda) \cos\theta \, d\Omega}{L_{\text{ref}}(\lambda) \int_{\omega_r} \cos\theta \, d\Omega}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Schaepman-Strub, G. et al. (2006). Reflectance quantities in optical remote sensing—definitions and case studies. Remote Sensing of Environment, 103(1), 27-42.</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17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Ideal Lambertian Surface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 Lambertian reflector scatters incident light isotropically; its reflected radiance is invariant with viewing angle.</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Reflected radiance L is constant in all directions across the 2π hemisphere.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Lambert's Cosine Law: Radiant intensity I(θ) varies with cos(θ), exactly offsetting the 1/cos(θ) foreshortening of projected area.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Integration over the hemisphere proves that total radiant exitance M = π · L.</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M = \int_{2\pi} L \cos\theta \, d\Omega = L \int_0^{2\pi} d\phi \int_0^{\pi/2} \cos\theta \sin\theta \, d\theta = \pi L</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Lambert, J. H. (1760). Photometria sive de mensura et gradibus luminis, colorum et umbrae.</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[Mathematics] • SLIDE 18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Solar Geometry: Solar Zenith &amp; Azimuth Angles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position of the sun dictates the incidence angle θ_s and solar azimuth φ_s, controlling shadow fractions and BRDF.</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Solar Zenith Angle (θ_s): Angle between the local vertical (zenith) and the sun center.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Solar Elevation Angle: α_s = 90° - θ_s.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Solar Azimuth Angle (φ_s): Angular position of the sun measured clockwise from true north.</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Solar Noon: The moment the sun reaches maximum elevation (minimum zenith angle) for a specific longitude and day of year.</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\cos\theta_s = \sin\phi_{\text{lat}} \sin\delta + \cos\phi_{\text{lat}} \cos\delta \cos h</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Reda, I., &amp; Andreas, A. (2004). Solar position algorithm for solar radiation applications. Solar Energy, 76(5), 577-589.</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19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Snell's Law and Fresnel Equations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Specular reflections at air-water and air-leaf cuticle boundaries are governed by complex refractive indices.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Snell's Law: n₁ · sin(θ₁) = n₂ · sin(θ₂).</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Fresnel Reflection: Polarized reflection coefficients R_s (perpendicular) and R_p (parallel).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Leaf wax cuticles produce strong polarized specular reflection in the forward scattering direction that contains no biochemical info.</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R_s = \left| \frac{n_1 \cos\theta_i - n_2 \cos\theta_t}{n_1 \cos\theta_i + n_2 \cos\theta_t} \right|^2, \quad R_p = \left| \frac{n_1 \cos\theta_t - n_2 \cos\theta_i}{n_1 \cos\theta_t + n_2 \cos\theta_i} \right|^2</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Grant, L. (1987). Diffuse and specular characteristics of leaf reflectance. Remote Sensing of Environment.</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20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Molecular Electronic Transitions (UV-VNIR)</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Absorption in the 350–700 nm region arises from valence electrons excited across quantized molecular orbitals.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Photosynthetic pigments: Chlorophyll a (absorption peaks at 430 &amp; 662 nm), Chlorophyll b (453 &amp; 642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Carotenoids (lutein, β-carotene): Strong absorption in 400–500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Anthocyanins: Protective pigments absorbing around 530–550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Iron oxides in soils/minerals: Crystal field transitions in Hematite (Fe₂O₃) and Goethite (FeOOH) around 480–900 nm.</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Green leaf reflectance peak at ~550 nm is not high reflectance in absolute terms (~15%), but merely lower absorption relative to blue and red.</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Gates, D. M. et al. (1965). Spectral properties of plants. Applied Optics, 4(1), 11-20.</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21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Vibrational Spectroscopy &amp; Molecular Bonds (SWIR)</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SWIR features (1000–2500 nm) are caused by overtones and combination modes of fundamental molecular vibrations.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Fundamental vibrational modes (stretch, bend, rock) occur in the mid-infrared (3–15 µm).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Anharmonicity allows first overtones (2ν) and second overtones (3ν) to appear at higher frequencies (shorter wavelengths in SWIR).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Key functional groups: O-H (water, hydroxyl in clays), C-H (lignin, cellulose, plastics), N-H (proteins), C-O (carbonates).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\nu_{\text{osc}} = \frac{1}{2\pi c} \sqrt{\frac{k}{\mu}}, \quad \mu = \frac{m_1 m_2}{m_1 + m_2}</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Coblentz, W. W. (1905). Investigations of Infra-Red Spectra. Carnegie Institution of Washington.</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22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Water Absorption Physics in Plants &amp; Soils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Liquid water exhibits prominent absorption bands at 970 nm, 1200 nm, 1450 nm, and 1940 nm due to O-H symmetric and asymmetric stretching.</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The 970 nm and 1200 nm bands are weak overtones, making them ideal for retrieving equivalent water thickness (EWT) in dense canopies.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The 1450 nm and 1940 nm bands are strong combination bands (ν₁ + ν₃ and ν₂ + ν₃), saturating rapidly in hydrated vegetation.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desiccated vegetation, cellulose and lignin features become unmasked at 2100 nm and 2300 nm.</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Measure vegetation moisture during midday water deficit to capture dynamic canopy water status.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Peñuelas, J. et al. (1993). The reflectance at the 950–970 nm region as an indicator of plant water status. International Journal of Remote Sensing.</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23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Mineral Spectroscopy &amp; Diagnostic Absorption Features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Clay minerals, carbonates, and sulfates exhibit sharp diagnostic absorption doublet/singlet features in SWIR-2 (2000–2500 nm).</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Kaolinite: Classic Al-OH doublet at 2160 nm and 2209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Montmorillonite (Smectite): Single deep Al-OH feature at 2206 nm with strong hydration band at 1900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Calcite (CaCO₃): Carbonate radical (CO₃²⁻) vibrational overtones at 2340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Chlorite: Fe-OH / Mg-OH features at 2260 nm and 2350 nm.</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Diagnostic mineral features are narrow (~10–20 nm FWHM), requiring spectroradiometers with ≤ 3–8 nm spectral resolution.</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Hunt, G. R. (1977). Spectral signatures of particulate minerals in the visible and near infrared. Geophysics, 42(3), 501-513.</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24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Vegetation Red Edge: Physics and Anatomy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abrupt reflectance jump between 680 nm and 750 nm (the "Red Edge") is caused by the transition from chlorophyll absorption to internal scattering.</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Chlorophyll absorbs &gt; 90% of red photons (680 nm) for charge separation in photosystems I &amp; II.</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At wavelengths &gt; 700 nm, pigment absorption ceases, while refractive index discontinuities between air and mesophyll cell walls cause intense multiple scattering.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Red edge inflection point (REIP) shifts to longer wavelengths as chlorophyll content increases (red edge shift).</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\lambda_{\text{REIP}} \approx 700 + 40 \cdot \left( \frac{\frac{R_{670} + R_{780}}{2} - R_{700}}{R_{740} - R_{700}} \right)</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Horler, D. N. H. et al. (1983). The red edge of plant leaf reflectance. International Journal of Remote Sensing, 4(2), 273-288.</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25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Soil Spectral Characteristics &amp; Organic Matter</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Soil reflectance is governed by moisture, iron oxide content, soil organic carbon (SOC), mineralogy, and surface roughness.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Dry, bare mineral soils exhibit monotonic increase in reflectance from 400 nm to 2200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Soil Organic Carbon (SOC) flattens and darkens the entire spectrum, masking mineral absorption features when SOC &gt; 2%.</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Moisture reduces overall reflectance across all wavelengths via internal total reflection within water films surrounding soil particles.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\rho_{\text{wet}}(\lambda) = \frac{\rho_{\text{dry}}(\lambda)}{n_w^2 \cdot \left[ 1 - \rho_{\text{dry}}(\lambda) \cdot \left(1 - \frac{1}{n_w^2}\right) \right]}</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Ben-Dor, E. et al. (1999). Imaging spectrometry for soil applications. Remote Sensing of Environment.</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[QualityAssurance] • SLIDE 26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Environmental Perturbations: Wind, Temperature &amp; Humidity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Outdoor environmental noise directly modulates spectral measurements and must be systematically mitigated.</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Wind moves canopy leaves, altering instantaneous leaf angle distribution (LAD) and shadow fraction between consecutive scans.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Ambient temperature variations affect the dark current and band-gap energy of InGaAs detector arrays in the spectroradiometer.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Rapidly changing relative humidity alters water vapor absorption in the path between target and foreoptic.</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Abort field scans when wind speeds exceed Beaufort scale 3 (&gt; 5 m/s) or gusts displace canopies.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MacArthur, A. et al. (2014). Optimizing the use of field spectrometers. Remote Sensing of Environment.</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[Protocol] • SLIDE 27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Illumination Stability &amp; Cloud Perturbations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Sub-visual cirrus clouds and passing cumulus fringes cause catastrophic calibration errors in single-beam spectrometers.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Single-beam instruments assume incident solar irradiance remains identical between White Reference and target scans.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 2% drop in solar irradiance between reference and target creates an apparent 2% artifact across all calculated target reflectance values.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Cirrus clouds scatter selectively in the SWIR, creating spurious spectral slope distortions.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Inspect the sky continuously. Wear polarized sunglasses to spot high-altitude ice-crystal cirrus clouds.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(1987). Principles of field spectroscopy. International Journal of Remote Sensing.</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[CaseStudy] • SLIDE 28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Scale and Spatial Heterogeneity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Field point spectra represent a localized footprint (cm to m) that must be scaled up to satellite pixel sizes (10 to 30 m).</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 25° field of view lens held 1 meter above the ground integrates a circular footprint of ~44 cm diameter.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Natural ecosystems exhibit micro-topographic, soil moisture, and species composition gradients within a single Sentinel-2 or Landsat pixel.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Spatial sampling design (random, regular grid, transect) is required to estimate the true mean and variance of a landscape element.</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D = 2 \cdot h \cdot \tan\left(\frac{\text{FOV}}{2}\right)</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Curtiss, B., &amp; Goetz, A. F. (1994). Field spectrometry: Techniques and instrumentation. Proceedings of the International Symposium on Spectral Sensing Research.</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[QualityAssurance] • SLIDE 29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Academic Standards: NERC FSF &amp; Coblentz Society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Adherence to international metrological protocols guarantees scientific reproducibility and interoperability.</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NERC Field Spectroscopy Facility (UK): Gold-standard operational guidelines for field radiometry, calibration tracking, and instrument loans.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Coblentz Society: Established standards for infrared spectra collection, signal-to-noise thresholds, and wavelength accuracy.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CEOS WGCV (Committee on Earth Observation Satellites - Working Group on Calibration and Validation): Global validation protocols.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Always record full campaign metadata in accordance with CEOS WGCV field spectroradiometry guidelines.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NERC FSF (2020). Operations and Best Practice Manual for Field Spectroradiometry. Natural Environment Research Council.</a:t>
            </a:r>
            <a:endParaRPr lang="en-US" sz="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1: Optical Physics &amp; Radiometry • [Physics] • SLIDE 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Module 1 Synthesis &amp; Looking Ahead to Point Spectrometers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Field spectroscopy relies on rigorous physics: Planck's law, Beer-Lambert attenuation, and Schaepman-Strub HCRF geometry.</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Module 1 established: Optical radiation physics, atmospheric transmission windows, molecular absorption bands, and reflectance definitions.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Module 2, we open the hardware box: diffraction gratings, photodiode arrays, fiber optics, and instrument architecture (ASD, SVC, PSR+).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Preparation for Field Exercise 1: Understanding solar angle limits and calculating foreoptic footprint geometries.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Schaepman, M. E., Anderson, K., &amp; Gao, B. C. (2009). Progress in field spectroscopy. Remote Sensing of Environment, 113, S92-S109.</a:t>
            </a:r>
            <a:endParaRPr lang="en-US" sz="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1645920"/>
            <a:ext cx="7772400" cy="365760"/>
          </a:xfrm>
          <a:prstGeom prst="rect">
            <a:avLst/>
          </a:prstGeom>
          <a:noFill/>
          <a:ln/>
        </p:spPr>
        <p:txBody>
          <a:bodyPr wrap="square" rtlCol="0" anchor="ctr"/>
          <a:lstStyle/>
          <a:p>
            <a:pPr indent="0" marL="0">
              <a:buNone/>
            </a:pPr>
            <a:r>
              <a:rPr lang="en-US" sz="1600" b="1" dirty="0">
                <a:solidFill>
                  <a:srgbClr val="34D399"/>
                </a:solidFill>
              </a:rPr>
              <a:t>MODULE 2</a:t>
            </a:r>
            <a:endParaRPr lang="en-US" sz="1600" dirty="0"/>
          </a:p>
        </p:txBody>
      </p:sp>
      <p:sp>
        <p:nvSpPr>
          <p:cNvPr id="3" name="Text 1"/>
          <p:cNvSpPr/>
          <p:nvPr/>
        </p:nvSpPr>
        <p:spPr>
          <a:xfrm>
            <a:off x="731520" y="2194560"/>
            <a:ext cx="7772400" cy="1097280"/>
          </a:xfrm>
          <a:prstGeom prst="rect">
            <a:avLst/>
          </a:prstGeom>
          <a:noFill/>
          <a:ln/>
        </p:spPr>
        <p:txBody>
          <a:bodyPr wrap="square" rtlCol="0" anchor="ctr"/>
          <a:lstStyle/>
          <a:p>
            <a:pPr indent="0" marL="0">
              <a:buNone/>
            </a:pPr>
            <a:r>
              <a:rPr lang="en-US" sz="2600" b="1" dirty="0">
                <a:solidFill>
                  <a:srgbClr val="FFFFFF"/>
                </a:solidFill>
              </a:rPr>
              <a:t>Fundamentals of Point Spectroradiometers &amp; Hardware Architecture</a:t>
            </a:r>
            <a:endParaRPr lang="en-US" sz="2600" dirty="0"/>
          </a:p>
        </p:txBody>
      </p:sp>
      <p:sp>
        <p:nvSpPr>
          <p:cNvPr id="4" name="Text 2"/>
          <p:cNvSpPr/>
          <p:nvPr/>
        </p:nvSpPr>
        <p:spPr>
          <a:xfrm>
            <a:off x="731520" y="3474720"/>
            <a:ext cx="7772400" cy="1371600"/>
          </a:xfrm>
          <a:prstGeom prst="rect">
            <a:avLst/>
          </a:prstGeom>
          <a:noFill/>
          <a:ln/>
        </p:spPr>
        <p:txBody>
          <a:bodyPr wrap="square" rtlCol="0" anchor="ctr"/>
          <a:lstStyle/>
          <a:p>
            <a:pPr indent="0" marL="0">
              <a:buNone/>
            </a:pPr>
            <a:r>
              <a:rPr lang="en-US" sz="1100" dirty="0">
                <a:solidFill>
                  <a:srgbClr val="94A3B8"/>
                </a:solidFill>
              </a:rPr>
              <a:t>4 Teaching Hours • 1.5 ECTS Credits • Module 2 deconstructs the internal physics, mechanical design, and electronic subsystems of commercial field spectroradiometers (ASD FieldSpec, SVC HR-1024, Spectral Evolution PSR+). Students analyze entrance foreoptics, fiber optic bundle numerical apertures, holographic diffraction gratings, order-sorting filters, and detector technologies spanning silicon photodiode arrays (VNIR) and thermoelectrically cooled InGaAs detectors (SWIR-1 and SWIR-2). The module details integration time optimization, dark current compensation, Spectralon reference standards, detector junction splice steps, and signal-to-noise ratio (SNR) modeling.</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[Instrumentation] • SLIDE 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Fundamentals of Point Spectroradiometers &amp; Architecture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Point spectroradiometers integrate entrance optics, fiber guides, dispersive elements, and multi-detector arrays to record contiguous spectral signatures.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Point spectrometer: Measures spectral radiance or irradiance integrated over a single spatially averaged field of view.</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Contrasts with imaging spectrometers (hyperspectral cameras) which collect 2D spatial pixels simultaneously.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High signal-to-noise ratio (SNR &gt; 1000:1) and rapid integration times (10 to 100 ms) make point sensors the benchmark for ground validation.</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Point spectrometers are precision laboratory-grade optical instruments packaged for ruggedized field deployment.</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Curtiss, B., &amp; Goetz, A. F. (1994). Field spectrometry: Techniques and instrumentation.</a:t>
            </a:r>
            <a:endParaRPr lang="en-US" sz="7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[Instrumentation] • SLIDE 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Anatomy of Benchmark Field Spectroradiometers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three leading commercial field instruments (ASD FieldSpec, SVC HR-1024, Spectral Evolution PSR+) share core tripartite architecture.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ASD FieldSpec 4 Hi-Res: Tri-detector architecture (VNIR Si-array + SWIR1 InGaAs + SWIR2 InGaAs), fiber optic cable with 57 quartz fibers.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SVC HR-1024i: Internal high-resolution diffraction gratings, 1024 channels, dual internal cameras, GPS, and Bluetooth.</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Spectral Evolution PSR-3500 / PSR+: Direct-mount foreoptics without fiber cables, reducing mechanical fiber bend noise.</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MacArthur, A. et al. (2014). Optimizing the use of field spectrometers. Remote Sensing of Environment.</a:t>
            </a:r>
            <a:endParaRPr lang="en-US" sz="7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[Instrumentation] • SLIDE 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Entrance Optics: Foreoptics &amp; Solid Angles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Foreoptics define the instrument's angular field of view (FOV), determining the spatial footprint and optical throughput.</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Bare Fiber: Typically ~25° full-angle cone (acceptance angle governed by numerical aperture of quartz fiber).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Restrictor Lenses: 1°, 4°, 8°, 10° barrel lenses reduce the FOV for small targets or tall canopy towers.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Cosine Receptor: Opal glass or PTFE diffuser with 180° (2π steradian) hemispherical collection for measuring downwelling irradiance.</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NA = n \cdot \sin\theta_a = \sqrt{n_{\text{core}}^2 - n_{\text{cladding}}^2}</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NERC FSF (2020). Best Practice Manual for Field Spectroradiometry.</a:t>
            </a:r>
            <a:endParaRPr lang="en-US" sz="7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[Instrumentation] • SLIDE 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Fiber Optic Bundles: Transmission &amp; Care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Fiber optic cables are brittle silica glass bundles vulnerable to micro-fractures, bend-loss, and mode-scrambling defects.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Fiber construction: High-purity anhydrous fused silica (low-OH) core to minimize internal hydroxyl absorption at 1400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Randomized bundle: Transmits light from the circular entrance slit to three separate internal spectrometer entrance slits.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Mechanical bend attenuation: Bending the cable beyond minimum bend radius (&gt; 15 cm) induces transient transmission loss and calibration drift.</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Never step on, twist, or clamp a spectrometer fiber cable. Secure the cable along the pistol grip with hook-and-loop straps.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(1987). Principles of field spectroscopy. International Journal of Remote Sensing.</a:t>
            </a:r>
            <a:endParaRPr lang="en-US" sz="7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[Instrumentation] • SLIDE 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Contact Probes and Plant Probes with Internal Halogen Sources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Contact probes eliminate outdoor solar fluctuations by providing constant artificial illumination under a sealed optical head.</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Illumination: Low-noise quartz-tungsten-halogen (QTH) bulb operating at stabilized voltage.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Leaf clip / Plant probe: Holds leaves gently against low-reflectance black (or white) background backing without solar influence.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Advantage: Enables reliable spectral measurements under cloudy skies, indoors, or at night.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Limitation: Measures contact leaf optical properties, not canopy structure or BRDF.</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The heat from high-intensity halogen contact probes can cause rapid desiccation of delicate leaves within seconds.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Doughty, C. E. et al. (2011). Foliar spectral traits in tropical trees. Remote Sensing of Environment.</a:t>
            </a:r>
            <a:endParaRPr lang="en-US" sz="7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[Physics] • SLIDE 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Dispersive Elements: Diffraction Gratings vs. Prisms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Reflective diffraction gratings disperse polychromatic light into angularly separated wavelengths via constructive interference.</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Ruled vs. Holographic Gratings: Holographic gratings produce minimal stray light and eliminate ghost spectra.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Linear dispersion: Spatial separation of wavelengths along the detector plane: dx/dλ = f · m / (d · cos θ_m).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Diffraction orders: Order-sorting filters (long-pass or bandpass) are required to block overlapping second-order harmonics (e.g. 400 nm diffracted at 800 nm angle).</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d \cdot (\sin\alpha + \sin\beta) = m \cdot \lambda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Palmer, C. (2020). Diffraction Grating Handbook (8th ed.). Newport Corporation.</a:t>
            </a:r>
            <a:endParaRPr lang="en-US" sz="7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[Instrumentation] • SLIDE 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Silicon Photodiode Arrays for VNIR Detection (350–1000 nm)</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Silicon detectors operate on the internal photoelectric effect with high quantum efficiency in the visible and near-infrared.</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512-element or 1024-element linear silicon NMOS/CMOS photodiode array.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Silicon bandgap energy Eg ≈ 1.12 eV at 300 K; limits long-wavelength detection cutoff to λ_cutoff = hc / Eg ≈ 1100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Fixed grating with no moving parts: All VNIR channels are exposed and read out simultaneously in milliseconds.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\lambda_{\text{cutoff}} = \frac{hc}{E_g} \approx \frac{1.24}{\text{Energy in eV}} \, [\mu\text{m}]</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Sze, S. M. (2007). Physics of Semiconductor Devices. Wiley.</a:t>
            </a:r>
            <a:endParaRPr lang="en-US" sz="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[Instrumentation] • SLIDE 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Indium Gallium Arsenide (InGaAs) Detectors for SWIR (1000–2500 nm)</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InGaAs semiconductor alloys provide the sensitivity required to detect low-energy shortwave infrared photons.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Standard InGaAs (In₀.₅₃Ga₀.₄₇As lattice-matched to InP substrate): Covers SWIR-1 (1000–1700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Extended InGaAs: Graded ternary composition with lower bandgap (Eg ≈ 0.49 eV) covers SWIR-2 (1700–2500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Requires Thermoelectric (Peltier) cooling to -10°C to -25°C to suppress thermal dark current generation.</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Allow the spectroradiometer 15–20 minutes warm-up time after powering on for the Peltier coolers to stabilize detector temperatures.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Rogalski, A. (2010). Infrared Detectors (2nd ed.). CRC Press.</a:t>
            </a:r>
            <a:endParaRPr lang="en-US" sz="7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[Instrumentation] • SLIDE 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Scanning Monochromator vs. Fixed Photodiode Array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Array spectrometers read all wavelengths concurrently; scanning grating instruments step sequentially with rotating galvanometers.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Array Spectrometer (e.g. ASD VNIR, SVC HR-1024): All spectral channels acquire simultaneously, freezing fast-moving cloud shadows.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Scanning Grating (e.g. ASD SWIR1 &amp; SWIR2): A high-speed oscillating galvanometer scans the spectrum across a single thermoelectrically cooled InGaAs point detector.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Modern ASD FieldSpec 4 uses fast oscillating concave gratings: complete 350–2500 nm scan in 100 milliseconds.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Curtiss, B., &amp; Goetz, A. F. (1994). Field spectrometry techniques.</a:t>
            </a:r>
            <a:endParaRPr lang="en-US" sz="7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[Mathematics] • SLIDE 10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Spectral Resolution vs. Spectral Sampling Interval</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Resolution (FWHM) measures optical band-separation power; sampling interval is the wavelength spacing between reported data points.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Full Width at Half Maximum (FWHM): Width of the instrument response function (bandpass) at 50% peak transmittance.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Sampling Interval: Wavelength step between adjacent digital output channels (e.g., interpolated to 1.0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Nyquist sampling theorem: To avoid undersampling, spectral sampling interval must be at least FWHM / 2.</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\Delta \lambda_{\text{FWHM}} \ge 2 \cdot \delta\lambda_{\text{sampling}}</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CEOS WGCV (2014). Quality Assurance Framework for Earth Observation: Field Spectrometry Protocol.</a:t>
            </a:r>
            <a:endParaRPr lang="en-US" sz="7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[Physics] • SLIDE 11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Instrument Response Function (IRF) &amp; Slit Function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instrument slit function convolves monochromatic spectral lines into Gaussian-shaped instrument bandpasses.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Input monochromatic Dirac delta function δ(λ - λ₀) is mapped onto the detector as a Gaussian response function.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Determined experimentally using narrow gas emission lamps (Mercury-Argon, Neon, Krypton).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Essential for resynthesizing satellite spectral bands (e.g. Sentinel-2 MSI, Landsat-9 OLI) from continuous field spectra.</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S(\lambda) = \int_{-\infty}^{+\infty} L_{\text{true}}(\lambda') \cdot f_{\text{slit}}(\lambda - \lambda') \, d\lambda'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Barsi, J. A. et al. (2014). The spectral response functions of Landsat-8 Operational Land Imager. Remote Sensing.</a:t>
            </a:r>
            <a:endParaRPr lang="en-US" sz="7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[Instrumentation] • SLIDE 12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Analog-to-Digital Conversion (ADC) &amp; Dynamic Range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ADC converts photo-generated analog voltage into discrete Digital Numbers (DN) with finite quantization resolution.</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16-bit ADC provides 2¹⁶ = 65,536 discrete quantization levels (0 to 65535 counts).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Dynamic range must accommodate both bright 99% Spectralon panels in full sun and dark water bodies (&lt; 2% reflectance).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Saturation: When incident photon flux generates voltage exceeding the maximum ADC reference voltage, counts peg at 65535.</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\text{Dynamic Range [dB]} = 20 \cdot \log_{10}\left(\frac{\text{Full Well Capacity}}{\text{Readout Noise}}\right)</a:t>
            </a:r>
            <a:endParaRPr lang="en-US" sz="1100" dirty="0"/>
          </a:p>
        </p:txBody>
      </p:sp>
      <p:sp>
        <p:nvSpPr>
          <p:cNvPr id="11" name="Shape 9"/>
          <p:cNvSpPr/>
          <p:nvPr/>
        </p:nvSpPr>
        <p:spPr>
          <a:xfrm>
            <a:off x="5486400" y="2880360"/>
            <a:ext cx="3108960" cy="1005840"/>
          </a:xfrm>
          <a:prstGeom prst="roundRect">
            <a:avLst>
              <a:gd name="adj" fmla="val 4545"/>
            </a:avLst>
          </a:prstGeom>
          <a:solidFill>
            <a:srgbClr val="FFFBEB"/>
          </a:solidFill>
          <a:ln w="12700">
            <a:solidFill>
              <a:srgbClr val="F59E0B"/>
            </a:solidFill>
            <a:prstDash val="solid"/>
          </a:ln>
        </p:spPr>
      </p:sp>
      <p:sp>
        <p:nvSpPr>
          <p:cNvPr id="12" name="Text 10"/>
          <p:cNvSpPr/>
          <p:nvPr/>
        </p:nvSpPr>
        <p:spPr>
          <a:xfrm>
            <a:off x="5577840" y="2926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3" name="Text 11"/>
          <p:cNvSpPr/>
          <p:nvPr/>
        </p:nvSpPr>
        <p:spPr>
          <a:xfrm>
            <a:off x="5577840" y="3136392"/>
            <a:ext cx="2926080" cy="685800"/>
          </a:xfrm>
          <a:prstGeom prst="rect">
            <a:avLst/>
          </a:prstGeom>
          <a:noFill/>
          <a:ln/>
        </p:spPr>
        <p:txBody>
          <a:bodyPr wrap="square" rtlCol="0" anchor="ctr"/>
          <a:lstStyle/>
          <a:p>
            <a:pPr indent="0" marL="0">
              <a:buNone/>
            </a:pPr>
            <a:r>
              <a:rPr lang="en-US" sz="900" dirty="0">
                <a:solidFill>
                  <a:srgbClr val="78350F"/>
                </a:solidFill>
              </a:rPr>
              <a:t>Never record data with peak counts exceeding 85–90% of maximum ADC capacity to preserve headroom for solar bursts.</a:t>
            </a:r>
            <a:endParaRPr lang="en-US" sz="900" dirty="0"/>
          </a:p>
        </p:txBody>
      </p:sp>
      <p:sp>
        <p:nvSpPr>
          <p:cNvPr id="14" name="Text 12"/>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Holst, G. C. (2011). CCD Arrays, Cameras, and Displays. JCD Publishing.</a:t>
            </a:r>
            <a:endParaRPr lang="en-US" sz="7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[Protocol] • SLIDE 13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Integration Time Optimization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Integration time (exposure time) must be dynamically optimized on the white reference panel before scanning targets.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Integration time governs the duration charges accumulate on the photodiode capacitors before readout.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Too short: Low signal-to-noise ratio, dominated by quantization and readout noise.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Too long: Signal saturation (&gt; 65535 counts), corrupting reflectance ratios.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Target optimum: Set integration time so peak white reference signal sits between 70% and 85% of saturation (~45,000 counts on 16-bit).</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Run auto-integration optimization whenever solar zenith angle changes by &gt; 5° or cloud conditions shift.</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ASD Inc. (2010). FieldSpec 4 User Manual. Analytical Spectral Devices.</a:t>
            </a:r>
            <a:endParaRPr lang="en-US" sz="7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[Processing] • SLIDE 14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Detector Junction Steps / Jumps at 1000 nm &amp; 1800 nm</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Transitions between separate physical detectors create artificial discontinuities (splices) in raw spectral curves.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ASD FieldSpec employs three separate physical gratings/detectors: VNIR (350–1000 nm), SWIR-1 (1001–1800 nm), and SWIR-2 (1801–2500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Fiber strands feeding the three spectrometers have slight spatial misalignments, seeing slightly different target footprints.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Temperature shifts cause different dark current drifts between silicon and InGaAs arrays.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Produces characteristic "steps" or "jumps" at exactly 1000 nm and 1800 nm.</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Splice correction algorithms mathematically adjust the SWIR1 and SWIR2 offsets to match the VNIR reference channel.</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Dorigo, W. et al. (2006). A new sensor for vegetation reflectance measurements. IEEE TGRS.</a:t>
            </a:r>
            <a:endParaRPr lang="en-US" sz="7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[Physics] • SLIDE 15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Signal-to-Noise Ratio (SNR) Physics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SNR quantifies spectral measurement precision; it is wavelength-dependent and peaks in the VNIR, dropping in atmospheric absorption bands.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SNR = Mean Signal (S) / Standard Deviation of Noise (σ_N).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Noise sources: Shot noise (Poisson statistics of photon arrival), Thermal dark noise, Readout noise, Digitization noise.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Shot noise scales with the square root of signal: SNR_shot = S / √S = √S.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\text{SNR}(\lambda) = \frac{\mu_S(\lambda)}{\sigma_N(\lambda)} \propto \sqrt{N_{\text{photons}}} \propto \sqrt{t_{\text{integration}} \cdot N_{\text{scans}}}</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Bevington, P. R., &amp; Robinson, D. K. (2003). Data Reduction and Error Analysis for the Physical Sciences. McGraw-Hill.</a:t>
            </a:r>
            <a:endParaRPr lang="en-US" sz="7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[Protocol] • SLIDE 16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Spectral Averaging in Field Environments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Averaging multiple consecutive scans suppresses random gaussian noise while preserving deterministic spectral signatures.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Standard operational protocol: Average 10 to 30 individual scans per stored sample spectrum.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Dark current averaging: 25 to 50 scans for a noise-free dark offset subtraction.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White reference averaging: 20 to 40 scans to ensure high-precision reference denominator.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Target averaging: 15 to 30 scans balanced against target movement and solar drift.</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If wind causes canopy swaying, higher scan averaging blurs the signal across varying leaf angles.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NERC FSF (2020). Standard Operating Procedures.</a:t>
            </a:r>
            <a:endParaRPr lang="en-US" sz="7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[Physics] • SLIDE 17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Dark Current: Physics and Generation Mechanisms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Dark current is thermal electron-hole pair generation in the semiconductor depletion region occurring in complete darkness.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Dark current is strongly temperature dependent, doubling approximately every 6°C to 8°C in silicon and InGaAs.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Dark current must be measured with an internal optical shutter closed and subtracted from every subsequent measurement.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Uncorrected dark current drift introduces a systematic positive offset that distorts low-reflectance targets (e.g. water, shadow).</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I_{\text{dark}}(T) = A \cdot T^2 \cdot \exp\left(-\frac{E_g}{2 k_B T}\right)</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Sze, S. M. (2007). Physics of Semiconductor Devices.</a:t>
            </a:r>
            <a:endParaRPr lang="en-US" sz="7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[Instrumentation] • SLIDE 18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Stray Light &amp; Optical Cross-Talk</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Scattered photons reflecting off internal spectrometer walls contaminate adjacent detector pixels, degrading spectral purity.</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Stray light: Radiation of unwanted wavelength reaching a detector channel due to imperfect grating diffraction or wall scatter.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Most severe in deep absorption bands (e.g. O₂ A-band at 760 nm or water bands) where true signal is near zero.</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Corrected using specialized stray light matrices calibrated with laser emission lines or cutoff filters.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Zong, Y. et al. (2006). Simple method for stray-light correction on array spectroradiometers. Applied Optics, 45(6), 1111-1119.</a:t>
            </a:r>
            <a:endParaRPr lang="en-US" sz="7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[QualityAssurance] • SLIDE 19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Temperature Sensitivity and Thermal Drift</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Field ambient temperatures fluctuating from 15°C morning to 35°C afternoon induce internal mechanical and optical shifts.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Thermal expansion of optical bench alters diffraction grating angles and focal plane alignment (sub-nanometer wavelength drift).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InGaAs detector responsivity shifts with temperature, especially near bandgap cutoff boundaries.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Mitigation: Continuous monitoring of internal instrument thermistors and frequent white reference / dark current re-acquisitions.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Keep the spectrometer body in the shade when operating in hot desert or summer environments.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MacArthur, A. (2007). A field procedure to compensate for temperature drift in portable spectrometers. NERC FSF.</a:t>
            </a:r>
            <a:endParaRPr lang="en-US" sz="7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[Instrumentation] • SLIDE 20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Single-Beam vs. Dual-Beam Field Architecture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Dual-beam instruments record target radiance and downwelling irradiance simultaneously, canceling temporal solar fluctuations.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Single-beam (Standard ASD/SVC): One optical head alternates sequentially between White Reference panel and target.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Dual-beam (e.g. Dual ASD, PP-Systems, Unispec-DC): Two intercalibrated channels measure white reference / cosine diffuser and target at the exact same millisecond.</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Dual-beam eliminates error from moving clouds, but introduces complex inter-channel sensor cross-calibration challenges.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In dual-beam setups, exchange fiber heads periodically over the reference panel to track inter-channel drift.</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et al. (2009). Progress in field spectroscopy. Remote Sensing of Environment.</a:t>
            </a:r>
            <a:endParaRPr lang="en-US" sz="7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[Protocol] • SLIDE 21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Pistol Grips, Mounting Rigs and Tripods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Rigid mechanical mounting eliminates operator hand-tremor, maintains nadir viewing geometry, and sets fixed sensor heights.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Handheld pistol grip: Convenient for rapid surveys, but prone to operator zenith tilt and operator shadow artifacts.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Counterbalanced boom tripod: Holds foreoptic 2 to 3 meters away from the operator and metal legs, minimizing adjacency shadows.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Integrated bubble levels and laser pointers: Ensure precise nadir alignment (θ_r = 0°) and target center verification.</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Always check the bubble level before triggering every scan. A 10° tilt completely invalidates BRDF assumptions.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NERC FSF (2020). Operations Manual.</a:t>
            </a:r>
            <a:endParaRPr lang="en-US" sz="7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[QualityAssurance] • SLIDE 22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Spectralon® White Reference Reflectance Standards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Sintered polytetrafluoroethylene (PTFE) provides &gt; 99% diffuse Lambertian reflectance from 350 to 1600 nm (&gt; 95% to 2500 nm).</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Manufactured by Labsphere: Porous, sintered thermoplastic with isotropic bulk volume scattering.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High thermal and chemical stability; impervious to water (hydrophobic).</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Certified by NIST with a calibration certificate listing exact spectral reflectance factors at 50 nm intervals.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Never touch the active white surface of a Spectralon panel with bare fingers or let dust accumulate.</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Labsphere Inc. (2018). Spectralon Diffuse Reflectance Standards and Targets Technical Guide.</a:t>
            </a:r>
            <a:endParaRPr lang="en-US" sz="7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[QualityAssurance] • SLIDE 23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White Reference Degradation and Contamination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Panel contamination by skin oils, dust, and UV photochemical yellowing degrades short-wavelength reflectance.</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Hydrocarbon contamination (fingerprints, volatile organics) creates deep C-H absorption bands in the SWIR (1200, 1720, 2300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UV solarization causes yellowing, dropping blue/UV reflectance from 99% down to 92%.</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 contaminated reference panel makes targets appear artificially high in reflectance (apparent reflectance &gt; 100%).</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Store reference panels in clean desiccated cases and clean annually with waterproof emery sandpaper under deionized water.</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MacArthur, A. et al. (2012). The calibration and characterization of field spectrometers. NERC FSF.</a:t>
            </a:r>
            <a:endParaRPr lang="en-US" sz="7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[Instrumentation] • SLIDE 24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Spectral Transmittance &amp; Absorbance Measurement Modes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Spectroradiometers can measure transmittance (T) and absorbance (A) in addition to reflectance using specialized accessories.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Transmittance: Attaching an integrating sphere allows measurement of total directional-hemispherical transmittance of single leaves.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Absorbance: A = 1 - R - T (by conservation of energy in non-scattering systems).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Essential for calibrating leaf radiative transfer models like PROSPECT which require both leaf reflectance (ρ) and transmittance (τ).</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A(\lambda) + R(\lambda) + T(\lambda) = 1.0</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Jacquemoud, S., &amp; Ustin, S. L. (2019). Leaf Optical Properties. Cambridge University Press.</a:t>
            </a:r>
            <a:endParaRPr lang="en-US" sz="7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[Instrumentation] • SLIDE 25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Integrating Spheres in Field Spectroscopy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Integrating spheres collect all scattered light across the entire 4π or 2π hemisphere, enabling pure hemispherical measurements.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Hollow sphere coated internally with highly reflective diffuse Spectralon or Zenith coating.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Multiple internal diffuse reflections homogenize radiation uniformly over the inner wall area.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Measures directional-hemispherical reflectance factor (DHRF) and directional-hemispherical transmittance factor (DHTF).</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Labsphere Inc. (2015). Integrating Sphere Theory and Applications.</a:t>
            </a:r>
            <a:endParaRPr lang="en-US" sz="7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[Processing] • SLIDE 26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Calibration Files &amp; Raw Digital Numbers to Radiance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Conversion from raw digital numbers to physical spectral radiance requires the instrument calibration coefficient file.</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Each instrument possesses a factory-calibrated responsivity vector: R_cal(λ) [DN / (W m⁻² sr⁻¹ nm⁻¹)].</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Radiance: L(λ) = (DN(λ) - DN_dark(λ)) / (t_int · R_cal(λ)).</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When computing relative reflectance against a white reference, R_cal(λ) cancels out in the ratio, which is why reflectance is robust against absolute calibration drift.</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\rho(\lambda) = \frac{L_{\text{target}}(\lambda)}{L_{\text{ref}}(\lambda)} \cdot \rho_{\text{ref}}(\lambda) = \frac{\frac{\text{DN}_{\text{t}} - \text{DN}_{\text{d}}}{t_{\text{int,t}} \cdot R_{\text{cal}}}}{\frac{\text{DN}_{\text{r}} - \text{DN}_{\text{d}}}{t_{\text{int,r}} \cdot R_{\text{cal}}}} \cdot \rho_{\text{ref}}(\lambda)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(1987). International Journal of Remote Sensing.</a:t>
            </a:r>
            <a:endParaRPr lang="en-US" sz="7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[QualityAssurance] • SLIDE 27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Power Systems, Battery Care &amp; Thermal Management</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Stable battery voltage is crucial to avoid baseline electronic shifts in Peltier cooling and InGaAs detector amplifiers.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Lithium iron phosphate (LiFePO4) or high-capacity lithium-ion field battery packs.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Voltage drops below operating threshold induce subtle noise spikes and premature instrument shutdown.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Always carry at least two fully charged spare batteries and an in-field 12V DC vehicle charging adapter.</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Cold weather (&lt; 5°C) reduces lithium battery capacity by up to 40%; keep spare batteries inside thermal jackets.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NERC FSF (2020). Operational Field Guide.</a:t>
            </a:r>
            <a:endParaRPr lang="en-US" sz="7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[Instrumentation] • SLIDE 28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Software Interfaces: RS3, SVC PC, and SAMS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Instrument control software handles auto-integration, dark current acquisition, spectral logging, and real-time QA displays.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ASD RS3 / Indico Pro: Real-time graphical display of DN, radiance, and reflectance; automated splice correction.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SVC PC Software: Manages Bluetooth telemetry, automated camera integration, and internal file conversions.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SAMS (Simple Automated Measurement Software): Open-source automated field spectroscopy collection suite.</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Analytical Spectral Devices (2012). RS3 User Manual.</a:t>
            </a:r>
            <a:endParaRPr lang="en-US" sz="7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[CaseStudy] • SLIDE 29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Case Study: Point Spectrometry in Mineral Exploration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Point spectroscopy in the Atacama desert demonstrates rapid mineral mapping of hydrothermal alteration zones.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Hydrothermal porphyry copper deposits exhibit concentric alteration halos: potassic, phyllic, argillic, propylitic.</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Field spectroradiometers identify white mica Al-OH composition shifts (2198 nm sodic paragonite vs 2206 nm potassic muscovite vs 2220 nm phengite).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Wavelength shifts correlate directly with paleofluid temperatures and proximity to ore bodies.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Thompson, A. J. B. et al. (1999). Alteration mapping in exploration: application of short-wave infrared (SWIR) spectroscopy. SEG Newsletter.</a:t>
            </a:r>
            <a:endParaRPr lang="en-US" sz="7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2: Point Spectroradiometers • [Instrumentation] • SLIDE 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Module 2 Summary &amp; Transition to Calibration Protocols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Hardware architecture dictates data quality: numerical aperture, gratings, detector cooling, and ADC dynamic range.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Module 2 reviewed: Optical layout, fiber cables, silicon vs InGaAs detectors, Spectralon white references, and SNR optimization.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Next in Module 3: Laboratory calibration, wavelength standards (Mercury-Argon), radiometric calibration with integrating spheres, and uncertainty budgets.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Laboratory practical: Processing raw binary spectroradiometer files, removing detector steps, and computing SNR curves.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et al. (2009). Remote Sensing of Environment, 113, S92-S109.</a:t>
            </a:r>
            <a:endParaRPr lang="en-US" sz="7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1645920"/>
            <a:ext cx="7772400" cy="365760"/>
          </a:xfrm>
          <a:prstGeom prst="rect">
            <a:avLst/>
          </a:prstGeom>
          <a:noFill/>
          <a:ln/>
        </p:spPr>
        <p:txBody>
          <a:bodyPr wrap="square" rtlCol="0" anchor="ctr"/>
          <a:lstStyle/>
          <a:p>
            <a:pPr indent="0" marL="0">
              <a:buNone/>
            </a:pPr>
            <a:r>
              <a:rPr lang="en-US" sz="1600" b="1" dirty="0">
                <a:solidFill>
                  <a:srgbClr val="34D399"/>
                </a:solidFill>
              </a:rPr>
              <a:t>MODULE 3</a:t>
            </a:r>
            <a:endParaRPr lang="en-US" sz="1600" dirty="0"/>
          </a:p>
        </p:txBody>
      </p:sp>
      <p:sp>
        <p:nvSpPr>
          <p:cNvPr id="3" name="Text 1"/>
          <p:cNvSpPr/>
          <p:nvPr/>
        </p:nvSpPr>
        <p:spPr>
          <a:xfrm>
            <a:off x="731520" y="2194560"/>
            <a:ext cx="7772400" cy="1097280"/>
          </a:xfrm>
          <a:prstGeom prst="rect">
            <a:avLst/>
          </a:prstGeom>
          <a:noFill/>
          <a:ln/>
        </p:spPr>
        <p:txBody>
          <a:bodyPr wrap="square" rtlCol="0" anchor="ctr"/>
          <a:lstStyle/>
          <a:p>
            <a:pPr indent="0" marL="0">
              <a:buNone/>
            </a:pPr>
            <a:r>
              <a:rPr lang="en-US" sz="2600" b="1" dirty="0">
                <a:solidFill>
                  <a:srgbClr val="FFFFFF"/>
                </a:solidFill>
              </a:rPr>
              <a:t>Sensor Calibration, White Reference (Spectralon) &amp; Radiometric Validation</a:t>
            </a:r>
            <a:endParaRPr lang="en-US" sz="2600" dirty="0"/>
          </a:p>
        </p:txBody>
      </p:sp>
      <p:sp>
        <p:nvSpPr>
          <p:cNvPr id="4" name="Text 2"/>
          <p:cNvSpPr/>
          <p:nvPr/>
        </p:nvSpPr>
        <p:spPr>
          <a:xfrm>
            <a:off x="731520" y="3474720"/>
            <a:ext cx="7772400" cy="1371600"/>
          </a:xfrm>
          <a:prstGeom prst="rect">
            <a:avLst/>
          </a:prstGeom>
          <a:noFill/>
          <a:ln/>
        </p:spPr>
        <p:txBody>
          <a:bodyPr wrap="square" rtlCol="0" anchor="ctr"/>
          <a:lstStyle/>
          <a:p>
            <a:pPr indent="0" marL="0">
              <a:buNone/>
            </a:pPr>
            <a:r>
              <a:rPr lang="en-US" sz="1100" dirty="0">
                <a:solidFill>
                  <a:srgbClr val="94A3B8"/>
                </a:solidFill>
              </a:rPr>
              <a:t>4 Teaching Hours • 1.5 ECTS Credits • Module 3 details laboratory metrological calibration and in-field radiometric validation procedures for field spectroradiometers. Students examine NIST-traceable standards, atomic emission line lamps (Hg-Ar) and polymer absorption standards (Mylar) for sub-nanometer wavelength calibration, and large integrating spheres for absolute spectral radiance responsivity mapping. The module investigates Spectralon sintered PTFE white reference physics, non-Lambertian departures at high solar zenith angles, degradation and cleaning protocols, cosine receptor characterization, and the construction of comprehensive measurement uncertainty budgets conforming to the ISO/BIPM Guide to the Expression of Uncertainty in Measurement (GUM).</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[QualityAssurance] • SLIDE 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Principles of Metrological Traceability in Spectroscopy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Traceability establishes an unbroken chain of calibrated comparisons connecting field measurements back to international SI standards (NIST/NPL).</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Metrological traceability: Property of a measurement result whereby the result can be related to a reference through a documented unbroken chain of calibrations, each contributing to the measurement uncertainty.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Primary standards: National Metrology Institutes (e.g. NIST in USA, NPL in UK, PTB in Germany).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Secondary/Transfer standards: Laboratory integrating spheres, calibrated FEL tungsten lamps, and certified Spectralon panels.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Without NIST/NPL traceability, ground validation spectra cannot be accepted for satellite Cal/Val programs.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JCGM (2008). International Vocabulary of Metrology (VIM). Joint Committee for Guides in Metrology.</a:t>
            </a:r>
            <a:endParaRPr lang="en-US" sz="7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[Instrumentation] • SLIDE 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Wavelength Calibration: Physics of Gas Emission Lines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Wavelength calibration maps detector channel index numbers to absolute physical wavelengths using sharp atomic emission lines.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Gas discharge pencil lamps: Low-pressure Mercury-Argon (Hg-Ar), Neon, Krypton, or Xenon.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Atoms excited by electric discharge emit photons at invariant, quantum-mechanically defined transition wavelengths.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Mercury (Hg) primary lines: 404.66 nm, 435.84 nm, 546.07 nm, 576.96 nm, 579.07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Argon (Ar) lines: Dense emission line clusters in the 690–900 nm region.</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\lambda_c = a_0 + a_1 \cdot x + a_2 \cdot x^2 + a_3 \cdot x^3</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Reader, J. et al. (1980). Wavelengths and Transition Probabilities for Atoms and Atomic Ions. NIST.</a:t>
            </a:r>
            <a:endParaRPr lang="en-US" sz="7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[Instrumentation] • SLIDE 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Wavelength Calibration in the SWIR: Mylar &amp; Rare Earth Filters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Solid rare-earth oxide and polymer standards provide narrow absorption lines in the SWIR (1000–2500 nm) where gas lamps have sparse lines.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Holmium Oxide (Ho₂O₃) and Dysprosium Oxide: Certified absorption bands in the NIR and SWIR.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Mylar film (polyester): Sharp C-H and ester vibrational absorption spikes at 1660 nm, 2135 nm, 2260 nm, and 2470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Band-centroid fitting: Fitting a parabolic or Gaussian peak over the observed absorption minimum yields wavelength accuracy &lt; 0.2 nm.</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Check wavelength stability annually or following any physical drop or high-vibration vehicle transport.</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MacArthur, A. et al. (2012). Calibration and characterization of field spectrometers. NERC FSF.</a:t>
            </a:r>
            <a:endParaRPr lang="en-US" sz="7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[Instrumentation] • SLIDE 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Absolute Radiometric Calibration: Integrating Spheres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Radiometric calibration determines absolute spectral responsivity, converting raw digital counts into physical radiance [W m⁻² sr⁻¹ nm⁻¹].</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Calibration source: Large internally illuminated integrating sphere (e.g. 50 cm or 100 cm diameter).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Illumination: Multiple regulated quartz-tungsten-halogen (QTH) lamps operating with power supplies stable to ±0.01% current.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Exit port: Uniform diffuse radiance field across the entire exit aperture (spatial uniformity &gt; 99%).</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R_{\text{cal}}(\lambda) = \frac{\text{DN}_{\text{sphere}}(\lambda) - \text{DN}_{\text{dark}}(\lambda)}{t_{\text{int}} \cdot L_{\text{sphere}}(\lambda)}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Walker, J. H. et al. (1987). Spectral Radiance Calibrations. NBS Special Publication 250-1.</a:t>
            </a:r>
            <a:endParaRPr lang="en-US" sz="7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[Instrumentation] • SLIDE 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Irradiance Calibration: Calibrated Standard FEL Lamps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Standard 1000-Watt FEL tungsten-halogen lamps provide calibrated spectral irradiance at an exact distance of 50.0 cm.</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FEL lamps operate at ~3100 K color temperature inside a dark baffle tunnel to eliminate stray ambient wall reflections.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Inverse-square law: Spectral irradiance scales inversely with the square of the distance from the lamp filament plane.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Used to calibrate cosine receptor diffusers for downwelling solar irradiance measurement.</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E(\lambda, r_2) = E(\lambda, r_1) \cdot \left(\frac{r_1}{r_2}\right)^2</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Yoon, H. W. et al. (2003). Realization of the NIST detector-based spectral irradiance scale. Metrologia.</a:t>
            </a:r>
            <a:endParaRPr lang="en-US" sz="7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[QualityAssurance] • SLIDE 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Dark Current Compensation: Methods and Drift</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Dark current must be recorded with an optical shutter closed and subtracted from raw digital counts prior to any mathematical operations.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Electronic baseline: Even with zero incident photons, thermal energy excites electrons into detector wells.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Integration time scaling: Dark current counts accumulate linearly with exposure time in silicon arrays.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Dynamic drift: Internal instrument heating causes dark current to drift continuously during outdoor field campaigns.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Always re-acquire dark current every 10–15 minutes, or whenever ambient temperature shifts noticeably.</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MacArthur, A. (2007). A field procedure to compensate for temperature drift. NERC FSF.</a:t>
            </a:r>
            <a:endParaRPr lang="en-US" sz="7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[Instrumentation] • SLIDE 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Non-Linearity Correction of Detector Electronics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Real photodiode arrays exhibit non-linear count responses as charge approaches the full well capacity of the junction.</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Ideal linear detector: Double the photon flux produces exactly double the digital numbers (DN).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At high charge levels (&gt; 80% full well), recombination rates increase, causing sub-linear response.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Characterized using beam-addition techniques or calibrated flux attenuator wheels.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Non-linearity correction polynomials linearize digital counts to &lt; 0.1% departure across the dynamic range.</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\text{DN}_{\text{linear}} = \sum_{k=0}^p c_k \cdot (\text{DN}_{\text{raw}} - \text{DN}_{\text{dark}})^k</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Saunders, R. D., &amp; Shumaker, J. B. (1984). Automated radiometric linearity tester. Applied Optics.</a:t>
            </a:r>
            <a:endParaRPr lang="en-US" sz="7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[QualityAssurance] • SLIDE 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Spectralon® White Reference Reflectance Calibration Certificate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No white reference panel is 100% reflective; NIST calibration certificates provide exact spectral correction factors (98–99%).</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 panel assumed to be 100% introduces a systematic 1% to 2% underestimation of true target reflectance if uncorrected.</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Calibration certificates provide 8°/hemispherical reflectance factors at 50 nm intervals from 250 to 2500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Interpolation: Cubic spline interpolation maps certificate values onto the 1 nm instrument channels.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\rho_{\text{target}}(\lambda) = \frac{\text{DN}_{\text{target}}(\lambda) - \text{DN}_{\text{dark}}(\lambda)}{\text{DN}_{\text{ref}}(\lambda) - \text{DN}_{\text{dark}}(\lambda)} \cdot R_{\text{certificate}}(\lambda)</a:t>
            </a:r>
            <a:endParaRPr lang="en-US" sz="1100" dirty="0"/>
          </a:p>
        </p:txBody>
      </p:sp>
      <p:sp>
        <p:nvSpPr>
          <p:cNvPr id="11" name="Shape 9"/>
          <p:cNvSpPr/>
          <p:nvPr/>
        </p:nvSpPr>
        <p:spPr>
          <a:xfrm>
            <a:off x="5486400" y="2880360"/>
            <a:ext cx="3108960" cy="1005840"/>
          </a:xfrm>
          <a:prstGeom prst="roundRect">
            <a:avLst>
              <a:gd name="adj" fmla="val 4545"/>
            </a:avLst>
          </a:prstGeom>
          <a:solidFill>
            <a:srgbClr val="FFFBEB"/>
          </a:solidFill>
          <a:ln w="12700">
            <a:solidFill>
              <a:srgbClr val="F59E0B"/>
            </a:solidFill>
            <a:prstDash val="solid"/>
          </a:ln>
        </p:spPr>
      </p:sp>
      <p:sp>
        <p:nvSpPr>
          <p:cNvPr id="12" name="Text 10"/>
          <p:cNvSpPr/>
          <p:nvPr/>
        </p:nvSpPr>
        <p:spPr>
          <a:xfrm>
            <a:off x="5577840" y="2926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3" name="Text 11"/>
          <p:cNvSpPr/>
          <p:nvPr/>
        </p:nvSpPr>
        <p:spPr>
          <a:xfrm>
            <a:off x="5577840" y="3136392"/>
            <a:ext cx="2926080" cy="685800"/>
          </a:xfrm>
          <a:prstGeom prst="rect">
            <a:avLst/>
          </a:prstGeom>
          <a:noFill/>
          <a:ln/>
        </p:spPr>
        <p:txBody>
          <a:bodyPr wrap="square" rtlCol="0" anchor="ctr"/>
          <a:lstStyle/>
          <a:p>
            <a:pPr indent="0" marL="0">
              <a:buNone/>
            </a:pPr>
            <a:r>
              <a:rPr lang="en-US" sz="900" dirty="0">
                <a:solidFill>
                  <a:srgbClr val="78350F"/>
                </a:solidFill>
              </a:rPr>
              <a:t>Store the active calibration certificate file in the field laptop and verify matching panel serial numbers.</a:t>
            </a:r>
            <a:endParaRPr lang="en-US" sz="900" dirty="0"/>
          </a:p>
        </p:txBody>
      </p:sp>
      <p:sp>
        <p:nvSpPr>
          <p:cNvPr id="14" name="Text 12"/>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Labsphere Inc. (2018). Spectralon Reflectance Standards Technical Guide.</a:t>
            </a:r>
            <a:endParaRPr lang="en-US" sz="7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[QualityAssurance] • SLIDE 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Spectralon Degradation: UV Solarization &amp; Soil Dust Contamination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Field use inevitably degrades Spectralon panels; annual recalibration is essential for data credibility.</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UV Solarization: Extended exposure to intense outdoor solar UV radiation breaks polymer bonds, causing yellowing and UV absorption.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Dust and Organic Particulates: Windblown fine dust lodges permanently into the microscopic porous PTFE matrix.</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Hydrocarbon Stains: Touching the panel with oily fingers introduces C-H absorption troughs in the SWIR (1200, 1720, 2300 nm).</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Never blow dust off a panel with your mouth (saliva droplets ruin the surface); use clean dry nitrogen or a photographic air bulb.</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MacArthur, A. et al. (2012). NERC FSF Technical Report.</a:t>
            </a:r>
            <a:endParaRPr lang="en-US" sz="7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[QualityAssurance] • SLIDE 10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Spectralon Resurfacing &amp; Cleaning Protocol</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Spectralon panels can be restored to near-factory reflectance by gentle wet-sanding under deionized water.</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Equipment: Waterproof 220–400 grit silicon carbide emery sandpaper, glass plate, deionized water.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Procedure: Place sandpaper on flat glass, wet thoroughly, sand panel in a figure-eight pattern under gentle pressure.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Bakeout: Dry in a clean vacuum oven at 80°C for 8–12 hours to drive off residual water and volatile organics.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Post-sanding: Must be recalibrated or cross-calibrated against a secondary master laboratory panel.</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Perform cleaning only in a clean laboratory environment, never in the field hotel or tent.</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Labsphere Inc. (2015). Care and Handling of Spectralon Diffuse Reflectance Targets.</a:t>
            </a:r>
            <a:endParaRPr lang="en-US" sz="7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[QualityAssurance] • SLIDE 11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Secondary Field Panels vs. Master Laboratory Standards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Protect master calibration standards by using dedicated secondary panels in the field and reserving pristine masters for lab checks.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Golden Master Panel: Kept permanently in a dark, desiccated laboratory cabinet, never taken into the field.</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Field Working Panels: Deployed in outdoor campaigns and subjected to dust, sun, and transport.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Cross-calibration: Measure field working panels against the golden master in the lab before and after every field campaign.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Tracking drift: Generates an empirical degradation vector that can retroactively correct field data.</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et al. (2009). Progress in field spectroscopy. Remote Sensing of Environment.</a:t>
            </a:r>
            <a:endParaRPr lang="en-US" sz="7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[Physics] • SLIDE 12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White Reference Non-Lambertian Behavior at High Zenith Angles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Spectralon is not perfectly Lambertian; its reflectance factor increases significantly when solar zenith angles exceed 50°–60°.</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At normal incidence (θ_i &lt; 30°), Spectralon is isotropic within ±0.5%.</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At grazing angles (θ_i &gt; 60°), forward specular scattering emerges, and measured apparent reflectance rises by 2% to 6%.</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If an operator uses a Spectralon panel at 16:00 in winter (θ_s = 65°), target reflectance is artificially suppressed by up to 5%.</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R(\theta_i, 0; \text{nadir}) = 1.0 + c_1 \cdot \theta_i^2 + c_2 \cdot \theta_i^4</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Sandmeier, S. et al. (1998). Physical mechanisms in hyperspectral BRDF data of grass and watercress. Remote Sensing of Environment.</a:t>
            </a:r>
            <a:endParaRPr lang="en-US" sz="7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[Instrumentation] • SLIDE 13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Cosine Receptor Characterization: Directional Response Error</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Cosine diffusers measure irradiance by capturing photons according to Lambert's cosine law; departures cause cosine error.</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Ideal cosine receptor: Responsivity scales perfectly with cos(θ_i).</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Real PTFE diffusers: Under-respond at high zenith angles (θ_i &gt; 60°) due to surface reflection and rim shading.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Cosine error: f₂(θ) = (Signal(θ) / [Signal(0) · cos θ]) - 1.0.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High-grade cosine receptors maintain total cosine error f₂ &lt; 3% up to 70° zenith angle.</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f_2 = \int_0^{\pi/2} \left| \frac{S(\theta)}{S(0)\cos\theta} - 1 \right| \sin(2\theta) \, d\theta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CIE (1987). Methods of Characterizing the Performance of Radiometers and Photometers. Publication CIE 69.</a:t>
            </a:r>
            <a:endParaRPr lang="en-US" sz="7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[QualityAssurance] • SLIDE 14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Single-Beam Time-Drift Uncertainty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In single-beam field radiometry, the time elapsed between white reference and target scans is a primary uncertainty driver.</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Atmospheric optical depth and solar position change continuously.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At solar noon in summer, solar zenith angle changes slowly (&lt; 0.1° per minute).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mid-morning or late afternoon, solar zenith angle changes by &gt; 0.5° per minute, altering irradiance by ~1% every 2 minutes.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Rule of thumb: Complete target measurements within 3 to 5 minutes of white reference acquisition under clear skies.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Set an automatic timer on the field computer to alert the team when 5 minutes have elapsed since the last WR scan.</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(1987). Principles of field spectroscopy. International Journal of Remote Sensing.</a:t>
            </a:r>
            <a:endParaRPr lang="en-US" sz="7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[Instrumentation] • SLIDE 15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Dual-Beam Inter-Calibration Protocols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Dual-beam systems require frequent cross-calibration of the reference and target sensors to track inter-channel drift.</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Dual-beam eliminates solar temporal drift by recording WR and target simultaneously.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However, if the two spectrometers drift differentially in temperature or responsivity, a systematic cross-channel error occurs.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Protocol: Every 30–60 minutes, place both optical heads over the same white reference panel to calculate the cross-calibration vector G(λ).</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G(\lambda) = \frac{L_1^{\text{WR}}(\lambda)}{L_2^{\text{WR}}(\lambda)}, \quad \rho_{\text{target}}(\lambda) = \frac{L_1^{\text{target}}(\lambda)}{L_2^{\text{WR}}(\lambda) \cdot G(\lambda)} \cdot \rho_{\text{ref}}(\lambda)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MacArthur, A. et al. (2014). Remote Sensing of Environment.</a:t>
            </a:r>
            <a:endParaRPr lang="en-US" sz="7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[QualityAssurance] • SLIDE 16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GUM Framework: Guide to the Expression of Uncertainty in Measurement</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Scientific measurements must be accompanied by an uncertainty statement compliant with international metrological standards.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JCGM 100:2008 (GUM): Defines standardized methodologies for evaluating and expressing measurement uncertainty.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Type A Evaluation: Evaluated by statistical analysis of series of observations (e.g. sample standard deviation of repeated scans).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Type B Evaluation: Evaluated by scientific judgment, manufacturer certificates, calibration standards, or published literature.</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u_c^2(y) = \sum_{i=1}^N \left(\frac{\partial f}{\partial x_i}\right)^2 u^2(x_i) + 2\sum_{i=1}^{N-1}\sum_{j=i+1}^N \frac{\partial f}{\partial x_i}\frac{\partial f}{\partial x_j} u(x_i, x_j)</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JCGM (2008). Evaluation of measurement data — Guide to the expression of uncertainty in measurement. JCGM 100:2008.</a:t>
            </a:r>
            <a:endParaRPr lang="en-US" sz="7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[QualityAssurance] • SLIDE 17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Building a Field Spectroscopy Uncertainty Budget</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 complete uncertainty budget aggregates all independent noise and systematic error components into a combined uncertainty curve.</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Component 1: Spectralon certificate uncertainty (u_ref ≈ 0.5%).</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Component 2: White reference aging/contamination (u_panel ≈ 1.0%).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Component 3: Instrument noise / SNR (u_noise ≈ 0.2% in VNIR, 1.5% in SWIR).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Component 4: Solar irradiance temporal drift (u_sun ≈ 0.5–2.0%).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Component 5: Zenith/nadir pointing tilt error (u_tilt ≈ 0.8%).</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Total combined relative reflectance uncertainty typically ranges from 1.5% to 3.0% under optimal clear-sky conditions.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Fox, N. et al. (2003). Traceability in remote sensing: The QE6 project. SPIE Proceedings.</a:t>
            </a:r>
            <a:endParaRPr lang="en-US" sz="7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[Mathematics] • SLIDE 18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Wavelength Uncertainty vs. Band-Depth Retrieval Error</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 tiny 1 nm wavelength shift creates massive errors when calculating narrow absorption band depths in minerals and pigments.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Kaolinite Al-OH doublet at 2206 nm has a half-width of only ~12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 1.0 nm wavelength calibration error produces an apparent 5% to 10% error in calculated band absorption depth.</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vegetation, red edge inflection point (REIP) shifts of 2–3 nm indicate heavy metal stress or nitrogen deficiency; wavelength stability &lt; 0.5 nm is mandatory.</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Van der Meer, F. (2004). Analysis of spectral absorption features in hyperspectral imagery. International Journal of Applied Earth Observation.</a:t>
            </a:r>
            <a:endParaRPr lang="en-US" sz="7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[Instrumentation] • SLIDE 19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Radiometric Calibration Transfer Standards: Portable Field Lamps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Portable field calibration lamps allow on-site verification of instrument responsivity during remote field expeditions.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Compact stabilized QTH light sources with precision DC constant-current power regulation.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Mounted directly to the foreoptic barrel to provide a repeatable radiant flux baseline.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Enables detection of sudden optical component failure (e.g. fractured fiber strand or misaligned order-sorting filter) while still in the field.</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Run a portable lamp check at the field base camp every morning before setting off to remote field sites.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NERC FSF (2020). Calibration Equipment and Field Validation Manual.</a:t>
            </a:r>
            <a:endParaRPr lang="en-US" sz="7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[QualityAssurance] • SLIDE 20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Inter-Comparison Campaigns &amp; Round-Robin Experiments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Round-robin experiments comparing multiple spectrometers over identical targets reveal inter-instrument biases of 2% to 8%.</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ESA and CEOS regularly conduct field spectroradiometer inter-comparison campaigns (e.g. RadCalNet, FICE).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Different instruments (ASD vs SVC vs PSR) measuring the same Spectralon panel simultaneously frequently differ by 2–4% in the SWIR.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Major causes: Differing slit functions, stray light rejection, fiber cable geometries, and manufacturer calibration algorithms.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Anderson, K. et al. (2011). Field spectroradiometer inter-calibration: Methods and challenges. Remote Sensing of Environment.</a:t>
            </a:r>
            <a:endParaRPr lang="en-US" sz="7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[QualityAssurance] • SLIDE 21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CEOS WGCV Field Spectrometry Protocol</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Committee on Earth Observation Satellites defines the global standard for ground validation of spaceborne missions.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Protocol requirements: Traceable calibration certificates &lt; 1 year old; clear sky criteria (AOD &lt; 0.2); SZA &lt; 50°.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Sampling footprint documentation: Drone imagery of target site, high-precision RTK GNSS coordinates (±2 cm).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Uncertainty statement: Every published spectral curve must report a combined standard uncertainty vector u(λ).</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Review the CEOS WGCV checklist prior to any satellite under-flight field validation campaign.</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CEOS WGCV (2014). Quality Assurance Framework for Earth Observation: Field Spectrometry Protocol.</a:t>
            </a:r>
            <a:endParaRPr lang="en-US" sz="7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[CaseStudy] • SLIDE 22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RadCalNet: Automated Ground Calibration Networks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RadCalNet provides automated, continuous in situ surface reflectance measurements for autonomous satellite vicarious calibration.</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Global network of automated instrumented sites: Railroad Valley (USA), La Crau (France), Baotou (China), Gobabeb (Namibia).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Autonomous nadir-viewing multi-channel spectroradiometers taking measurements every 30 minutes.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Combined with co-located CIMEL sun photometers (AERONET) measuring atmospheric optical depth and water vapor column.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Provides top-of-atmosphere (TOA) and surface reflectance with documented uncertainty &lt; 3% for Sentinel-2, Landsat-8/9, PlanetScope.</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Bouvet, M. et al. (2019). RadCalNet: A radiometric calibration network for Earth observing imagers. Remote Sensing, 11(20), 2401.</a:t>
            </a:r>
            <a:endParaRPr lang="en-US" sz="7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[CaseStudy] • SLIDE 23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Vicarious Calibration of Earth Observation Satellites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Vicarious calibration uses ground field spectroscopy over bright, homogeneous targets to validate satellite onboard sensors.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Satellite sensors degrade in orbit due to cosmic radiation, solar UV darkening of lenses, and outgassing contamination.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Reflectance-based method: Measure ground surface reflectance with field spectroradiometers during satellite overpass.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Atmospheric radiative transfer: Input ground spectra and AERONET aerosol/gas data into MODTRAN to predict Top-of-Atmosphere (TOA) radiance.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Compare predicted TOA radiance against satellite digital counts to update sensor calibration gain coefficients.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L_{\text{TOA}}(\lambda) = L_{\text{path}}(\lambda) + \frac{\rho_{\text{ground}}(\lambda) \cdot E_{\text{solar}}(\lambda) \cdot T_{\downarrow}(\lambda) \cdot T_{\uparrow}(\lambda)}{\pi \cdot [1 - s(\lambda) \cdot \rho_{\text{ground}}(\lambda)]}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Thome, K. et al. (2004). Vicarious calibration of SPOT-4 HRVIR, Landsat-7 ETM+, and TERRA ASTER. IEEE TGRS.</a:t>
            </a:r>
            <a:endParaRPr lang="en-US" sz="7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[QualityAssurance] • SLIDE 24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Spectrometer Field Validation Checklist</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Rigorous pre-flight and pre-field checklist execution prevents costly data invalidation in retrospective analysis.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Phase 1 (Laboratory): Inspect fiber bundle, confirm wavelength alignment with Hg-Ar or Mylar, verify Peltier cooling lock.</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Phase 2 (Departure): Clean Spectralon panels, charge all lithium batteries, verify calibration files loaded in software.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Phase 3 (On-Site): Level tripod, orient station to solar azimuth, run auto-integration, record 100% white reference check.</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Phase 4 (Post-Campaign): Inspect raw data for detector splice jumps, saturation flags, and SNR degradation.</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Laminate this 4-phase checklist and keep it permanently inside the spectrometer rugged transport case.</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NERC FSF (2020). Operational Field Guide.</a:t>
            </a:r>
            <a:endParaRPr lang="en-US" sz="7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[Processing] • SLIDE 25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Signal Clipping &amp; Saturated Band Masking</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Saturated channels distort spectral shape and create spurious absorption artifacts in downstream derivative analysis.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Saturation occurs when ADC counts hit maximum (e.g. 65,535 counts in 16-bit).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Partial saturation: Even at 63,000 counts, photodiode amplifiers may leave the linear regime.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Automated masking: Flag and set all spectral channels with DN &gt; 0.90 · DN_max to NaN.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Never interpolate through saturated bands; flag them explicitly in the metadata record.</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If bright cloud borders momentarily illuminate the panel during WR acquisition, the entire subsequent dataset is ruined.</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Analytical Spectral Devices (2012). RS3 User Guide.</a:t>
            </a:r>
            <a:endParaRPr lang="en-US" sz="7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[Mathematics] • SLIDE 26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Spectral Interpolation: Splines vs. Linear vs. PCHIP</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Interpolating irregular or missing spectral channels requires shape-preserving algorithms to prevent artificial oscillations.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Linear interpolation: Fast and robust, but introduces sharp non-physical slope breaks at tie points.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Cubic spline: Smooth curves, but susceptible to Runge's phenomenon (overshooting and spurious wiggles) near steep absorption edges.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PCHIP (Piecewise Cubic Hermite Interpolating Polynomial): Preserves monotonicity and avoids artificial overshoot.</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y(x) = h_{00}(t)y_k + h_{10}(t)d_k + h_{01}(t)y_{k+1} + h_{11}(t)d_{k+1}</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Fritsch, F. N., &amp; Carlson, R. E. (1980). Monotone piecewise cubic interpolation. SIAM Journal on Numerical Analysis.</a:t>
            </a:r>
            <a:endParaRPr lang="en-US" sz="7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[Processing] • SLIDE 27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Atmospheric Noise Truncation Protocols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Channels in deep atmospheric water vapor absorption bands (1350–1450 nm and 1800–1980 nm) must be masked out.</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Zero incident solar irradiance means dividing target counts by zero or near-zero reference counts.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Produces extreme random division spikes with noise reaching ±1000% reflectance.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Academic standard: Truncate and mask out: 1350–1460 nm and 1790–1990 nm prior to publication or modeling.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Truncate noisy ends below 380 nm and above 2450 nm where detector responsivity is low.</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Never present field reflectance curves showing noisy spiky grass in the 1400 nm and 1900 nm troughs.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et al. (2009). Remote Sensing of Environment.</a:t>
            </a:r>
            <a:endParaRPr lang="en-US" sz="7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[CaseStudy] • SLIDE 28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Laboratory Cross-Calibration Experiment Design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 structured laboratory experiment determines the relative spectral responsivity ratio between two field instruments.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Set up a stabilized 1000W QTH lamp illuminating a pristine 10" master Spectralon panel.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Mount both instruments on identical viewing jigs with optical axes aligned at 45° incidence, 0° nadir viewing.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Acquire 50 scans per instrument, swap physical positions, and repeat to eliminate spatial illumination gradients.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Calculates cross-instrument transfer matrix with relative standard uncertainty &lt; 0.3%.</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MacArthur, A. et al. (2012). NERC FSF Technical Report.</a:t>
            </a:r>
            <a:endParaRPr lang="en-US" sz="7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[QualityAssurance] • SLIDE 29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Calibration Record Keeping and Audit Trails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Reproducible geospatial science requires permanent digital audit trails linking raw scans to specific calibration files.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Metadata requirements: Spectrometer serial number, fiber optic bundle ID, foreoptic serial number.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White reference panel serial number and calibration certificate issue date.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Internal instrument operating firmware version and dark current subtraction timestamp.</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Without these records, historic field data cannot be re-calibrated when standards improve.</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Store calibration files alongside raw spectral files in read-only data repositories.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Wilkinson, M. D. et al. (2016). The FAIR Guiding Principles for scientific data management. Scientific Data, 3, 160018.</a:t>
            </a:r>
            <a:endParaRPr lang="en-US" sz="7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3: Calibration &amp; Radiometric Validation • [QualityAssurance] • SLIDE 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Module 3 Synthesis: Toward Rigorous Field Protocols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Calibration and uncertainty quantification transform raw digital numbers into defensible scientific measurements.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Module 3 synthesized: NIST traceability, wavelength validation (Hg-Ar, Mylar), radiometric calibration, Spectralon care, and GUM uncertainty budgets.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Module 4, we step outdoors into dynamic environments: solar zenith windows, BRDF sampling geometry, footprint calculations, and field metadata.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Laboratory practical: Computing GUM uncertainty propagation curves and building automated Spectralon contamination detectors.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et al. (2009). Progress in field spectroscopy. Remote Sensing of Environment, 113, S92-S109.</a:t>
            </a:r>
            <a:endParaRPr lang="en-US" sz="7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1645920"/>
            <a:ext cx="7772400" cy="365760"/>
          </a:xfrm>
          <a:prstGeom prst="rect">
            <a:avLst/>
          </a:prstGeom>
          <a:noFill/>
          <a:ln/>
        </p:spPr>
        <p:txBody>
          <a:bodyPr wrap="square" rtlCol="0" anchor="ctr"/>
          <a:lstStyle/>
          <a:p>
            <a:pPr indent="0" marL="0">
              <a:buNone/>
            </a:pPr>
            <a:r>
              <a:rPr lang="en-US" sz="1600" b="1" dirty="0">
                <a:solidFill>
                  <a:srgbClr val="34D399"/>
                </a:solidFill>
              </a:rPr>
              <a:t>MODULE 4</a:t>
            </a:r>
            <a:endParaRPr lang="en-US" sz="1600" dirty="0"/>
          </a:p>
        </p:txBody>
      </p:sp>
      <p:sp>
        <p:nvSpPr>
          <p:cNvPr id="3" name="Text 1"/>
          <p:cNvSpPr/>
          <p:nvPr/>
        </p:nvSpPr>
        <p:spPr>
          <a:xfrm>
            <a:off x="731520" y="2194560"/>
            <a:ext cx="7772400" cy="1097280"/>
          </a:xfrm>
          <a:prstGeom prst="rect">
            <a:avLst/>
          </a:prstGeom>
          <a:noFill/>
          <a:ln/>
        </p:spPr>
        <p:txBody>
          <a:bodyPr wrap="square" rtlCol="0" anchor="ctr"/>
          <a:lstStyle/>
          <a:p>
            <a:pPr indent="0" marL="0">
              <a:buNone/>
            </a:pPr>
            <a:r>
              <a:rPr lang="en-US" sz="2600" b="1" dirty="0">
                <a:solidFill>
                  <a:srgbClr val="FFFFFF"/>
                </a:solidFill>
              </a:rPr>
              <a:t>Rigorous Field Sampling Protocols, Geometry &amp; Quality Assurance</a:t>
            </a:r>
            <a:endParaRPr lang="en-US" sz="2600" dirty="0"/>
          </a:p>
        </p:txBody>
      </p:sp>
      <p:sp>
        <p:nvSpPr>
          <p:cNvPr id="4" name="Text 2"/>
          <p:cNvSpPr/>
          <p:nvPr/>
        </p:nvSpPr>
        <p:spPr>
          <a:xfrm>
            <a:off x="731520" y="3474720"/>
            <a:ext cx="7772400" cy="1371600"/>
          </a:xfrm>
          <a:prstGeom prst="rect">
            <a:avLst/>
          </a:prstGeom>
          <a:noFill/>
          <a:ln/>
        </p:spPr>
        <p:txBody>
          <a:bodyPr wrap="square" rtlCol="0" anchor="ctr"/>
          <a:lstStyle/>
          <a:p>
            <a:pPr indent="0" marL="0">
              <a:buNone/>
            </a:pPr>
            <a:r>
              <a:rPr lang="en-US" sz="1100" dirty="0">
                <a:solidFill>
                  <a:srgbClr val="94A3B8"/>
                </a:solidFill>
              </a:rPr>
              <a:t>4 Teaching Hours • 1.5 ECTS Credits • Module 4 bridges laboratory precision with the complex realities of outdoor field environments. MSc students master the geometry and physics of natural outdoor radiometry: restricting observations to the SZA &lt; 45°–50° golden window, converting between civil time and true local solar time, and avoiding the optical retro-reflection hotspot. The module formulates sensor height and foreoptic footprint math, defines operator shadow/skylight exclusion zones, and establishes robust spatial sampling strategies (stratified random, regular grids, transects) for scaling up to Sentinel-2 and Landsat pixels. Students implement comprehensive metadata logging compliant with ISO 19115-2 and NERC FSF guidelines.</a:t>
            </a:r>
            <a:endParaRPr lang="en-US" sz="11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[Protocol] • SLIDE 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Introduction to Field Sampling Design &amp; Geometrical Protocols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In situ optical radiometry is subject to dynamic outdoor environmental perturbations that require strict geometric and temporal sampling protocols.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Unlike laboratory benches, outdoor fields feature shifting solar angles, moving shadows, wind-induced canopy motion, and atmospheric aerosol variations.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Scientific reproducibility demands standardized geometrical constraints on illumination and viewing.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This module establishes the rules of engagement for outdoor data acquisition to ensure high-fidelity surface reflectance retrieval.</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Flawed field protocol produces corrupted spectral signatures that no downstream algorithm can salvage.</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et al. (2009). Progress in field spectroscopy. Remote Sensing of Environment, 113, S92-S109.</a:t>
            </a:r>
            <a:endParaRPr lang="en-US" sz="7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[Protocol] • SLIDE 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Solar Zenith Angle (SZA) Window: The ±2 Hour Golden Window</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Valid field spectroradiometry must be strictly confined to solar zenith angles θ_s &lt; 45°–50° (within ±2 hours of local solar noon).</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When θ_s &gt; 50°, direct solar irradiance decreases rapidly, while optical air mass (AM) increases steeply.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High SZA elongates surface shadows, exaggerating non-Lambertian BRDF cavity scattering and micro-topographic shading.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High SZA causes forward specular scattering on Spectralon reference panels, introducing systematic calibration errors.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Golden Rule: Restrict primary field campaigns to between 10:00 and 14:00 true local solar time.</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\theta_s \le 50^\circ \implies \text{Air Mass } m \le 1.55</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Curtiss, B., &amp; Goetz, A. F. (1994). Field spectrometry: Techniques and instrumentation.</a:t>
            </a:r>
            <a:endParaRPr lang="en-US" sz="7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[Mathematics] • SLIDE 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Local Solar Time vs. Civil Clock Time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Civil clock time differs substantially from true local solar time due to time zones, Daylight Saving Time, and orbital eccentricity.</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Civil noon (12:00 on your watch) rarely coincides with true solar noon (maximum solar elevation).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Equation of Time (EoT): Accounts for Earth's orbital eccentricity and axial tilt (up to ±16 minutes shift).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Longitude correction: 4 minutes of time per degree of longitude away from the time zone meridian.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Always compute the exact solar noon timestamp using NOAA solar calculator algorithms before setting out.</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\text{Solar Time} = \text{Civil Time} + \frac{4(\text{Lon} - \text{Lon}_{\text{ref}})}{60} + \frac{\text{EoT}}{60} - \text{DST}</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Reda, I., &amp; Andreas, A. (2004). Solar position algorithm. Solar Energy.</a:t>
            </a:r>
            <a:endParaRPr lang="en-US" sz="7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[Physics] • SLIDE 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Bidirectional Reflectance &amp; The Optical Hotspot</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When the illumination angle and viewing angle coincide (exact retro-reflection), shadows vanish, producing the optical hotspot.</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Hotspot (opposition surge): Sharp peak in reflected radiance when looking directly along the solar illumination vector.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Physical causes: Complete disappearance of cast shadows behind foliage/soil particles + coherent backscatter.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Canopy reflectance can double within 2°–5° of the exact retro-illumination direction.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Avoid viewing geometries within 15° of the solar anti-solar point unless explicitly measuring hotspot parameters.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Kuusk, A. (1991). The hot spot effect of a plant canopy. In Photon-Vegetation Interactions, Springer.</a:t>
            </a:r>
            <a:endParaRPr lang="en-US" sz="7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[Protocol] • SLIDE 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Viewing Geometry: Nadir vs. Off-Nadir Alignments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Standard ground validation requires strict nadir viewing (θ_v = 0°); unintended tilts introduce multi-percent BRDF errors.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Nadir viewing (0° zenith) looks straight down, matching typical satellite near-nadir swaths (e.g. Landsat, Sentinel-2).</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 5° tilt of the foreoptic towards the sun increases shadow exposure, artificially reducing apparent NIR reflectance.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 5° tilt away from the sun captures illuminated leaf facets, artificially boosting reflectance.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Mandatory equipment: Two-axis bubble level mounted directly onto the foreoptic barrel.</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Never trust human hand leveling; handheld foreoptics consistently drift by 6° to 12° during scans.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MacArthur, A. et al. (2014). Optimizing the use of field spectrometers. Remote Sensing of Environment.</a:t>
            </a:r>
            <a:endParaRPr lang="en-US" sz="7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[Mathematics] • SLIDE 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Calculating the Foreoptic Ground Footprint</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spatial sampling footprint is governed by sensor height, angular field of view, and viewing zenith angle.</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For circular nadir foreoptics, the footprint is a circle of diameter D = 2 · h · tan(FOV / 2).</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Footprint area scales with the square of height: A = π · (h · tan(FOV / 2))².</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For off-nadir viewing (θ_v &gt; 0°), the footprint elongates into an ellipse with major and minor axes governed by perspective projection.</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D_{\text{nadir}} = 2 \cdot h \cdot \tan\left(\frac{\text{FOV}}{2}\right), \quad a = h \cdot \frac{\sin(\text{FOV}/2)}{\cos(\theta_v + \text{FOV}/2)}, \; b = h \cdot \frac{\sin(\text{FOV}/2)}{\cos(\theta_v - \text{FOV}/2)}</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Curtiss, B., &amp; Goetz, A. F. (1994). Field spectrometry techniques.</a:t>
            </a:r>
            <a:endParaRPr lang="en-US" sz="7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[Protocol] • SLIDE 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Target Footprint Sizing vs. Canopy Structural Scale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footprint diameter must be at least 3 to 5 times larger than individual canopy structural elements to achieve representative averaging.</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If footprint is smaller than a single leaf or gap: Measurements fluctuate wildly between 100% sunlit leaf and 100% dark shadow gap.</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Representative Elementary Volume (REV): The minimum footprint size that yields a stable spatial average of canopy architecture.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row crops (e.g. maize, vineyards), footprint must span an integer number of crop rows and inter-row spaces to prevent row-phase bias.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For 1 m tall agricultural crops, mount the 25° foreoptic at least 2.5 m above the top of the canopy.</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(1987). Principles of field spectroscopy. International Journal of Remote Sensing.</a:t>
            </a:r>
            <a:endParaRPr lang="en-US" sz="7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[Protocol] • SLIDE 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Operator Exclusion Zone &amp; Cast Shadows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field operator and metallic equipment must remain outside the direct solar line and diffuse field of view.</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Direct cast shadow: An operator standing between the sun and the target casts an obvious dark shadow, ruining the scan.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Diffuse sky obstruction: An operator standing near the target blocks a fraction of the 2π diffuse skylight, creating a subtle 2–5% blue deficit.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Clothing reflection: A bright yellow, red, or white jacket reflects colored photons onto the target or reference panel.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Standard rule: Operators must wear matte, non-reflective neutral gray or dark clothing and stand opposite or perpendicular to the solar azimuth.</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Operator must stand at least 1.5 to 2.0 meters back from the target, aligned perpendicular to the solar principal plane.</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NERC FSF (2020). Best Practice Manual for Field Spectroradiometry.</a:t>
            </a:r>
            <a:endParaRPr lang="en-US" sz="7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[Mathematics] • SLIDE 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Solar Principal Plane and Cross-Principal Plane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Anisotropy is maximum along the Solar Principal Plane and minimum along the Cross-Principal Plane.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Solar Principal Plane (SPP): Vertical plane containing the solar vector and the surface normal (azimuths φ = φ_s and φ = φ_s + 180°).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Contains both the optical hotspot (retro-reflection) and forward specular scattering peak.</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Cross-Principal Plane (CPP): Vertical plane perpendicular to the SPP (azimuths φ = φ_s ± 90°).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BRDF variation is most symmetric and minimal in the Cross-Principal Plane, making it ideal for directional calibration tests.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Schaepman-Strub, G. et al. (2006). Remote Sensing of Environment, 103(1), 27-42.</a:t>
            </a:r>
            <a:endParaRPr lang="en-US" sz="7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[Mathematics] • SLIDE 10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Spatial Heterogeneity &amp; Sample Size Determination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required number of field spectra depends statistically on target spatial variance and the desired margin of error.</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Central Limit Theorem: The standard error of the mean decreases with the square root of sample size: SE = s / √N.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For a 95% confidence interval with allowable relative margin of error E: N = (t_crit · CV / E)², where CV is coefficient of variation (s / x̄).</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uniform wheat fields, N = 10–15 spectra may suffice; in heterogeneous rangelands, N = 50–100 spectra are required.</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N = \left( \frac{z_{1-\alpha/2} \cdot \text{CV}}{E} \right)^2</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Cochran, W. G. (1977). Sampling Techniques (3rd ed.). John Wiley &amp; Sons.</a:t>
            </a:r>
            <a:endParaRPr lang="en-US" sz="7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[Protocol] • SLIDE 11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Sampling Strategies: Stratified Random vs. Systematic Grids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Spatial sampling designs must avoid sampling bias to represent true landscape pixel compositions accurately.</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Simple Random Sampling: Every ground point has an equal chance of selection; avoids spatial autocorrelation bias.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Stratified Random Sampling: Divides heterogeneous field into homogeneous strata (e.g. hill crest, slope, hollow) and samples each proportionally.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Systematic Regular Grid: Evenly spaced grid nodes; guarantees uniform spatial coverage across satellite pixel footprints.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Cross-Transects (Star / X-shape): Rapid collection covering major directional gradients across a 30m × 30m pixel.</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McCoy, R. M. (2005). Field Methods in Remote Sensing. Guilford Press.</a:t>
            </a:r>
            <a:endParaRPr lang="en-US" sz="7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[CaseStudy] • SLIDE 12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Satellite Pixel Validation: Upscaling to Sentinel-2 and Landsat</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Validating a 10m Sentinel-2 or 30m Landsat pixel requires integrating multi-point ground spectra weighted by Point Spread Function (PSF).</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 single point spectrometer footprint (0.5 m) covers &lt; 0.25% of a 10m × 10m Sentinel-2 pixel area (100 m²).</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Point Spread Function (PSF): Satellite pixels are not square boxcars; the optical system weights central radiance higher than edges.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Field sampling must distribute 20 to 50 spectral points across the satellite Elementary Sampling Unit (ESU) centered on high-precision GNSS coordinates.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\bar{\rho}_{\text{pixel}}(\lambda) = \frac{\sum_{i=1}^N \text{PSF}(x_i, y_i) \cdot \rho_i(\lambda)}{\sum_{i=1}^N \text{PSF}(x_i, y_i)}</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Baret, F. et al. (2006). VALERI: A network of sites and a methodology for the validation of medium spatial resolution land products.</a:t>
            </a:r>
            <a:endParaRPr lang="en-US" sz="7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[Protocol] • SLIDE 13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High-Precision GNSS Georeferencing in the Field</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Standard smartphone GPS (±5 m error) is unacceptable for validating 10m satellite pixels; RTK-GNSS (±2 cm) is mandatory.</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 5-meter positional error places the validation sample into an adjacent agricultural field or road boundary.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Real-Time Kinematic (RTK) GNSS: Uses base-station carrier-phase differential corrections to achieve 1–2 cm horizontal precision.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PPK (Post-Processed Kinematic): Logs raw satellite observables for post-survey processing when cell coverage is absent.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Log GNSS coordinate at every spectral sampling station and record antenna height and horizontal dilution of precision (HDOP).</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Wait for RTK Fixed status before logging waypoint; never accept RTK Float or autonomous GPS fixes.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Hofmann-Wellenhof, B. et al. (2008). GNSS – Global Navigation Satellite Systems. Springer.</a:t>
            </a:r>
            <a:endParaRPr lang="en-US" sz="7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[QualityAssurance] • SLIDE 14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Continuous Illumination Monitoring: Pyranometers &amp; Sky Radiometers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Deploying a continuous solar pyranometer station concurrent with field scans detects sub-visual cloud transients.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 dedicated pyranometer logging global solar irradiance at 1-second intervals provides an objective atmospheric stability record.</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Irradiance coefficient of variation: CV_solar = σ(E) / μ(E) evaluated over 60-second sliding windows.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Quality threshold: Flag and discard field spectral scans acquired when CV_solar &gt; 0.5% over the measurement duration.</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Set the pyranometer logger on a small tripod in the center of the field site, connected via Bluetooth or SD card.</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MacArthur, A. et al. (2014). Remote Sensing of Environment.</a:t>
            </a:r>
            <a:endParaRPr lang="en-US" sz="7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[Instrumentation] • SLIDE 15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Aerosol Optical Depth (AOD) Tracking with Sun Photometers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Handheld sun photometers (Microtops II) track instantaneous aerosol optical depth and total precipitable water column.</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Microtops II: Five-channel handheld sun photometer pointed directly at the solar disk.</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Measures direct solar irradiance at 380, 440, 675, 870, and 936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Retrieves AOD at 500 nm (τ₅₀₀) and water vapor column (W in cm) via Langley plot calibration.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CEOS WGCV requirement: Field campaigns must log AOD &lt; 0.20 to guarantee clear-sky calibration quality.</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Align the sun's image onto the Microtops alignment target with steady hands and take triplets of readings.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Morys, M. et al. (2001). Design, calibration, and performance of Microtops II handheld sunphotometer. Journal of Geophysical Research.</a:t>
            </a:r>
            <a:endParaRPr lang="en-US" sz="7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[QualityAssurance] • SLIDE 16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Environmental Covariates: Soil Moisture, Air Temp &amp; Humidity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Spectra are meaningless without concurrent documentation of auxiliary biophysical and environmental covariates.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Soil moisture: Volumetric Water Content (VWC %) measured with TDR / FDR impedance probes in the top 5 cm.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Surface temperature: Thermal infrared radiometer (e.g. Apogee IRT) measuring target kinetic temperature.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Meteorological covariates: Air temperature, relative humidity, wind speed, barometric pressure logged with portable weather station.</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Surface soil drying during a 4-hour midday campaign increases soil reflectance at 1600 nm by up to 15%.</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McCoy, R. M. (2005). Field Methods in Remote Sensing.</a:t>
            </a:r>
            <a:endParaRPr lang="en-US" sz="7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[Protocol] • SLIDE 17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Vegetation Canopy Structural Metrics: LAI and Leaf Angle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Canopy reflectance is strongly governed by Leaf Area Index (LAI) and Leaf Angle Distribution (LAD).</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Leaf Area Index (LAI): Total one-sided leaf area per unit ground surface area [m² / m²].</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Measure LAI concurrently using digital hemispherical photography (DHP) or plant canopy analyzers (LI-COR LAI-2200C).</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Leaf Angle Distribution: Planophile (horizontal), erectophile (vertical), spherical, or plagiophile.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Erectophile canopies (grasses) show deep photon penetration and high shadow fractions at low SZA.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Planophile canopies (sunflower, clover) saturate reflectance at lower LAI values.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Jonckheere, I. et al. (2004). Review of methods for in situ leaf area index determination. Agricultural and Forest Meteorology.</a:t>
            </a:r>
            <a:endParaRPr lang="en-US" sz="7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[Protocol] • SLIDE 18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Leaf Sampling Protocols: Top-of-Canopy vs. Understory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When collecting foliar contact probe spectra, sampling must follow standardized vertical canopy stratification.</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Sunlit top-of-canopy leaves have higher nitrogen, higher chlorophyll a/b ratio, thicker cuticles, and more palisade parenchyma layers.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Shade leaves have higher specific leaf area (SLA) and lower overall reflectance in the NIR.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Protocol: Collect fully expanded, healthy leaves from the upper outer sunlit crown (sun leaves) using pole pruners.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Wrap detached petioles in moist paper towels, seal in dark zip-bags on blue ice, and measure within 2 hours.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Never let leaves wilt or dehydrate before contact probe measurement; cell collapse alters NIR scattering instantly.</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Doughty, C. E. et al. (2011). Foliar spectral traits in tropical trees. Remote Sensing of Environment.</a:t>
            </a:r>
            <a:endParaRPr lang="en-US" sz="7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[Protocol] • SLIDE 19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Soil Surface Preparation Protocols: Roughness and Crusts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Surface crusts, tillage furrows, and gravel lag deposits dictate soil directional reflectance and micro-shadowing.</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Micro-relief and surface roughness cast micro-shadows that reduce overall spectral reflectance (darkening effect).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Biological soil crusts (biocrusts): Cyanobacteria, lichens, and mosses produce distinct chlorophyll absorption features on soil surfaces.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Protocol: Document whether the soil surface is undisturbed, crusted, ploughed, or freshly raked.</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If collecting soil for laboratory spectroscopy, follow ISO 18400 sampling and dry sieving protocols (&lt; 2 mm).</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Ben-Dor, E. et al. (1999). Imaging spectrometry for soil applications. Remote Sensing of Environment.</a:t>
            </a:r>
            <a:endParaRPr lang="en-US" sz="7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[Protocol] • SLIDE 20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Aquatic and Water Surface Protocols: Above-Water Radiometry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Water surface radiometry requires precise viewing angles (θ_v = 40°, φ_rel = 135°) to avoid direct sun glint.</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Mobley (1999) protocol: Aim foreoptic at water surface at viewing zenith angle θ_v = 40° and relative azimuth angle Δφ = 135° from the sun.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Measure water radiance L_t, sky radiance L_sky (at θ_sky = 40°), and downwelling irradiance E_s.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Water-leaving radiance: L_w = L_t - ρ_sky · L_sky, where ρ_sky is the Fresnel surface reflectance factor (typically 0.028 for calm water).</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R_{\text{rs}}(\lambda) = \frac{L_w(\lambda)}{E_s(\lambda)} = \frac{L_t(\lambda) - \rho_{\text{sky}} L_{\text{sky}}(\lambda)}{E_s(\lambda)}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Mobley, C. D. (1999). Estimation of the remote-sensing reflectance from above-surface measurements. Applied Optics.</a:t>
            </a:r>
            <a:endParaRPr lang="en-US" sz="7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[Instrumentation] • SLIDE 21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Field Goniometers: Measuring Multi-Angular BRDF Outdoors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Field goniometers rotate a spectrometer foreoptic across a hemispherical arc to map surface anisotropy in situ.</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Examples: FIGIFIGO (Finnish Geodetic Institute), ASG (Airborne Spectrometer Goniometer), MUFIGO.</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Acquires reflected radiance across multiple view zenith angles (0° to 70°) and azimuth angles (0° to 360°).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Requires rapid automated acquisition (&lt; 10 minutes) before solar position shifts significantly.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Provides empirical BRDF kernels used to calibrate MODIS and satellite BRDF/albedo products.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Suomalainen, J. et al. (2009). FIGIFIGO—A new Brazilian-Finnish field goniometer system. Sensors.</a:t>
            </a:r>
            <a:endParaRPr lang="en-US" sz="7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[CaseStudy] • SLIDE 22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Drone / UAV Pre-Survey Reconnaissance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Deploying a high-resolution RGB drone before ground spectroscopy maps micro-spatial heterogeneity and guides sampling strata.</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Fly a preliminary 15-minute drone orthophoto survey at 30 m altitude (GSD &lt; 1 cm).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Generate instant NDVI and elevation models to identify canopy gaps, bare soil patches, and vegetation vigor gradients.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Delineate homogeneous strata and assign optimal GPS waypoints for ground spectrometer operators.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Store the drone orthomosaic on field tablets for real-time navigation to sampling stations.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Anderson, K., &amp; Gaston, K. J. (2013). Lightweight unmanned aerial vehicles will revolutionize spatial ecology. Frontiers in Ecology.</a:t>
            </a:r>
            <a:endParaRPr lang="en-US" sz="7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[QualityAssurance] • SLIDE 23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Metadata Standards: ISO 19115-2 &amp; FGDC Extensions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Data without standardized metadata is scientifically useless; ISO 19115-2 defines geospatial imagery and gridded data schemas.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ISO 19115-2: Geographic information — Metadata — Part 2: Extensions for acquisition and processing.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Mandatory sections: Lineage, instrument identification, platform characteristics, acquisition geometry, environmental conditions.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Machine-readable metadata: XML and JSON schemas enabling automated ingestion into global spectral repositories (SPECCHIO, ECOSTRESS).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ISO (2019). ISO 19115-2:2019 Geographic information — Metadata — Part 2. International Organization for Standardization.</a:t>
            </a:r>
            <a:endParaRPr lang="en-US" sz="7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[QualityAssurance] • SLIDE 24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NERC FSF Field Metadata Protocol</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Natural Environment Research Council Field Spectroscopy Facility defines the gold-standard operational field logging template.</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Standard field sheet tracks 28 mandatory parameters per sampling station.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Includes: Campaign code, site name, instrument serial number, foreoptic ID, white reference ID, target description.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Optical parameters: Time (UTC), solar zenith, solar azimuth, sensor height, view zenith, view azimuth.</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Environmental logs: Sky clarity (oktas), cloud types, wind speed, relative humidity, air temperature.</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Complete every field sheet field in ink at the moment of acquisition; never reconstruct metadata from memory at the hotel.</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NERC FSF (2020). Field Spectroscopy Protocol and Recording Template.</a:t>
            </a:r>
            <a:endParaRPr lang="en-US" sz="7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[Instrumentation] • SLIDE 25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Digital Field Logging Systems: Mobile Apps &amp; Electronic Tablets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Ruggedized field tablets with synchronized digital logging eliminate transcription errors and automatically tag GNSS and timestamps.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Digital tools: QField, ArcGIS Survey123, Fulcrum, or custom SPECCHIO mobile logging apps.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Direct Bluetooth sensor integration: Auto-populates GPS coordinates, compass heading, and digital photo into the spectral database.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Instant validation: Software validates that solar zenith is within bounds and alerts operator if time since last WR exceeds 5 minutes.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Hueni, A. et al. (2009). The spectral database SPECCHIO for improved data sharing and data analysis. Computers &amp; Geosciences.</a:t>
            </a:r>
            <a:endParaRPr lang="en-US" sz="7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[Protocol] • SLIDE 26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Target Site Photography: Contextual and Nadir Imagery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Every spectral target must be paired with high-resolution nadir and oblique contextual photography.</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Nadir target photo: Taken looking straight down with a scale bar / ruler and color calibration checker (e.g. Macbeth card) in frame.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Allows automated digital image classification of fractional cover (green leaf %, brown litter %, bare soil %).</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Four-cardinal-direction contextual photos: North, East, South, West views from the station to document surrounding terrain.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Sky condition photo: 180° fish-eye or wide-angle sky photo showing cloud cover status at time of scan.</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Position the scale bar on the edge of the target footprint, never inside the active field of view.</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CEOS WGCV (2014). Field Spectrometry Protocol.</a:t>
            </a:r>
            <a:endParaRPr lang="en-US" sz="7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[Protocol] • SLIDE 27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Field Team Logistics, Roles and Safety Choreography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 two-person field crew with distinct, synchronized roles operates 3x faster and with significantly fewer protocol errors.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Role 1 (Instrument Operator): Manages foreoptic pistol grip/boom, maintains nadir level, aims precisely, wears dark clothing.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Role 2 (Data Logger &amp; Navigator): Controls computer/tablet, monitors real-time spectrum, tracks time since last WR, logs environmental data.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Communication: Verbal callouts ("Optimizing", "White Reference Acquired", "Scanning Target 1 of 5", "Save Complete").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Field safety: Heat stress mitigation, hydration, snake/insect protection, and vehicle communications in remote terrains.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Rotate roles every 2 hours to maintain sharp attention and prevent operator physical fatigue.</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NERC FSF (2020). Operational Field Guide.</a:t>
            </a:r>
            <a:endParaRPr lang="en-US" sz="7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[QualityAssurance] • SLIDE 28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Post-Field Data QA/QC Triage Protocol</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Execute systematic data triage immediately at the end of each field day while field conditions remain fresh in memory.</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Step 1 (Integrity check): Verify file count matches field log sheets; confirm no corrupted or 0-byte files.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Step 2 (Visual screening): Plot all spectra in batch; immediately flag and isolate outliers with spurious slopes or clipping.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Step 3 (WR verification): Inspect WR check files; ensure maximum departure from 1.0 is &lt; 1.5%.</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Step 4 (Backup redundancy): Implement the 3-2-1 backup rule: 3 copies, 2 different media (laptop + external SSD), 1 cloud/remote copy.</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Never wipe instrument memory cards until two verified backups have been completed and checked.</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Wilkinson, M. D. et al. (2016). Scientific Data, 3, 160018.</a:t>
            </a:r>
            <a:endParaRPr lang="en-US" sz="7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[CaseStudy] • SLIDE 29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Case Study: Golden Grassland Cal/Val Campaign in California</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Jasper Ridge grassland field campaigns demonstrate how rigorous geometric protocols validate AVIRIS and PRISMA missions.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Target: Mediterranean annual grassland undergoing rapid summer dry-down.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Protocol: 100m × 100m grid with 49 sampling stations; ASD FieldSpec on 2.5m boom arm; RTK GPS coordinates.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Result: Characterized dry matter fraction (cellulose and lignin absorption at 2100 and 2300 nm) with R² = 0.89 against satellite retrievals.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Key success factor: Strict adherence to SZA &lt; 40° window eliminated senescent canopy shadowing artifacts.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Gamon, J. A. et al. (1993). Functional patterns in an annual grassland during an AVIRIS overflight. Remote Sensing of Environment.</a:t>
            </a:r>
            <a:endParaRPr lang="en-US" sz="7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4: Field Protocols &amp; Sampling Geometry • [Protocol] • SLIDE 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Module 4 Synthesis &amp; Preparing for Hyperspectral Imaging</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Flawless field protocols guarantee high-confidence ground truth data ready for scaling to UAV and satellite imaging platforms.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Module 4 synthesized: Solar zenith angle restrictions, BRDF avoidance, footprint calculations, operator exclusion, and ISO metadata.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Module 5, we transition from single-point spectrometers to 2D hyperspectral and multispectral imaging: pushbroom cameras, UAV payloads, and image cubes.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Preparation for Field Exercise 4: Executing a full multi-point sampling grid over a heterogeneous vegetated parcel.</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et al. (2009). Progress in field spectroscopy. Remote Sensing of Environment, 113, S92-S109.</a:t>
            </a:r>
            <a:endParaRPr lang="en-US" sz="7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1645920"/>
            <a:ext cx="7772400" cy="365760"/>
          </a:xfrm>
          <a:prstGeom prst="rect">
            <a:avLst/>
          </a:prstGeom>
          <a:noFill/>
          <a:ln/>
        </p:spPr>
        <p:txBody>
          <a:bodyPr wrap="square" rtlCol="0" anchor="ctr"/>
          <a:lstStyle/>
          <a:p>
            <a:pPr indent="0" marL="0">
              <a:buNone/>
            </a:pPr>
            <a:r>
              <a:rPr lang="en-US" sz="1600" b="1" dirty="0">
                <a:solidFill>
                  <a:srgbClr val="34D399"/>
                </a:solidFill>
              </a:rPr>
              <a:t>MODULE 5</a:t>
            </a:r>
            <a:endParaRPr lang="en-US" sz="1600" dirty="0"/>
          </a:p>
        </p:txBody>
      </p:sp>
      <p:sp>
        <p:nvSpPr>
          <p:cNvPr id="3" name="Text 1"/>
          <p:cNvSpPr/>
          <p:nvPr/>
        </p:nvSpPr>
        <p:spPr>
          <a:xfrm>
            <a:off x="731520" y="2194560"/>
            <a:ext cx="7772400" cy="1097280"/>
          </a:xfrm>
          <a:prstGeom prst="rect">
            <a:avLst/>
          </a:prstGeom>
          <a:noFill/>
          <a:ln/>
        </p:spPr>
        <p:txBody>
          <a:bodyPr wrap="square" rtlCol="0" anchor="ctr"/>
          <a:lstStyle/>
          <a:p>
            <a:pPr indent="0" marL="0">
              <a:buNone/>
            </a:pPr>
            <a:r>
              <a:rPr lang="en-US" sz="2600" b="1" dirty="0">
                <a:solidFill>
                  <a:srgbClr val="FFFFFF"/>
                </a:solidFill>
              </a:rPr>
              <a:t>UAV-Based Imaging Spectroscopy &amp; Multispectral Payloads</a:t>
            </a:r>
            <a:endParaRPr lang="en-US" sz="2600" dirty="0"/>
          </a:p>
        </p:txBody>
      </p:sp>
      <p:sp>
        <p:nvSpPr>
          <p:cNvPr id="4" name="Text 2"/>
          <p:cNvSpPr/>
          <p:nvPr/>
        </p:nvSpPr>
        <p:spPr>
          <a:xfrm>
            <a:off x="731520" y="3474720"/>
            <a:ext cx="7772400" cy="1371600"/>
          </a:xfrm>
          <a:prstGeom prst="rect">
            <a:avLst/>
          </a:prstGeom>
          <a:noFill/>
          <a:ln/>
        </p:spPr>
        <p:txBody>
          <a:bodyPr wrap="square" rtlCol="0" anchor="ctr"/>
          <a:lstStyle/>
          <a:p>
            <a:pPr indent="0" marL="0">
              <a:buNone/>
            </a:pPr>
            <a:r>
              <a:rPr lang="en-US" sz="1100" dirty="0">
                <a:solidFill>
                  <a:srgbClr val="94A3B8"/>
                </a:solidFill>
              </a:rPr>
              <a:t>4 Teaching Hours • 1.5 ECTS Credits • Module 5 explores the operational and physical principles of airborne imaging spectroscopy deployed on Unmanned Aerial Vehicles (UAVs / drones). Students examine pushbroom (line-scan) spectrometers, 2D snapshot hyperspectral frame cameras, and multi-lens multispectral payloads (e.g. MicaSense RedEdge, DJI Mavic 3M, Headwall Nano-Hyperspec). The module covers direct georeferencing via tactical-grade GNSS/IMU integration, lever-arm and boresight calibration, rolling vs global shutter distortions, downwelling light sensors (DLS), lens vignetting correction, and the Empirical Line Method (ELM) using ground radiometric calibration tarps.</a:t>
            </a:r>
            <a:endParaRPr lang="en-US" sz="11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[Instrumentation] • SLIDE 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Transition from Point Spectrometry to Drone Imaging Spectroscopy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UAV imaging spectroscopy bridges the spatial scaling gap between individual ground point spectra and satellite pixel grids.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Point spectrometers deliver exceptional spectral fidelity (&gt; 2000 contiguous bands) but lack continuous spatial context.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Unmanned Aerial Vehicles (UAVs / drones) provide centimetric ground sampling distance (GSD 1–5 cm) with hundreds of spectral channels.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Enables mapping individual plant crowns, crop stress micro-heterogeneity, and sub-meter geological outcrops.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UAV flights inherit aircraft attitude dynamics (roll, pitch, yaw) and vibration requiring high-grade IMU integration.</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Aasen, H. et al. (2018). Quantitative remote sensing at ultra-high resolution with UAV photogrammetry and spectroscopy. Remote Sensing.</a:t>
            </a:r>
            <a:endParaRPr lang="en-US" sz="7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[Instrumentation] • SLIDE 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Anatomy of Hyperspectral Sensor Types: Pushbroom vs. Snapshot</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Pushbroom sensors scan linear cross-track swaths over time; snapshot frame cameras capture full 2D spatial images instantaneously.</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Pushbroom (Line-scan, e.g. Headwall Nano-Hyperspec, Corning microHSI): Entrance slit disperses light along a 2D focal plane array (one spatial axis, one spectral axis). Forward aircraft motion builds the 2D image.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Snapshot Hyperspectral (e.g. Cubert UHD, Photonfocus): Captures 2D spatial dimensions (X, Y) and multiple spectral bands simultaneously in a single exposure.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Fabry-Perot Interferometer (FPI, e.g. Senop): Sequentially changes interferometer cavity gap to acquire spectral frames across time.</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Adão, T. et al. (2017). Hyperspectral imaging: A review on UAV-based sensors, data processing and applications for agriculture and forestry. Remote Sensing.</a:t>
            </a:r>
            <a:endParaRPr lang="en-US" sz="7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[Instrumentation] • SLIDE 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Multispectral vs. Hyperspectral UAV Payloads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Multispectral sensors use discrete optical bandpass filters; hyperspectral sensors sample contiguous continuous narrow bands.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Multispectral (e.g. MicaSense RedEdge-P, DJI Mavic 3M): 5 to 10 broad bands (FWHM 10–40 nm) targeting key pigments and red edge.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Hyperspectral (e.g. Headwall, Resonon): 100 to 300+ contiguous narrow bands (FWHM 2–6 nm) resolving narrow absorption features.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Trade-off: Multispectral is lightweight, low-cost, and robust; hyperspectral is heavy, expensive, and demands complex georeferencing.</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Multispectral sensors suffice for general NDVI and canopy vigor; hyperspectral is required for biochemical trait retrieval (nitrogen, carotenoids, lignin).</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Zarco-Tejada, P. J. et al. (2012). High-resolution airborne hyperspectral imagery for assessing crop water stress. Agricultural and Forest Meteorology.</a:t>
            </a:r>
            <a:endParaRPr lang="en-US" sz="7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[Physics] • SLIDE 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Pushbroom Image Cube Formation Physics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Pushbroom cameras project a single geographic line onto a 2D detector array, with one dimension recording space and the orthogonal dimension recording wavelength.</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Spatial dimension: Line of N pixels across track (e.g. 640 or 1024 spatial pixels).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Spectral dimension: M spectral channels dispersed by an internal convex grating onto M rows of the array (e.g. 270 bands).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Frame rate (fps): The drone must fly forward at an exact ground speed to produce square pixels on the ground without spatial stretching or compression.</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V_{\text{drone}} = \text{GSD} \cdot f_{\text{frame}} = \left( \frac{h \cdot p}{f} \right) \cdot f_{\text{frame}}</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Headwall Photonics (2018). Nano-Hyperspec User and Integration Manual.</a:t>
            </a:r>
            <a:endParaRPr lang="en-US" sz="7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[Instrumentation] • SLIDE 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Direct Georeferencing: GNSS/IMU Inertial Navigation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Pushbroom lines cannot be stitched using standard photogrammetry; each scan line requires position and orientation from an RTK GNSS/IMU.</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Each individual pushbroom line is acquired at a unique microsecond in time with distinct aircraft roll, pitch, yaw, and altitude.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Applanix APX or SBG Ellipse tactical-grade Inertial Measurement Unit (IMU): Measures angular velocity and linear acceleration at 200–500 Hz.</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Extended Kalman Filter (EKF): Fuses dual-frequency RTK GNSS and IMU gyroscopes to achieve pitch/roll accuracy &lt; 0.03° and heading &lt; 0.08°.</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Never fly pushbroom payloads with consumer-grade IMUs; uncorrected roll wiggles turn straight crop rows into oscillating sine waves.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Mostafa, M. M. R., &amp; Schwarz, K. P. (2000). A multi-sensor system for airborne mapping without ground control points. Photogrammetric Engineering &amp; Remote Sensing.</a:t>
            </a:r>
            <a:endParaRPr lang="en-US" sz="7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[QualityAssurance] • SLIDE 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Boresight and Lever-Arm Calibration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Physical offsets between GNSS antenna, IMU center of navigation, and camera focal point must be calibrated to sub-millimeter precision.</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Lever-Arm Offset [ΔX, ΔY, ΔZ]: Physical vector between IMU center of navigation and camera optical entrance pupil.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Boresight Misalignment Angles [dRoll, dPitch, dYaw]: Angular rotation between the IMU coordinate axes and the camera optical frame.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Calibration flights: Flying reciprocal opposing flight lines over distinct sharp control targets (buildings, survey markers) resolves boresight angles.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\mathbf{r}_{\text{ground}} = \mathbf{r}_{\text{GNSS}} + \mathbf{R}_{\text{IMU}} \cdot \mathbf{l}_{\text{lever}} + s \cdot \mathbf{R}_{\text{IMU}} \cdot \mathbf{R}_{\text{boresight}} \cdot \mathbf{u}_{\text{pixel}}</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Skaloud, J. (1999). Optimizing Direct Georeferencing of Airborne Mapping Systems. PhD Thesis, University of Calgary.</a:t>
            </a:r>
            <a:endParaRPr lang="en-US" sz="7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[Processing] • SLIDE 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Structure-from-Motion (SfM) Photogrammetry for Multispectral Frame Cameras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Snapshot and multispectral frame cameras reconstruct 3D surface geometry and orthomosaics using bundle block adjustment.</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Scale-Invariant Feature Transform (SIFT): Detects thousands of shared feature keypoints across overlapping photos.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High overlap requirement: Multispectral mapping requires 75–85% forward overlap and 70–80% side overlap.</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Bundle adjustment: Simultaneously solves camera interior orientation (focal length, lens distortion) and exterior poses.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Generates 3D Dense Point Cloud, Digital Surface Model (DSM), and radiometrically calibrated orthomosaic.</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Westoby, M. J. et al. (2012). ‘Structure-from-Motion’ photogrammetry: A low-cost, effective tool for geoscience applications. Geomorphology.</a:t>
            </a:r>
            <a:endParaRPr lang="en-US" sz="7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[Instrumentation] • SLIDE 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Downwelling Light Sensors (DLS / Sunshine Sensors)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Upward-looking DLS sensors measure incident solar irradiance during flight to normalize image pixels for solar illumination drift.</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Mounted on the highest point of the UAV airframe with an unobstructed 180° hemispherical view of the sky.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Internal spectral photodiode channels matched to the camera bands, equipped with cosine diffusers.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Logs instantaneous solar irradiance for every captured image frame.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Correction model: Reflectance = (Pixel Radiance / Downwelling Irradiance) · Calibration Scale.</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Propeller shadows passing over the DLS sensor create massive periodic irradiance noise spikes. Mount DLS on an elevated mast.</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MicaSense Inc. (2020). RedEdge-P and DLS-2 Integration and Calibration Guide.</a:t>
            </a:r>
            <a:endParaRPr lang="en-US" sz="7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[QualityAssurance] • SLIDE 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Empirical Line Method (ELM) with Ground Calibration Tarps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ELM establishes a linear regression between in-flight digital numbers (or at-sensor radiance) and ground-measured surface reflectance.</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Deploy at least two (optimally three or four) large Lambertian calibration tarps in the flight area.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Tarps: Typically 3% (black), 24% (medium gray), 48% (light gray), and 84% (white) diffuse reflectance across 400–1000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Tarps must be measured on the ground during flight with a calibrated point spectroradiometer (ASD or SVC).</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ELM regression: ρ(λ) = Gain(λ) · DN(λ) + Offset(λ), directly accounting for atmospheric path radiance and sensor gain.</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\rho_i(\lambda) = m(\lambda) \cdot \text{DN}_i(\lambda) + b(\lambda)</a:t>
            </a:r>
            <a:endParaRPr lang="en-US" sz="1100" dirty="0"/>
          </a:p>
        </p:txBody>
      </p:sp>
      <p:sp>
        <p:nvSpPr>
          <p:cNvPr id="11" name="Shape 9"/>
          <p:cNvSpPr/>
          <p:nvPr/>
        </p:nvSpPr>
        <p:spPr>
          <a:xfrm>
            <a:off x="5486400" y="2880360"/>
            <a:ext cx="3108960" cy="1005840"/>
          </a:xfrm>
          <a:prstGeom prst="roundRect">
            <a:avLst>
              <a:gd name="adj" fmla="val 4545"/>
            </a:avLst>
          </a:prstGeom>
          <a:solidFill>
            <a:srgbClr val="FFFBEB"/>
          </a:solidFill>
          <a:ln w="12700">
            <a:solidFill>
              <a:srgbClr val="F59E0B"/>
            </a:solidFill>
            <a:prstDash val="solid"/>
          </a:ln>
        </p:spPr>
      </p:sp>
      <p:sp>
        <p:nvSpPr>
          <p:cNvPr id="12" name="Text 10"/>
          <p:cNvSpPr/>
          <p:nvPr/>
        </p:nvSpPr>
        <p:spPr>
          <a:xfrm>
            <a:off x="5577840" y="2926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3" name="Text 11"/>
          <p:cNvSpPr/>
          <p:nvPr/>
        </p:nvSpPr>
        <p:spPr>
          <a:xfrm>
            <a:off x="5577840" y="3136392"/>
            <a:ext cx="2926080" cy="685800"/>
          </a:xfrm>
          <a:prstGeom prst="rect">
            <a:avLst/>
          </a:prstGeom>
          <a:noFill/>
          <a:ln/>
        </p:spPr>
        <p:txBody>
          <a:bodyPr wrap="square" rtlCol="0" anchor="ctr"/>
          <a:lstStyle/>
          <a:p>
            <a:pPr indent="0" marL="0">
              <a:buNone/>
            </a:pPr>
            <a:r>
              <a:rPr lang="en-US" sz="900" dirty="0">
                <a:solidFill>
                  <a:srgbClr val="78350F"/>
                </a:solidFill>
              </a:rPr>
              <a:t>Tarp size must span at least 5 to 10 image pixels to avoid mixed-edge adjacency effects.</a:t>
            </a:r>
            <a:endParaRPr lang="en-US" sz="900" dirty="0"/>
          </a:p>
        </p:txBody>
      </p:sp>
      <p:sp>
        <p:nvSpPr>
          <p:cNvPr id="14" name="Text 12"/>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Smith, G. M., &amp; Milton, E. J. (1999). The use of the empirical line method to calibrate remotely sensed data to reflectance. IJRS.</a:t>
            </a:r>
            <a:endParaRPr lang="en-US" sz="7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[Instrumentation] • SLIDE 10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Rolling Shutter vs. Global Shutter Distortions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Rolling shutters expose pixels line-by-line, causing severe "jello" geometric warping during UAV flight motion; global shutters are mandatory.</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Rolling shutter: CMOS array reads out top-to-bottom sequentially over several milliseconds.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High-frequency drone vibrations and forward velocity shear and warp objects within a single frame.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Global shutter: All photodiode wells open and close simultaneously, freezing the entire spatial scene instantaneously.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Never use consumer rolling-shutter cameras for precision quantitative radiometry.</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Vautherin, J. et al. (2016). Photogrammetric accuracy and modeling of rolling shutter cameras on UAVs. ISPRS Annals.</a:t>
            </a:r>
            <a:endParaRPr lang="en-US" sz="7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[Processing] • SLIDE 11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Optical Vignetting and Lens Falloff Correction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Optical vignetting causes image brightness to decay radial-symmetrically from the optical center toward the frame corners.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Cosine-fourth law of illumination: Off-axis image brightness drops with cos⁴(θ_lens).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Mechanical vignetting: Lens barrel or filter rims physically obstructing peripheral light rays.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Calibration: Laboratory flat-field acquisition using an integrating sphere or uniform white light panel.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Vignetting lookup table (LUT): Multiplies corner pixels by inverse radial falloff polynomial V(r) = 1 + k₁·r² + k₂·r⁴.</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I_{\text{corrected}}(x, y) = \frac{I_{\text{raw}}(x, y)}{V(r)}, \quad r = \sqrt{(x - x_0)^2 + (y - y_0)^2}</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Kelcey, J., &amp; Lucieer, A. (2012). Sensor correction of a 6-band multispectral imaging sensor for UAV remote sensing. Remote Sensing.</a:t>
            </a:r>
            <a:endParaRPr lang="en-US" sz="7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[Instrumentation] • SLIDE 12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Gimbal Stabilization: 3-Axis Brushless Gimbals vs. Fixed Mounts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Active 3-axis brushless gimbals decouple camera orientation from aircraft buffeting, maintaining true nadir pointing.</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High-torque brushless motors and dedicated IMU controllers compensate for drone roll, pitch, and yaw in milliseconds.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Fixed camera mounts inherit every tilt of the drone, causing footprint wander of ±15° during windy cross-tracks.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pushbroom imaging, gimbals maintain the scan line perpendicular to the flight path vector.</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Balance the gimbal mechanically with power OFF until the camera sits neutral in any orientation before powering motors.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Aasen, H. et al. (2018). Remote Sensing.</a:t>
            </a:r>
            <a:endParaRPr lang="en-US" sz="7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[Mathematics] • SLIDE 13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Ground Sampling Distance (GSD) &amp; Flight Altitude Math</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Ground Sampling Distance represents the physical ground dimension represented by a single detector pixel.</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GSD is governed by flight altitude h above ground level (AGL), camera focal length f, and sensor pixel pitch p.</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Higher altitude expands field coverage but degrades spatial resolution.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undulating terrain, GSD varies across the flight line unless terrain-following flight planning is utilized.</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\text{GSD} = \frac{h \cdot p}{f} \iff h = \frac{\text{GSD} \cdot f}{p}</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Wolf, P. R. et al. (2014). Elements of Photogrammetry with Applications in GIS (4th ed.). McGraw-Hill.</a:t>
            </a:r>
            <a:endParaRPr lang="en-US" sz="7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[Protocol] • SLIDE 14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Terrain Following Flight Planning with High-Resolution DEMs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Flying at fixed barometric altitude over hilly terrain causes massive variations in GSD and overlap, ruining orthomosaics.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Barometric altimeters maintain fixed height relative to takeoff point, not local ground level.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Flying over a 50m hill from a 80m takeoff drops true altitude to 30m, causing image overlap to plunge and risking terrain collision.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Terrain following: Flight management software (e.g. UgCS, DJI Pilot) adjusts drone altitude dynamically using an onboard Digital Elevation Model (SRTM, LiDAR).</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Always verify terrain DEM accuracy; outdated SRTM data may miss new quarry pits or tree canopy heights.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Nex, F., &amp; Remondino, F. (2014). UAV for 3D mapping applications: a review. Applied Geomatics.</a:t>
            </a:r>
            <a:endParaRPr lang="en-US" sz="7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[Physics] • SLIDE 15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Atmospheric Path Radiance and Adjacency Effects at UAV Altitudes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At 50–120 m flight altitudes, atmospheric attenuation is small (&lt; 2–3%) but target adjacency and diffuse scattering still exist.</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Unlike 700 km satellites, UAVs operate beneath 99% of the atmospheric column.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Rayleigh scattering in the 50 m path is negligible (&lt; 0.5% in blue).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However, dense haze or dust plumes create significant path radiance.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Adjacency effect: Photons reflected from bright concrete borders scatter into adjacent dark vegetation pixels.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Bimonte, M. et al. (2021). Atmospheric correction of UAV hyperspectral data. Remote Sensing.</a:t>
            </a:r>
            <a:endParaRPr lang="en-US" sz="7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[Physics] • SLIDE 16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Signal-to-Noise Ratio (SNR) in Airborne Imaging Systems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Airborne imaging spectrometers suffer lower SNR than ground point sensors due to millisecond integration times and tiny pixel areas.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Ground point spectrometer: Big entrance slit, large foreoptic, integration times 10–100 ms, SNR &gt; 1000:1.</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UAV pushbroom pixel: Tiny entrance slit, fast flight speed requiring integration times 2–5 ms, SNR often 100:1 to 300:1.</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Binning (spatial and spectral): Summing adjacent pixels 2×2 or 4×4 boosts SNR at the expense of spatial or spectral resolution.</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\text{SNR}_{\text{binned}} = \text{SNR}_0 \cdot \sqrt{N_{\text{pixels}}}</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Schaepman, M. E. (2007). Spectroradiometry—A review. Remote Sensing of Environment.</a:t>
            </a:r>
            <a:endParaRPr lang="en-US" sz="7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[Protocol] • SLIDE 17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Solar Angle Restrictions &amp; Glint in UAV Surveys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UAV surveys over wet soils, rice paddies, or water bodies produce intense specular sun glint that saturates camera arrays.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Sun glint: Direct mirror reflection of the solar disk into the wide-angle camera lens.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Occurs when surface normal bisects the sun and sensor vectors (Snell-Fresnel specular geometry).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Polarized lens filters and off-nadir camera tilting (10°–15° away from solar azimuth) eliminate specular glint.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Over land, solar zenith angle must remain between 30° and 50° to avoid both deep tree shadows and extreme hotspot surge.</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Suomalainen, J. et al. (2014). Direct reflectance measurements from drones. Remote Sensing.</a:t>
            </a:r>
            <a:endParaRPr lang="en-US" sz="7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[QualityAssurance] • SLIDE 18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Calibration Panel Deployment &amp; Ground Target Protocols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Calibration tarps must be maintained in pristine condition and pinned flat to prevent wind flutter and shadow folds.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Position tarps in an open, level area free from building or tree shadows throughout the flight.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Anchor tarp corners with tent pegs to eliminate wind billowing.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Measure the center of each tarp with a calibrated field spectroradiometer at the exact moment the UAV passes overhead.</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Never walk on or drag equipment across radiometric calibration tarps.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Store calibration tarps rolled around PVC cores; folding tarps creates permanent creases that cause micro-shadows.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Smith, G. M., &amp; Milton, E. J. (1999). International Journal of Remote Sensing.</a:t>
            </a:r>
            <a:endParaRPr lang="en-US" sz="7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[Protocol] • SLIDE 19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UAV Flight Mission Design &amp; Overlap Strategies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Mission geometry must guarantee consistent ground overlap, cross-track coverage, and adequate battery reserves.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Flight lines: Parallel serpentine paths oriented perpendicular to prevailing wind to maintain steady ground speed.</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Forward overlap (along-track): 80% minimum for multispectral SfM matching in vegetated canopies.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Side overlap (cross-track): 75% minimum to prevent longitudinal stitching seams and gaps.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Battery reserve: Plan flight duration to land with at least 25% battery capacity remaining.</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Repetitive agricultural crops (wheat, maize) lack visual texture; insufficient overlap (&lt; 75%) causes photogrammetry alignment failure.</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Aasen, H. et al. (2018). Remote Sensing.</a:t>
            </a:r>
            <a:endParaRPr lang="en-US" sz="7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[Processing] • SLIDE 20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Radiometric Calibration Pipelines in Photogrammetry Suites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Modern photogrammetry suites (Agisoft Metashape, Pix4D) execute multi-stage radiometric calibration algorithms.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Stage 1: Read EXIF metadata (exposure time, ISO gain, sensor black level, calibration panel albedo).</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Stage 2: DLS solar irradiance normalization frame-by-frame.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Stage 3: Lens vignetting and radial distortion removal.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Stage 4: Calibration panel optimization (ELM calibration factor calculation).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Output: 16-bit or 32-bit floating-point GeoTIFF reflectance orthomosaics scaled from 0.0 to 1.0.</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Pix4D SA (2020). Radiometric Calibration of Multispectral Images Technical Guide.</a:t>
            </a:r>
            <a:endParaRPr lang="en-US" sz="7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[CaseStudy] • SLIDE 21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Multi-Sensor Payloads: Thermal IR and LiDAR Co-Registration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Fusing hyperspectral imagery with concurrent UAV LiDAR and thermal infrared provides structural and physiological data.</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UAV LiDAR: Delivers 3D structural canopy height models (CHM), vertical vegetation density profiles, and exact ground terrain.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Thermal IR (e.g. FLIR Vue Pro R): Measures canopy surface kinetic temperature, revealing stomatal conductance and early water stress.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Hyperspectral: Delivers biochemical pigment concentrations (chlorophyll, carotenoids, nitrogen).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Spatial co-registration: Merging LiDAR point clouds with hyperspectral voxels creates true 3D hyper-spectral canopy models.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Zarco-Tejada, P. J. et al. (2013). Assessing vineyard water status with UAV thermal and hyperspectral imagery. Remote Sensing of Environment.</a:t>
            </a:r>
            <a:endParaRPr lang="en-US" sz="7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[QualityAssurance] • SLIDE 22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UAV Regulatory Frameworks &amp; Airspace Safety Protocols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Scientific UAV operations require strict adherence to national civil aviation authorities (FAA Part 107, EASA Open/Specific Category).</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Pilot-in-Command (PIC) certification: Mandatory commercial remote pilot licensing.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Visual Line-of-Sight (VLOS): Drone must remain visible to the remote pilot without visual aids at all times.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Maximum altitude ceiling: Typically 120 m (400 ft) AGL to avoid manned general aviation airspace.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Pre-flight risk assessment: Failsafe return-to-home (RTH) programming, lost-link procedures, and emergency landing zones.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Always conduct a physical crew safety briefing and test RTH altitude settings before taking off.</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FAA (2021). 14 CFR Part 107 — Small Unmanned Aircraft Systems. Federal Aviation Administration.</a:t>
            </a:r>
            <a:endParaRPr lang="en-US" sz="7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[QualityAssurance] • SLIDE 23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Data Volumes, Storage Architecture &amp; Field Compute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UAV hyperspectral surveys generate massive data volumes (50–200 GB per flight) requiring high-throughput field storage.</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 20-minute pushbroom flight collecting 100 frames/sec at 1024 spatial pixels × 270 bands generates ~35 GB of raw uncompressed data.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Field requirements: Fast NVMe solid-state drives (read/write &gt; 1500 MB/s) to offload flight cards quickly.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Field triage workstation: High-core laptop with GPU acceleration to inspect pushbroom track completeness before leaving the field.</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Never fly subsequent missions using the same SD card without verifying full hash-verified checksum backup.</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Aasen, H. et al. (2018). Remote Sensing.</a:t>
            </a:r>
            <a:endParaRPr lang="en-US" sz="7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[QualityAssurance] • SLIDE 24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Quality Assessment of UAV Orthomosaics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Systematic QA checks must verify radiometric uniformity, spatial resolution, and geometric positional accuracy.</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Ground Control Points (GCPs): Independent check points surveyed with RTK-GNSS must yield RMSE_xy &lt; 1–2 GSD.</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Radiometric uniformity: Verify that no striping or brightness seams exist along flight line boundaries.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Ghosting and blur: Inspect moving vegetation in the mosaic for double edges or motion-blur artifacts caused by wind.</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Turner, D. et al. (2012). An automated technique for generating georeferenced orthorectified mosaics from ultra-high resolution UAV imagery. IEEE TGRS.</a:t>
            </a:r>
            <a:endParaRPr lang="en-US" sz="7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[CaseStudy] • SLIDE 25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Case Study: Precision Viticulture Water Stress Mapping</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Airborne multispectral imagery at 5 cm GSD isolates pure grapevine sunlit leaves from shaded soil and grass cover.</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Vineyard challenge: Conventional 10m satellite pixels mix vine rows (30%), bare soil (50%), and inter-row weed grass (20%).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UAV solution: 5 cm multispectral orthomosaic allows automated mask segmentation isolating 100% pure vine canopies.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Photochemical Reflectance Index (PRI) and CWSI (Crop Water Stress Index) retrieved from pure vine pixels correlate with leaf water potential (R² = 0.84).</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Zarco-Tejada, P. J. et al. (2013). Remote Sensing of Environment.</a:t>
            </a:r>
            <a:endParaRPr lang="en-US" sz="7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[CaseStudy] • SLIDE 26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Case Study: Forest Canopy Biodiversity and Tree Species Classification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UAV hyperspectral imaging identifies tropical and temperate tree species by resolving subtle biochemical absorption signatures.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Individual Tree Crown (ITC) delineation using high-resolution canopy height models.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Extraction of 150-band continuous spectral signatures per individual tree crown.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Machine learning classification (Support Vector Machines, Random Forest) achieves &gt; 92% tree species identification accuracy.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Distinguishes ash, oak, beech, and birch based on red edge slopes and water overtone band depths.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Féret, J. B., &amp; Asner, G. P. (2013). Tree species discrimination in tropical forests using airborne imaging spectroscopy. IEEE TGRS.</a:t>
            </a:r>
            <a:endParaRPr lang="en-US" sz="7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[CaseStudy] • SLIDE 27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Case Study: Acid Mine Drainage &amp; Heavy Metal Soil Contamination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UAV pushbroom spectroscopy maps iron oxide mineralogy (hematite, goethite, jarosite) across mine tailings at sub-meter scale.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Acid mine drainage generates distinctive secondary iron sulfate and oxide precipitates.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Jarosite (diagnostic absorption at 430 nm and 2260 nm) indicates highly acidic conditions (pH &lt; 3).</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Goethite (absorption at 480 nm and 900 nm) indicates neutralizing pH conditions.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UAV mapping pinpoints active acid generation zones without hazardous foot sampling in toxic tailings ponds.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Swayze, G. A. et al. (2000). Using imaging spectroscopy to map acidic mine waste. Environmental Science &amp; Technology.</a:t>
            </a:r>
            <a:endParaRPr lang="en-US" sz="75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[CaseStudy] • SLIDE 28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Cross-Scale Validation: Ground Point to Drone to Satellite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UAV imaging spectroscopy serves as the critical intermediate upscaling bridge validating spaceborne missions (PRISMA, EnMAP, EMIT).</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Tier 1 (Ground): ASD point spectrometer characterizes leaf optics and calibration tarps with SI traceability.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Tier 2 (Airborne): UAV hyperspectral camera maps 1 km² area at 5 cm GSD, capturing full spatial variability.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Tier 3 (Spaceborne): Convolving UAV mosaic to 30m EnMAP/PRISMA pixels provides synthetic validation scenes with zero spatial error.</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Kokaly, R. F. et al. (2009). Spectroscopic remote sensing for material identification and mapping. Remote Sensing of Environment.</a:t>
            </a:r>
            <a:endParaRPr lang="en-US" sz="75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[Instrumentation] • SLIDE 29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Emerging Sensor Horizons: Lightweight SWIR and Hyperspectral LiDAR</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Miniaturized SWIR pushbroom cameras (1000–2500 nm) and hyperspectral LiDAR are opening revolutionary new observational dimensions.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SWIR on drones: Historically prohibited by weight (&gt; 10 kg); new compact InGaAs cameras weigh &lt; 1.8 kg.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Enables airborne mineral mapping, cellulose/lignin detection, and microplastic identification on drones.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Hyperspectral LiDAR (Supercontinuum laser): Measures range and contiguous reflectance simultaneously, delivering illuminated spectra without solar shadows.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Hakala, T. et al. (2012). Full waveform hyperspectral LiDAR for remote sensing of vegetation. Optics Express.</a:t>
            </a:r>
            <a:endParaRPr lang="en-US" sz="75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5: UAV Imaging Spectroscopy • [Instrumentation] • SLIDE 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Module 5 Synthesis &amp; Progression to Spectral Preprocessing</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UAV spectroscopy demands mastery of sensor physics, direct IMU georeferencing, ELM tarp calibration, and photogrammetry.</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Module 5 established: Pushbroom vs snapshot sensors, IMU trajectory synchronization, GSD math, ELM tarp calibration, and flight planning.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Module 6, we analyze spectral curves mathematically: Savitzky-Golay smoothing, SNV, continuum removal, derivatives, and spectral indices.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Preparation for Field Exercise 5: Conducting an airborne multispectral drone flight with ground calibration tarps and ASD validation.</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Aasen, H. et al. (2018). Quantitative remote sensing with UAV spectroscopy. Remote Sensing.</a:t>
            </a:r>
            <a:endParaRPr lang="en-US" sz="7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1645920"/>
            <a:ext cx="7772400" cy="365760"/>
          </a:xfrm>
          <a:prstGeom prst="rect">
            <a:avLst/>
          </a:prstGeom>
          <a:noFill/>
          <a:ln/>
        </p:spPr>
        <p:txBody>
          <a:bodyPr wrap="square" rtlCol="0" anchor="ctr"/>
          <a:lstStyle/>
          <a:p>
            <a:pPr indent="0" marL="0">
              <a:buNone/>
            </a:pPr>
            <a:r>
              <a:rPr lang="en-US" sz="1600" b="1" dirty="0">
                <a:solidFill>
                  <a:srgbClr val="34D399"/>
                </a:solidFill>
              </a:rPr>
              <a:t>MODULE 6</a:t>
            </a:r>
            <a:endParaRPr lang="en-US" sz="1600" dirty="0"/>
          </a:p>
        </p:txBody>
      </p:sp>
      <p:sp>
        <p:nvSpPr>
          <p:cNvPr id="3" name="Text 1"/>
          <p:cNvSpPr/>
          <p:nvPr/>
        </p:nvSpPr>
        <p:spPr>
          <a:xfrm>
            <a:off x="731520" y="2194560"/>
            <a:ext cx="7772400" cy="1097280"/>
          </a:xfrm>
          <a:prstGeom prst="rect">
            <a:avLst/>
          </a:prstGeom>
          <a:noFill/>
          <a:ln/>
        </p:spPr>
        <p:txBody>
          <a:bodyPr wrap="square" rtlCol="0" anchor="ctr"/>
          <a:lstStyle/>
          <a:p>
            <a:pPr indent="0" marL="0">
              <a:buNone/>
            </a:pPr>
            <a:r>
              <a:rPr lang="en-US" sz="2600" b="1" dirty="0">
                <a:solidFill>
                  <a:srgbClr val="FFFFFF"/>
                </a:solidFill>
              </a:rPr>
              <a:t>Advanced Spectral Preprocessing, Continuum Removal &amp; Feature Extraction</a:t>
            </a:r>
            <a:endParaRPr lang="en-US" sz="2600" dirty="0"/>
          </a:p>
        </p:txBody>
      </p:sp>
      <p:sp>
        <p:nvSpPr>
          <p:cNvPr id="4" name="Text 2"/>
          <p:cNvSpPr/>
          <p:nvPr/>
        </p:nvSpPr>
        <p:spPr>
          <a:xfrm>
            <a:off x="731520" y="3474720"/>
            <a:ext cx="7772400" cy="1371600"/>
          </a:xfrm>
          <a:prstGeom prst="rect">
            <a:avLst/>
          </a:prstGeom>
          <a:noFill/>
          <a:ln/>
        </p:spPr>
        <p:txBody>
          <a:bodyPr wrap="square" rtlCol="0" anchor="ctr"/>
          <a:lstStyle/>
          <a:p>
            <a:pPr indent="0" marL="0">
              <a:buNone/>
            </a:pPr>
            <a:r>
              <a:rPr lang="en-US" sz="1100" dirty="0">
                <a:solidFill>
                  <a:srgbClr val="94A3B8"/>
                </a:solidFill>
              </a:rPr>
              <a:t>4 Teaching Hours • 1.5 ECTS Credits • Module 6 equips MSc students with advanced mathematical and chemometric algorithms for preprocessing field spectra and extracting diagnostic biochemical and mineralogical features. The curriculum covers noise suppression via Savitzky-Golay polynomial convolution, scatter correction via Standard Normal Variate (SNV) and Multiplicative Scatter Correction (MSC), and the Clark &amp; Roush continuum removal algorithm. Students derive physical absorption metrics: band center, band depth, FWHM, and absorption band area. The module explores spectral derivatives (1st/2nd order, red edge inflection point REIP), narrow-band physiological indices (PRI, NDRE, CI_RE, NDWI, CAI), and dimensionality reduction via PCA, MNF, and Partial Least Squares Regression (PLSR).</a:t>
            </a:r>
            <a:endParaRPr lang="en-US" sz="11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[Processing] • SLIDE 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Introduction to Spectral Preprocessing &amp; Feature Extraction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Raw reflectance curves contain both diagnostic chemical absorption features and confounding multiplicative scatter noise.</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Physical scatter vs. Chemical absorption: Particle size, leaf internal cell anatomy, and surface roughness induce baseline shifts.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Preprocessing objective: Remove non-linear scattering and instrument noise while enhancing subtle molecular vibrational and electronic transitions.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Core methods: Smoothing, scatter correction (SNV, MSC), continuum removal, derivative spectroscopy, and narrow-band indices.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Never apply chemometric modeling (PLSR, Random Forest) directly to raw un-preprocessed field spectra.</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Rinnan, Å. et al. (2009). Review of the most common pre-processing techniques for near-infrared spectra. TrAC Trends in Analytical Chemistry.</a:t>
            </a:r>
            <a:endParaRPr lang="en-US" sz="75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[Mathematics] • SLIDE 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Noise Suppression: Moving Average vs. Gaussian vs. Savitzky-Golay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Simple moving averages distort narrow absorption peak shapes; Savitzky-Golay filters preserve peak height, width, and area.</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Moving average: Replaces each point with the unweighted local mean; flattens sharp absorption peaks and widens FWHM.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Gaussian filter: Applies Gaussian weights; still attenuates high-frequency peak tips.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Savitzky-Golay (1964): Fits a local polynomial of degree p across a moving window of 2m + 1 points using least-squares convolution coefficients.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y_j^* = \sum_{i=-m}^m c_i \cdot y_{j+i}</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Savitzky, A., &amp; Golay, M. J. (1964). Smoothing and differentiation of data by simplified least squares procedures. Analytical Chemistry.</a:t>
            </a:r>
            <a:endParaRPr lang="en-US" sz="75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[Mathematics] • SLIDE 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Savitzky-Golay Parameter Optimization: Window Size &amp; Polynomial Degree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Selecting the optimal window length and polynomial order requires balancing noise removal against spectral feature distortion.</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Polynomial degree p: Typically quadratic (p=2) or cubic (p=3); higher degrees (p=4, 5) fit high-frequency noise.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Window size w = 2m + 1: Must be odd and smaller than the full width at half maximum (FWHM) of the narrowest diagnostic absorption feature.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If window size exceeds absorption feature FWHM, the feature is systematically smoothed away.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Rule of thumb: In field spectroscopy with 1 nm sampling, w = 11 to 21 points (11 to 21 nm) with polynomial degree 2 or 3.</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Schafer, R. W. (2011). What is a Savitzky-Golay filter? IEEE Signal Processing Magazine.</a:t>
            </a:r>
            <a:endParaRPr lang="en-US" sz="75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[Mathematics] • SLIDE 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Standard Normal Variate (SNV) Transformation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SNV centers and scales each individual spectrum independently, eliminating additive baseline offsets and multiplicative scaling effects.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Developed by Barnes et al. (1989) for near-infrared diffuse reflectance spectroscopy of particulates.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Additive shift: Caused by sample height variations and stray light.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Multiplicative scaling: Caused by particle size differences and optical path length changes.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SNV requires no reference or target set; it operates on a single spectrum row-by-row.</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x_{ij}^{\text{SNV}} = \frac{x_{ij} - \bar{x}_i}{s_i}, \quad \bar{x}_i = \frac{1}{K}\sum_{k=1}^K x_{ik}, \quad s_i = \sqrt{\frac{1}{K-1}\sum_{k=1}^K (x_{ik} - \bar{x}_i)^2}</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Barnes, R. J. et al. (1989). Standard normal variate transformation and de-trending of near-infrared diffuse reflectance spectra. Applied Spectroscopy.</a:t>
            </a:r>
            <a:endParaRPr lang="en-US" sz="75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[Mathematics] • SLIDE 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Multiplicative Scatter Correction (MSC)</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MSC separates light scattering from chemical absorption by regressing each spectrum against an ideal reference mean spectrum.</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Formulated by Geladi et al. (1985).</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Assumes that physical scatter linearly shifts and scales the entire spectrum relative to an average population spectrum.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Step 1: Compute the mean spectrum x̄ across the entire calibration dataset.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Step 2: Fit linear regression per spectrum: x_i = a_i + b_i · x̄ + e_i.</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Step 3: Correct spectrum: x_i^MSC = (x_i - a_i) / b_i.</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x_i(\lambda) = a_i + b_i \cdot \bar{x}(\lambda) + e_i(\lambda) \implies x_i^{\text{MSC}}(\lambda) = \frac{x_i(\lambda) - a_i}{b_i}</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Geladi, P. et al. (1985). Linearization and scatter-correction for near-infrared reflectance spectra of meat. Applied Spectroscopy.</a:t>
            </a:r>
            <a:endParaRPr lang="en-US" sz="75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[Mathematics] • SLIDE 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Detrending Algorithms: Removing Baseline Curvature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Detrending fits a second-order polynomial baseline to each spectrum, removing curvilinear drift caused by dense scattering.</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Often applied immediately following SNV (SNV-Detrending pipeline).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Accounts for wavelength-dependent scattering that increases at shorter wavelengths (Rayleigh-Mie scatter curvature).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Fits y = c₀ + c₁·λ + c₂·λ² to the SNV-transformed curve and subtracts the fitted curve.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Flattens spectral baselines to zero, highlighting discrete absorption bands.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Barnes, R. J. et al. (1989). Applied Spectroscopy.</a:t>
            </a:r>
            <a:endParaRPr lang="en-US" sz="75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[Mathematics] • SLIDE 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Continuum Removal: The Convex Hull Concept</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Continuum removal normalizes reflectance spectra to a common convex hull baseline, isolating true absorption band shapes.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Formalized by Clark &amp; Roush (1984) at USGS Spectroscopy Lab.</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Continuum: An upper boundary convex hull that connects local reflectance maxima, representing background scattering without absorption.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Mathematical definition: Smallest convex polygon enclosing all spectral points from above.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Continuum-removed reflectance: Ratio of original reflectance to the continuum value at each wavelength: R_cr(λ) = R(λ) / R_c(λ).</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R_{\text{cr}}(\lambda) = \frac{R(\lambda)}{R_c(\lambda)} \quad \implies \quad 0.0 \le R_{\text{cr}}(\lambda) \le 1.0</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Clark, R. N., &amp; Roush, T. L. (1984). Reflectance spectroscopy: Quantitative analysis techniques for remote sensing applications. JGR.</a:t>
            </a:r>
            <a:endParaRPr lang="en-US" sz="75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[Mathematics] • SLIDE 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Continuum-Removed Diagnostic Parameters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Continuum-removed features yield quantitative physical parameters: Band Center, Band Depth, FWHM, and Absorption Area.</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Band Center (λ_min): Wavelength corresponding to minimum continuum-removed reflectance (maximum absorption).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Band Depth (BD): Maximum absorption depth: BD = 1.0 - R_cr(λ_min).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Full Width at Half Maximum (FWHM): Width of the absorption feature where depth is half of BD: BD / 2.</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Absorption Band Area: Numerical integral of (1.0 - R_cr(λ)) across the absorption interval.</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\text{BD} = 1 - R_{\text{cr}}(\lambda_{\min}), \quad \text{Area} = \int_{\lambda_{\text{start}}}^{\lambda_{\text{end}}} \left(1 - R_{\text{cr}}(\lambda)\right) \, d\lambda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Clark, R. N. (1999). Manual of Remote Sensing.</a:t>
            </a:r>
            <a:endParaRPr lang="en-US" sz="75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[Mathematics] • SLIDE 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Absorption Feature Asymmetry and Skewness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Absorption feature asymmetry reveals overlapping secondary absorption sub-bands and mineral solid solutions.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Symmetric feature: The left half-width (λ_min - λ_left) equals the right half-width (λ_right - λ_min).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Asymmetry parameter: S = (λ_right - λ_min) / (λ_min - λ_left) or S = log((Area_right) / (Area_left)).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Kaolinite vs Halloysite: Asymmetry distinguishes disorder in the crystal lattice.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chlorophyll: Carotenoid absorption on the left wing (450–500 nm) creates strong negative asymmetry.</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\text{Asymmetry} = \frac{\lambda_{\text{right, 0.5}} - \lambda_{\min}}{\lambda_{\min} - \lambda_{\text{left, 0.5}}}</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Van der Meer, F. (2004). Analysis of spectral absorption features. International Journal of Applied Earth Observation.</a:t>
            </a:r>
            <a:endParaRPr lang="en-US" sz="75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[Mathematics] • SLIDE 10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Spectral Derivatives: First and Second Order Formulations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Spectral derivatives eliminate baseline offsets (1st derivative) and linear slopes (2nd derivative), resolving overlapping peaks.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First Derivative (dR/dλ): Measures spectral slope. Zero-crossings locate reflectance peaks and absorption troughs.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Second Derivative (d²R/dλ²): Measures curvature. Negative values identify local maxima; positive peaks identify absorption minima.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Derivative computation: Implemented simultaneously with Savitzky-Golay polynomial differentiation to suppress noise amplification.</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\frac{d R}{d\lambda} \approx \frac{R(\lambda_{i+1}) - R(\lambda_{i-1})}{2 \Delta\lambda}, \quad \frac{d^2 R}{d\lambda^2} \approx \frac{R(\lambda_{i+1}) - 2R(\lambda_i) + R(\lambda_{i-1})}{(\Delta\lambda)^2}</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Tsai, F., &amp; Philpot, W. (1998). Derivative analysis of hyperspectral data. Remote Sensing of Environment.</a:t>
            </a:r>
            <a:endParaRPr lang="en-US" sz="75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[Mathematics] • SLIDE 11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Red Edge Inflection Point (REIP) Algorithms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REIP marks the maximum first-derivative slope between red chlorophyll absorption (680 nm) and the NIR plateau (750 nm).</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Guyot &amp; Baret (1988) 4-band linear interpolation model.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Miller et al. (1990) inverted-Gaussian fitting model.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First-derivative peak detection: Finding the exact wavelength where dR/dλ reaches its maximum.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Chlorophyll increase causes the REIP to shift toward longer wavelengths ("red edge shift") due to saturation of the 680 nm band.</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\lambda_{\text{REIP}} = 700 + 40 \cdot \left[ \frac{\frac{R_{670} + R_{780}}{2} - R_{700}}{R_{740} - R_{700}} \right]</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Guyot, G., &amp; Baret, F. (1988). Utilisation de la haute résolution spectrale pour suivre l'état des couverts végétaux. ESA SP-287.</a:t>
            </a:r>
            <a:endParaRPr lang="en-US" sz="75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[Mathematics] • SLIDE 12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Broadband vs. Narrowband Spectral Indices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Narrowband indices exploit specific 2–5 nm physical absorption features, avoiding saturation common in broadband indices.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Broadband indices (e.g. Landsat NDVI): Integrate 50–100 nm chunks; saturate rapidly at LAI &gt; 2.5 to 3.0.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Narrowband indices (hyperspectral): Select precise wavelengths on the red edge slope, xanthophyll cycle, or water overtones.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Red Edge NDVI (NDRE): Replaces red band with red edge band (705 nm), maintaining sensitivity at high biomass (LAI &gt; 6.0).</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Gitelson, A. A., &amp; Merzlyak, M. N. (1994). Quantitative estimation of chlorophyll-a content in plant leaves using reflectance spectra. Journal of Photochemistry and Photobiology.</a:t>
            </a:r>
            <a:endParaRPr lang="en-US" sz="75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[Processing] • SLIDE 13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Pigment Indices: Chlorophyll, Carotenoids &amp; Anthocyanins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Tailored band ratios isolate specific pigment pools without interference from overlapping absorption.</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Chlorophyll Index Red Edge: CI_RE = (R780 / R710) - 1.0 (linear relationship with foliar chlorophyll content).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Chlorophyll Index Green: CI_Green = (R780 / R550) - 1.0.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Carotenoid Reflectance Index (CRI550): CRI = (1 / R510) - (1 / R550).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Anthocyanin Reflectance Index (ARI): ARI = (1 / R550) - (1 / R700).</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\text{CI}_{\text{RE}} = \frac{R_{780}}{R_{710}} - 1, \quad \text{ARI} = \frac{1}{R_{550}} - \frac{1}{R_{700}}</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Gitelson, A. A. et al. (2006). Novel algorithms for remote estimation of vegetation fraction. Remote Sensing of Environment.</a:t>
            </a:r>
            <a:endParaRPr lang="en-US" sz="75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[Physics] • SLIDE 14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Photochemical Reflectance Index (PRI) &amp; Xanthophyll Cycle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PRI tracks the rapid, reversible epoxidation of violaxanthin to antheraxanthin and zeaxanthin in the photosynthetic apparatus.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Xanthophyll cycle: Non-Photochemical Quenching (NPQ) dissipates excess absorbed photon energy as heat under stress.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Induces a subtle 0.2% to 0.5% absorption shift at 531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Reference band at 570 nm is unaffected by xanthophyll interconversion.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PRI = (R531 - R570) / (R531 + R570): Directly correlates with light use efficiency (LUE) and diurnal photosynthetic stress.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\text{PRI} = \frac{R_{531} - R_{570}}{R_{531} + R_{570}}</a:t>
            </a:r>
            <a:endParaRPr lang="en-US" sz="1100" dirty="0"/>
          </a:p>
        </p:txBody>
      </p:sp>
      <p:sp>
        <p:nvSpPr>
          <p:cNvPr id="11" name="Shape 9"/>
          <p:cNvSpPr/>
          <p:nvPr/>
        </p:nvSpPr>
        <p:spPr>
          <a:xfrm>
            <a:off x="5486400" y="2880360"/>
            <a:ext cx="3108960" cy="1005840"/>
          </a:xfrm>
          <a:prstGeom prst="roundRect">
            <a:avLst>
              <a:gd name="adj" fmla="val 4545"/>
            </a:avLst>
          </a:prstGeom>
          <a:solidFill>
            <a:srgbClr val="FFFBEB"/>
          </a:solidFill>
          <a:ln w="12700">
            <a:solidFill>
              <a:srgbClr val="F59E0B"/>
            </a:solidFill>
            <a:prstDash val="solid"/>
          </a:ln>
        </p:spPr>
      </p:sp>
      <p:sp>
        <p:nvSpPr>
          <p:cNvPr id="12" name="Text 10"/>
          <p:cNvSpPr/>
          <p:nvPr/>
        </p:nvSpPr>
        <p:spPr>
          <a:xfrm>
            <a:off x="5577840" y="2926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3" name="Text 11"/>
          <p:cNvSpPr/>
          <p:nvPr/>
        </p:nvSpPr>
        <p:spPr>
          <a:xfrm>
            <a:off x="5577840" y="3136392"/>
            <a:ext cx="2926080" cy="685800"/>
          </a:xfrm>
          <a:prstGeom prst="rect">
            <a:avLst/>
          </a:prstGeom>
          <a:noFill/>
          <a:ln/>
        </p:spPr>
        <p:txBody>
          <a:bodyPr wrap="square" rtlCol="0" anchor="ctr"/>
          <a:lstStyle/>
          <a:p>
            <a:pPr indent="0" marL="0">
              <a:buNone/>
            </a:pPr>
            <a:r>
              <a:rPr lang="en-US" sz="900" dirty="0">
                <a:solidFill>
                  <a:srgbClr val="78350F"/>
                </a:solidFill>
              </a:rPr>
              <a:t>Requires high SNR instruments; changes in PRI are small and easily drowned out by instrument drift.</a:t>
            </a:r>
            <a:endParaRPr lang="en-US" sz="900" dirty="0"/>
          </a:p>
        </p:txBody>
      </p:sp>
      <p:sp>
        <p:nvSpPr>
          <p:cNvPr id="14" name="Text 12"/>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Gamon, J. A., Peñuelas, J., &amp; Field, C. B. (1992). A narrow-waveband spectral index that tracks diurnal changes in photosynthetic efficiency. RSE.</a:t>
            </a:r>
            <a:endParaRPr lang="en-US" sz="75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[Processing] • SLIDE 15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Canopy Water Indices: WI, NDWI &amp; NDII</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Water indices exploit weak water overtone absorption features at 970 nm and 1240 nm to retrieve canopy moisture.</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Water Index (WI): WI = R900 / R970 (Peñuelas et al., 1993).</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Normalized Difference Water Index (NDWI): NDWI = (R860 - R1240) / (R860 + R1240) (Gao, 1996).</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Normalized Difference Infrared Index (NDII): NDII = (R860 - R1640) / (R860 + R1640).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Directly estimates Equivalent Water Thickness (EWT [g/cm²]) and Fuel Moisture Content (FMC %).</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\text{WI} = \frac{R_{900}}{R_{970}}, \quad \text{NDWI} = \frac{R_{860} - R_{1240}}{R_{860} + R_{1240}}</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Gao, B. C. (1996). NDWI—A normalized difference water index for remote sensing of vegetation liquid water from space. RSE.</a:t>
            </a:r>
            <a:endParaRPr lang="en-US" sz="75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[Physics] • SLIDE 16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Cellulose Absorption Index (CAI) &amp; Non-Photosynthetic Vegetation (NPV)</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CAI quantifies dry plant litter, crop residue, and dead senescent vegetation using cellulose and lignin features in the SWIR.</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Crop residue and dry grass cannot be detected with NDVI because chlorophyll is gone.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Cellulose and lignin exhibit diagnostic doublet absorption features at 2100 nm and 2300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CAI = 0.5 · (R2000 + R2200) - R2100 (Daughtry, 2001).</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Essential for monitoring conservation tillage, carbon sequestration, and wildfire fuel loads.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\text{CAI} = 100 \cdot \left[ 0.5 \cdot (R_{2000} + R_{2200}) - R_{2100} \right]</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Daughtry, C. S. (2001). Discriminating crop residues from soil by shortwave infrared reflectance. Agronomy Journal.</a:t>
            </a:r>
            <a:endParaRPr lang="en-US" sz="75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[Processing] • SLIDE 17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Mineral Indices: Clay, Carbonate &amp; Iron Oxide Ratios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Narrowband SWIR band ratios differentiate clay species, carbonate rocks, and iron oxide alteration phases.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Al-OH Hydroxyl Index (Kaolinite/Muscovite): (R2160 / R2200).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Carbonate Index (Calcite/Dolomite): (R2340 / R2200).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Ferrous Iron Index: R1600 / R900.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Ferric Oxide Index (Hematite vs Goethite): R650 / R450 and 2nd derivative zero-crossings.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Ninomiya, Y. et al. (2005). Detecting lithology with advanced spaceborne thermal emission and reflection radiometer (ASTER). RSE.</a:t>
            </a:r>
            <a:endParaRPr lang="en-US" sz="75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[Mathematics] • SLIDE 18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Spectral Angle Mapper (SAM) &amp; Spectral Correlation Measure (SCM)</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SAM treats spectra as vectors in N-dimensional space, measuring spectral angle θ independent of illumination brightness.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Vector dot product: cos(θ) = (t · r) / (||t|| · ||r||).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Spectral angle θ is invariant to uniform illumination scaling (shadows or irradiance changes).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Spectral Correlation Measure (SCM): Computes Pearson correlation coefficient r between target and reference spectrum.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SCM standardizes spectra to mean 0, variance 1, making it robust against additive baseline offsets.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\theta(\mathbf{t}, \mathbf{r}) = \arccos\left( \frac{\sum_{i=1}^B t_i r_i}{\sqrt{\sum_{i=1}^B t_i^2} \sqrt{\sum_{i=1}^B r_i^2}} \right)</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Kruse, F. A. et al. (1993). The spectral image processing system (SIPS)—Interactive visualization and analysis. RSE.</a:t>
            </a:r>
            <a:endParaRPr lang="en-US" sz="75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[Mathematics] • SLIDE 19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Spectral Information Divergence (SID)</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SID models spectra as probability distributions and calculates spectral similarity using Kullback-Leibler information divergence.</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Formulated by Chang (2000) based on Shannon information theory.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Normalizes spectrum to a probability vector: p_i = x_i / Σ x_k.</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Calculates relative entropy D(p || q) and symmetrizes: SID = D(p || q) + D(q || p).</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More sensitive to subtle narrow absorption feature differences than SAM.</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\text{SID}(\mathbf{p}, \mathbf{q}) = \sum_{i=1}^B p_i \log\left(\frac{p_i}{q_i}\right) + \sum_{i=1}^B q_i \log\left(\frac{q_i}{p_i}\right)</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Chang, C. I. (2000). An information-theoretic approach to spectral variability, similarity, and discrimination for hyperspectral imagery. IEEE TGRS.</a:t>
            </a:r>
            <a:endParaRPr lang="en-US" sz="75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[Mathematics] • SLIDE 20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Principal Component Analysis (PCA) on Hyperspectral Data</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PCA transforms hundreds of correlated spectral channels into an uncorrelated orthogonal subspace, concentrating variance.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Hyperspectral bands exhibit severe multicollinearity (&gt; 0.95 inter-band correlation between adjacent channels).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PCA diagonalizes the spectral covariance matrix: C = V · Λ · Vᵀ.</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First 3 to 5 Principal Components typically capture &gt; 98% of total spectral variance across the dataset.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PC1 captures overall brightness/albedo; PC2 captures red-edge/pigment contrast; PC3 captures SWIR moisture/cellulose.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Noise whitening: Higher-order PCs contain primarily random noise and can be truncated.</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Richards, J. A. (2013). Remote Sensing Digital Image Analysis (5th ed.). Springer.</a:t>
            </a:r>
            <a:endParaRPr lang="en-US" sz="75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[Mathematics] • SLIDE 21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Minimum Noise Fraction (MNF) Transformation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MNF performs two cascaded PCA rotations: the first separates and whitens noise; the second concentrates signal-to-noise ratio.</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Standard PCA orders components by total variance, which can mistakenly elevate high-variance noise.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MNF (Green et al., 1988) orders components strictly by Signal-to-Noise Ratio (SNR).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Requires an estimate of the noise covariance matrix (from dark scans or spatial shift differences).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Coherent vs. Noise bands: Eigenvalues &gt;&gt; 1 contain coherent spatial/spectral signal; eigenvalues near 1 contain pure white noise.</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Green, A. A. et al. (1988). A transformation for ordering multispectral data in terms of image quality with implications for noise removal. IEEE TGRS.</a:t>
            </a:r>
            <a:endParaRPr lang="en-US" sz="75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[Mathematics] • SLIDE 22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Linear Spectral Mixture Analysis (LSMA) &amp; Endmember Extraction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Field footprints often mix multiple surface covers; LSMA decomposes mixed spectra into fractional abundances of pure endmembers.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Linear mixture model: Mixed spectrum is the linear combination of pure endmembers weighted by their areal fractions: x = Σ f_k · e_k + ε.</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Physical constraints: Fully Constrained Least Squares (FCLS): Abundance Non-Negativity Constraint (f_k ≥ 0) and Sum-to-One Constraint (Σ f_k = 1).</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Endmember extraction algorithms: Pixel Purity Index (PPI), N-FINDR, Vertex Component Analysis (VCA).</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\mathbf{x} = \sum_{k=1}^P f_k \mathbf{e}_k + \boldsymbol{\varepsilon}, \quad \text{s.t.} \; f_k \ge 0 \; \text{and} \; \sum_{k=1}^P f_k = 1</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Adams, J. B., Smith, M. O., &amp; Gillespie, A. R. (1993). Imaging spectroscopy: Interpretation based on spectral mixture analysis. Remote Geochemical Analysis.</a:t>
            </a:r>
            <a:endParaRPr lang="en-US" sz="75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[Physics] • SLIDE 23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Non-Linear Spectral Mixing in Vegetation Canopies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Multiple scattering between canopy leaves and background soil produces non-linear photon interactions that violate linear mixture models.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Linear mixing assumes photons interact with only one surface component before entering the foreoptic.</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dense canopies, transmitted NIR photons bounce between multiple leaf layers and soil before exitance.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Hapke intimate mixture model and bilinear models (Fan, Nascimento) account for multi-bounce interactions.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Linear unmixing of vegetation canopies typically overestimates soil fraction if non-linear scattering is ignored.</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Ray, T. W., &amp; Murray, B. C. (1996). Nonlinear spectral mixing in desert vegetation. RSE.</a:t>
            </a:r>
            <a:endParaRPr lang="en-US" sz="75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[Mathematics] • SLIDE 24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Partial Least Squares Regression (PLSR) in Spectroscopy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PLSR projects both predictor spectra (X) and target biochemical traits (Y) to latent variables, maximizing covariance.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Overcomes multicollinearity where ordinary least squares (OLS) regression completely fails.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Latent vectors: Supervised decomposition that extracts features most predictive of foliar nitrogen, phosphorus, or LMA.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Cross-validation (k-fold or leave-one-out): Determines the optimal number of latent components to avoid overfitting.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Variable Importance in Projection (VIP): Identifies which spectral wavelengths contribute most to the biochemical model.</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Wold, S. et al. (2001). PLS-regression: a basic tool of chemometrics. Chemometrics and Intelligent Laboratory Systems.</a:t>
            </a:r>
            <a:endParaRPr lang="en-US" sz="75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[QualityAssurance] • SLIDE 25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Cross-Validation &amp; Avoiding Overfitting in Chemometrics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With 2000 spectral predictor bands and 50 field samples, random correlation can produce spurious R² &gt; 0.95 without cross-validation.</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The Curse of Dimensionality: p &gt;&gt; n problem (more spectral bands than physical ground samples).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Always evaluate models on an independent holdout test set (e.g. 70% train / 30% test).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Spatial cross-validation: Split training and testing sets by geographic spatial blocks to avoid spatial autocorrelation leakage.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Report RMSE_CV (Cross-Validation Root Mean Square Error) and RPD (Ratio of Performance to Deviation).</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Never report calibration R² alone; report validation R²_val and RMSE_val on truly independent sites.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Roberts, D. R. et al. (2017). Cross-validation strategies for data with spatial, temporal, hierarchical or phylogenetic structure. Ecography.</a:t>
            </a:r>
            <a:endParaRPr lang="en-US" sz="75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[CaseStudy] • SLIDE 26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Automated Spectral Feature Matching: USGS Tetracorder</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USGS Tetracorder matches unknown field spectra against a reference spectral library using continuum-removed shape metrics.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Developed by Roger Clark and USGS Spectral Lab team.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Normalizes candidate features using continuum removal over diagnostic wavelength intervals.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Computes weighted correlation coefficient, band depth, and asymmetry against &gt; 1000 laboratory reference minerals and plants.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Delivers automated mineral identification with quantitative confidence levels.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Clark, R. N. et al. (2003). Imaging spectroscopy: Earth and planetary remote sensing with the USGS Tetracorder and expert systems. JGR.</a:t>
            </a:r>
            <a:endParaRPr lang="en-US" sz="75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[CaseStudy] • SLIDE 27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Foliar Nitrogen &amp; Protein Retrieval: The N-H SWIR Bands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Foliar nitrogen is bound primarily in Rubisco enzymes and photosynthetic proteins, producing diagnostic N-H absorption in SWIR.</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Total leaf nitrogen (N %): Highly correlated with maximum carboxylation rate (Vcmax) and photosynthetic capacity.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N-H peptide bond absorption features: 1510 nm, 1680 nm, 2060 nm, and 2180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Often masked by liquid water in fresh leaves; continuum removal and first-derivative analysis isolate protein features.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PLSR models routinely achieve R² &gt; 0.85 for nitrogen retrieval across diverse plant functional types.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Kokaly, R. F. (2001). Investigating a physical basis for spectroscopic estimates of canopy nitrogen concentration. RSE.</a:t>
            </a:r>
            <a:endParaRPr lang="en-US" sz="75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[Processing] • SLIDE 28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Open-Source Spectral Processing Toolkits: Python &amp; R Ecosystem</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modern spectroscopic research workflow is built on open-source Python (pysptools, specdal, scikit-learn) and R (hsdar, prospectr).</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Python: `pysptools` (endmember extraction, unmixing), `specdal` (instrument readers, ASD batch processing), `scikit-learn` (PLSR, PCA, RF).</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 `hsdar` (hyperspectral data analysis, PROSAIL coupling, indices), `prospectr` (SNV, MSC, Savitzky-Golay, continuum removal).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Guarantees fully scripted, reproducible, version-controlled scientific analysis pipelines.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Lehnert, L. W. et al. (2019). hsdar: Manage, analyze and simulate hyperspectral data in R. Package Vignette.</a:t>
            </a:r>
            <a:endParaRPr lang="en-US" sz="75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[QualityAssurance] • SLIDE 29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Batch Processing Pipelines for Large Field Campaigns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Automated batch pipelines enforce consistent quality flags, dark current subtraction, and feature extraction across thousands of spectra.</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Modular pipeline architecture: Ingestion -&gt; Quality screening -&gt; Dark current subtract -&gt; White reference calibrate -&gt; Saturated band mask -&gt; Savitzky-Golay filter -&gt; Continuum removal -&gt; Feature extraction -&gt; Export to SPECCHIO / NetCDF.</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Automated logging of QA failure flags (e.g. WR departure &gt; 1.5%, SZA &gt; 50°).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Enables repeatable re-processing when sensor calibration coefficients are updated.</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Hueni, A. et al. (2009). Computers &amp; Geosciences.</a:t>
            </a:r>
            <a:endParaRPr lang="en-US" sz="75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6: Spectral Preprocessing &amp; Feature Extraction • [Processing] • SLIDE 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Module 6 Synthesis &amp; Preparing for Radiative Transfer Modeling</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Preprocessing and feature extraction isolate fundamental physical and biochemical parameters from noisy outdoor spectra.</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Module 6 established: Savitzky-Golay smoothing, SNV, MSC, continuum removal convex hulls, band depths, derivatives, and spectral indices.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Module 7, we explore the forward physics: Radiative Transfer Models (RTMs) spanning leaf-level PROSPECT and canopy-level SAIL (PROSAIL) and look-up table inversion.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Preparation for Field Exercise 6: Collecting leaf and mineral spectra and executing continuum removal and band depth analysis.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Clark, R. N., &amp; Roush, T. L. (1984). JGR, 89(B7), 6329-6340.</a:t>
            </a:r>
            <a:endParaRPr lang="en-US" sz="75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1645920"/>
            <a:ext cx="7772400" cy="365760"/>
          </a:xfrm>
          <a:prstGeom prst="rect">
            <a:avLst/>
          </a:prstGeom>
          <a:noFill/>
          <a:ln/>
        </p:spPr>
        <p:txBody>
          <a:bodyPr wrap="square" rtlCol="0" anchor="ctr"/>
          <a:lstStyle/>
          <a:p>
            <a:pPr indent="0" marL="0">
              <a:buNone/>
            </a:pPr>
            <a:r>
              <a:rPr lang="en-US" sz="1600" b="1" dirty="0">
                <a:solidFill>
                  <a:srgbClr val="34D399"/>
                </a:solidFill>
              </a:rPr>
              <a:t>MODULE 7</a:t>
            </a:r>
            <a:endParaRPr lang="en-US" sz="1600" dirty="0"/>
          </a:p>
        </p:txBody>
      </p:sp>
      <p:sp>
        <p:nvSpPr>
          <p:cNvPr id="3" name="Text 1"/>
          <p:cNvSpPr/>
          <p:nvPr/>
        </p:nvSpPr>
        <p:spPr>
          <a:xfrm>
            <a:off x="731520" y="2194560"/>
            <a:ext cx="7772400" cy="1097280"/>
          </a:xfrm>
          <a:prstGeom prst="rect">
            <a:avLst/>
          </a:prstGeom>
          <a:noFill/>
          <a:ln/>
        </p:spPr>
        <p:txBody>
          <a:bodyPr wrap="square" rtlCol="0" anchor="ctr"/>
          <a:lstStyle/>
          <a:p>
            <a:pPr indent="0" marL="0">
              <a:buNone/>
            </a:pPr>
            <a:r>
              <a:rPr lang="en-US" sz="2600" b="1" dirty="0">
                <a:solidFill>
                  <a:srgbClr val="FFFFFF"/>
                </a:solidFill>
              </a:rPr>
              <a:t>Radiative Transfer Modeling (RTM), PROSAIL &amp; Canopy Physics</a:t>
            </a:r>
            <a:endParaRPr lang="en-US" sz="2600" dirty="0"/>
          </a:p>
        </p:txBody>
      </p:sp>
      <p:sp>
        <p:nvSpPr>
          <p:cNvPr id="4" name="Text 2"/>
          <p:cNvSpPr/>
          <p:nvPr/>
        </p:nvSpPr>
        <p:spPr>
          <a:xfrm>
            <a:off x="731520" y="3474720"/>
            <a:ext cx="7772400" cy="1371600"/>
          </a:xfrm>
          <a:prstGeom prst="rect">
            <a:avLst/>
          </a:prstGeom>
          <a:noFill/>
          <a:ln/>
        </p:spPr>
        <p:txBody>
          <a:bodyPr wrap="square" rtlCol="0" anchor="ctr"/>
          <a:lstStyle/>
          <a:p>
            <a:pPr indent="0" marL="0">
              <a:buNone/>
            </a:pPr>
            <a:r>
              <a:rPr lang="en-US" sz="1100" dirty="0">
                <a:solidFill>
                  <a:srgbClr val="94A3B8"/>
                </a:solidFill>
              </a:rPr>
              <a:t>4 Teaching Hours • 1.5 ECTS Credits • Module 7 delivers rigorous training in physical radiative transfer modeling (RTM) governing vegetation canopies. Students dissect the PROSPECT-D leaf optical model, understanding leaf mesophyll scattering parameter N and specific absorption coefficients for chlorophyll (Cab), carotenoids (Car), anthocyanins (Anth), equivalent water thickness (Cw), and leaf mass per area (Cm). The module couples PROSPECT with the 4SAIL 4-stream canopy radiative transfer model, parameterizing Leaf Area Index (LAI), leaf angle distributions (LIDF), and hotspot scattering. Students address the ill-posed mathematical nature of RTM inversion, implementing Look-Up Tables (LUT), Bayesian regularization, and Gaussian Process Regression (GPR) emulators in Python and R.</a:t>
            </a:r>
            <a:endParaRPr lang="en-US" sz="11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[RTM] • SLIDE 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Introduction to Radiative Transfer Modeling in Remote Sensing</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Radiative Transfer Models (RTMs) simulate photon scattering and absorption in plant tissue and canopies based on physical laws.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Statistical indices (NDVI, NDRE) are site- and species-specific and suffer from empirical saturation and background soil bias.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Physical Radiative Transfer Models provide a mechanistic, universal link between biophysical canopy traits and observed spectral reflectance.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Forward modeling: Simulates reflectance from known biochemical traits and structure.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Inverse modeling: Retrieves unknown biochemical traits from measured field spectra.</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RTM inversion eliminates the need for recalibrating empirical indices for every new crop type or field season.</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Jacquemoud, S. et al. (2009). PROSPECT+SAIL: A review of use for vegetation characterization. Remote Sensing of Environment.</a:t>
            </a:r>
            <a:endParaRPr lang="en-US" sz="75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[Mathematics] • SLIDE 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Forward vs. Inverse Modeling Paradigm</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Forward modeling maps biophysical traits to spectra via deterministic physics; inverse modeling solves the ill-posed mathematical reverse.</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Forward Problem: y = f(x, θ, λ) is well-posed, unique, and deterministic.</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Inputs x: Chlorophyll (Cab), Carotenoids (Car), Water (Cw), Dry matter (Cm), Leaf Area Index (LAI), Leaf Angle (ALA).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Outputs y: Directional spectral reflectance across 400–2500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Inverse Problem: x = f⁻¹(y) is ill-posed: Multiple distinct trait combinations can yield nearly identical canopy reflectance (equifinality).</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\mathbf{y}_{\text{spectrum}} = f_{\text{RTM}}(\mathbf{x}_{\text{traits}}, \mathbf{\Omega}_{\text{geometry}})</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Baret, F., &amp; Buis, S. (2008). Estimating canopy characteristics from remote sensing observations: Review of methods and constraints. Advances in Land Remote Sensing.</a:t>
            </a:r>
            <a:endParaRPr lang="en-US" sz="75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[Physics] • SLIDE 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Leaf Optical Physics: The Plate Model &amp; Fresnel Interfaces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Willstätter-Stoll and Allen plate theory models the leaf as a stack of absorbing optical plates separated by air spaces.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Allen et al. (1969) generalized Stokes equations for multiple reflecting and transmitting parallel plates.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At each plate boundary, refraction occurs according to Snell's law (refractive index n(λ) ≈ 1.40–1.45 for leaf wax/cellulose).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Fresnel reflection at the waxy cuticle reflects ~5% of light specularly without biochemical interaction.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Internal mesophyll air spaces create thousands of refractive index boundaries (n_cell ≈ 1.42 vs n_air ≈ 1.00), scattering NIR photons intensely.</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Allen, W. A. et al. (1969). Interaction of isotropic light with a compact plant leaf. JOSA.</a:t>
            </a:r>
            <a:endParaRPr lang="en-US" sz="75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[RTM] • SLIDE 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PROSPECT Leaf Optical Model Evolution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PROSPECT calculates leaf directional-hemispherical reflectance and transmittance from 400 to 2500 nm.</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Developed by Stéphane Jacquemoud and Frédéric Baret (1990).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PROSPECT-4: Leaf structure parameter N, Chlorophyll a+b (Cab), Equivalent Water Thickness (Cw), Leaf Mass per Area (Cm).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PROSPECT-5: Separated carotenoids (Car) from chlorophyll.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PROSPECT-D (Féret et al., 2017): Added anthocyanins (Anth) and brown senescent pigments (Cbrown), covering all phenological stages from budburst to senescence.</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Féret, J. B. et al. (2017). PROSPECT-D: Towards modeling leaf optical properties through a complete lifecycle. RSE.</a:t>
            </a:r>
            <a:endParaRPr lang="en-US" sz="75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[Mathematics] • SLIDE 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PROSPECT Mathematical Formulation &amp; Specific Absorption Coefficients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Total leaf absorption coefficient k(λ) is the linear sum of biochemical concentrations multiplied by specific absorption coefficients.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Generalized Beer-Lambert formulation inside the leaf plates.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Specific absorption coefficients (k_i(λ)) are NIST-traceable calibrated laboratory optical constants for pure pigments, water, and dry matter.</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Transmittance of an elementary plate: τ(λ) = (1 - k(λ)) · exp(-k(λ)) + k(λ)² · E₁(k(λ)).</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k(\lambda) = \frac{C_{ab} k_{ab}(\lambda) + C_{ar} k_{ar}(\lambda) + C_{\text{anth}} k_{\text{anth}}(\lambda) + C_w k_w(\lambda) + C_m k_m(\lambda)}{N}</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Jacquemoud, S., &amp; Baret, F. (1990). PROSPECT: A model of leaf optical properties spectra. RSE.</a:t>
            </a:r>
            <a:endParaRPr lang="en-US" sz="75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[RTM] • SLIDE 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Leaf Mesophyll Structure Parameter 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structural parameter N represents the effective number of compact cell layers and internal refractive interfaces.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 = 1.0 represents a single compact plate with zero internal air spaces (no scattering, pure absorption).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Monocots (corn, wheat, grasses) with compact mesophyll: N ≈ 1.2 to 1.5.</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Dicotyledons (soybean, oak, sunflower) with distinct spongy mesophyll: N ≈ 1.6 to 2.2.</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Thick evergreen sclerophylls (eucalyptus, olive, pine): N ≈ 2.3 to 3.5.</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Higher N increases internal multiple scattering, shifting NIR plateau reflectance upward.</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Jacquemoud, S., &amp; Ustin, S. L. (2019). Leaf Optical Properties. Cambridge University Press.</a:t>
            </a:r>
            <a:endParaRPr lang="en-US" sz="75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[RTM] • SLIDE 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From Single Leaf to Canopy Architecture: 1D Canopy Radiative Transfer</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Canopy reflectance depends not only on leaf optics, but on canopy architecture, leaf angle distribution, and background soil.</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 canopy is a 3D turbid medium where leaves act as absorbing and scattering facets.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Canopy reflectance is significantly lower than individual leaf reflectance because photons are trapped and absorbed in internal multi-bounce cavities.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NIR canopy reflectance is typically 20–35%, whereas individual leaf reflectance is 45–55%.</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Verhoef, W. (1984). Light scattering by leaf layers with application to canopy reflectance modeling: The SAIL model. RSE.</a:t>
            </a:r>
            <a:endParaRPr lang="en-US" sz="75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[RTM] • SLIDE 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4SAIL Canopy Radiative Transfer Model</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SAIL (Scattering by Arbitrarily Inclined Leaves) models four-stream radiative transfer in a homogeneous turbid vegetation layer.</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Formulated by Wout Verhoef (1984); upgraded to 4SAIL (Verhoef et al., 2007).</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Four differential radiation flux streams: Direct solar flux (E_s), Diffuse downward flux (E⁻), Diffuse upward flux (E⁺), Directional radiance toward observer (E_o).</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Analytical differential equations solved in closed form with boundary conditions at top of canopy (TOC) and bottom of canopy (soil).</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\frac{d}{dz} \begin{bmatrix} E_s \\ E^- \\ E^+ \\ E_o \end{bmatrix} = \begin{bmatrix} k &amp; 0 &amp; 0 &amp; 0 \\ -s &amp; a &amp; -\sigma &amp; 0 \\ s' &amp; \sigma &amp; -a &amp; 0 \\ w &amp; v &amp; v' &amp; -K \end{bmatrix} \begin{bmatrix} E_s \\ E^- \\ E^+ \\ E_o \end{bmatrix}</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Verhoef, W. (1984). Remote Sensing of Environment, 16(2), 125-141.</a:t>
            </a:r>
            <a:endParaRPr lang="en-US" sz="75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[RTM] • SLIDE 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4SAIL Canopy Parameters: LAI, ALA, and Hotspot</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4SAIL is parameterized by Leaf Area Index (LAI), Leaf Angle Distribution (LAD), Hotspot parameter, and soil brightness.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Leaf Area Index (LAI): Total one-sided green leaf area per unit ground surface area [m²/m²] (typically 0.5 to 8.0).</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Average Leaf Angle (ALA) or Campbell parameter (LIDF): Planophile, erectophile, spherical, or plagiophile leaf angles.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Hotspot parameter (s_l / h): Ratio of leaf size to canopy height (controls the angular width of retro-reflection surge).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Background soil reflectance spectrum: Multiplied by soil brightness scaling factor (psoil).</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Verhoef, W. et al. (2007). Unified optical-thermal four-stream radiative transfer model. RSE.</a:t>
            </a:r>
            <a:endParaRPr lang="en-US" sz="75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[RTM] • SLIDE 10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Coupled PROSAIL: Linking Biochemistry to Canopy Reflectance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Coupled PROSAIL inputs leaf traits into PROSPECT to generate leaf ρ and τ, which are fed directly into 4SAIL to simulate top-of-canopy HCRF.</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PROSPECT generates: Leaf directional-hemispherical reflectance ρ_leaf(λ) and transmittance τ_leaf(λ).</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4SAIL takes: ρ_leaf, τ_leaf, LAI, ALA, s_l, psoil, and illumination/viewing geometry (θ_s, θ_v, Δφ).</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Output: Top-of-Canopy (TOC) directional reflectance factor matching field spectroradiometer measurements.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The international gold standard benchmark in operational agricultural and ecological Earth observation.</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Jacquemoud, S. et al. (2009). PROSPECT+SAIL: A review. Remote Sensing of Environment.</a:t>
            </a:r>
            <a:endParaRPr lang="en-US" sz="75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[Physics] • SLIDE 11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Sensitivity Analysis: Identifying Dominant Traits by Wavelength</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Global sensitivity analysis (Sobol) proves that different canopy traits control distinct, well-defined spectral windows.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Visible (400–700 nm): Dominated by Chlorophyll (Cab) and Carotenoids (Car); LAI controls saturation at low values.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Red Edge (700–750 nm): Jointly controlled by Cab, LAI, and Leaf Angle Distribution (LAD).</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NIR Plateau (750–1100 nm): Exclusively controlled by LAI, structural parameter N, and background soil (zero pigment absorption).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SWIR (1100–2500 nm): Controlled by Water Thickness (Cw), Dry Matter (Cm), and LAI.</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Verrelst, J. et al. (2015). Global sensitivity analysis for spectral indices. Remote Sensing of Environment.</a:t>
            </a:r>
            <a:endParaRPr lang="en-US" sz="75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[Mathematics] • SLIDE 12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Ill-Posed Inverse Problem &amp; Equifinality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Inverting RTMs is mathematically ill-posed: Multiple distinct parameter combinations yield the same reflectance spectrum.</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Hadamard criteria for well-posed problems: Existence, Uniqueness, Stability.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RTM inversion violates uniqueness and stability: High Cab with low LAI can mimic lower Cab with high LAI in the visible.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Equifinality: Different combinations of soil brightness, leaf angle, and biomass create identical spectral signatures.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Measurement noise and model structural approximations amplify inversion instabilities.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Combal, B. et al. (2003). Retrieval of canopy biophysical variables by inverting radiative transfer models. RSE.</a:t>
            </a:r>
            <a:endParaRPr lang="en-US" sz="75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[Mathematics] • SLIDE 13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Look-Up Table (LUT) Inversion Architecture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LUT inversion precomputes a large database of forward simulations and finds the closest matching spectra to observations.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Step 1: Generate N simulations (e.g. N = 100,000) by sampling parameter distributions with Latin Hypercube Sampling (LHS).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Step 2: Add realistic radiometric noise to simulated spectra.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Step 3: Measure distance (Cost Function, e.g. Root Mean Square Error RMSE or Spectral Angle) between field scan and every LUT entry.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Step 4: Average the parameter values of the top q best-matching entries (e.g. q = 50 or top 0.5%) to stabilize retrieval.</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\text{RMSE} = \sqrt{\frac{1}{B} \sum_{b=1}^B \left( R_{\text{measured}}(\lambda_b) - R_{\text{LUT}}(\lambda_b) \right)^2}</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Weiss, M. et al. (2000). Investigation of a model inversion technique to retrieve canopy biophysical variables. Agronomie.</a:t>
            </a:r>
            <a:endParaRPr lang="en-US" sz="75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[Mathematics] • SLIDE 14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Regularization Strategies: Bayesian Priors &amp; Parameter Bounds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Regularization injects prior knowledge (Bayesian priors) to constrain RTM inversion within physically realistic bounds.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Unconstrained inversion may predict LAI = 15 or Cab = 200 µg/cm² (physiologically absurd values).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Truncated Gaussian priors: Enforce known biological distributions based on field measurement knowledge.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Co-variance constraints: Link traits that correlate biologically (e.g. high nitrogen leaves have high chlorophyll and low LMA).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Spatial and temporal regularization: Constrain day-to-day LAI variations using smooth growth curves.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J(\mathbf{x}) = \left(\mathbf{y} - f(\mathbf{x})\right)^T \mathbf{C}_y^{-1} \left(\mathbf{y} - f(\mathbf{x})\right) + \left(\mathbf{x} - \mathbf{x}_{\text{prior}}\right)^T \mathbf{C}_x^{-1} \left(\mathbf{x} - \mathbf{x}_{\text{prior}}\right)</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Tarantola, A. (2005). Inverse Problem Theory and Methods for Model Parameter Estimation. SIAM.</a:t>
            </a:r>
            <a:endParaRPr lang="en-US" sz="75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[Mathematics] • SLIDE 15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Machine Learning Emulators &amp; Gaussian Process Regression (GPR)</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Machine learning emulators approximate complex RTM physics, accelerating inversion speed by 10,000x with Bayesian uncertainty.</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Running 3D RTMs per pixel on a 10-megapixel hyperspectral image takes days of compute time.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Emulators: Train a statistical regression (Gaussian Process Regression, Neural Net) to approximate f(x) or f⁻¹(y).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Gaussian Process Regression (GPR): Delivers both the mean predicted biophysical trait and the analytical predictive variance (uncertainty σ²).</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Standard operational processor in the ESA Sentinel-2 SNAP toolbox for biophysical trait retrieval.</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\sigma_*^2 = k(\mathbf{y}_*, \mathbf{y}_*) - \mathbf{k}_*^T \left( \mathbf{K} + \sigma_n^2 \mathbf{I} \right)^{-1} \mathbf{k}_*</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Verrelst, J. et al. (2012). Machine learning regression algorithms for retrieval of plant biophysical parameters. RSE.</a:t>
            </a:r>
            <a:endParaRPr lang="en-US" sz="75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[RTM] • SLIDE 16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3D Radiative Transfer Models: DART, FLIGHT &amp; LESS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1D turbid models fail in discontinuous, clumped ecosystems (orchards, savannas, coniferous forests); 3D RTMs simulate exact 3D architecture.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DART (Discrete Anisotropic Radiative Transfer, CESBIO): Ray-tracing and discrete ordinate transport in a 3D voxel grid containing 3D tree crowns, buildings, and topography.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FLIGHT (North, 1996): Monte Carlo ray-tracing model for clumped forest canopies.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LESS (LargE-Scale Remote Sensing Data and Image Simulation Framework): GPU-accelerated ray tracing.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Simulates shadow casting, crown clumping, and multi-angular BRDF of complex 3D landscapes.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Gastellu-Etchegorry, J. P. et al. (2015). DART: a 3D model for remote sensing images and radiative budget of natural and urban landscapes. RSE.</a:t>
            </a:r>
            <a:endParaRPr lang="en-US" sz="75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[Physics] • SLIDE 17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Canopy Clumping Index (CI) and Effective LAI</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Leaves clump into shoots, branches, and crowns, creating large sunlit gaps that require clumping correction.</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1D turbid models assume random spatial dispersion of foliage (Poisson distribution).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Real trees clump needles into shoots (conifers) and leaves into branch clusters.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Clumping Index (Ω): Ratio of effective LAI (LAI_eff) to true total LAI: LAI_true = LAI_eff / Ω.</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For random canopy: Ω = 1.0. For clumped conifer forests: Ω ≈ 0.4 to 0.7.</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Ignoring clumping underestimates conifer forest LAI by up to 50%.</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\text{LAI}_{\text{true}} = \frac{\text{LAI}_{\text{effective}}}{\Omega}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Chen, J. M., &amp; Black, T. A. (1992). Foliage clumpiness and its impact on the optical remote sensing of leaf area index. JGR.</a:t>
            </a:r>
            <a:endParaRPr lang="en-US" sz="75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[Physics] • SLIDE 18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Solar-Induced Chlorophyll Fluorescence (SIF) Modeling: SCOPE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SCOPE couples 1D radiative transfer with leaf photosynthesis, stomatal conductance, and chlorophyll fluorescence emission.</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Developed by Christiaan van der Tol et al. (2009).</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Chlorophyll fluoresces a small fraction (~1–2%) of absorbed photons at 650–850 nm (peaks at 685 nm and 740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SCOPE simulates radiative transfer of emitted fluorescence photons through the canopy in the Fraunhofer absorption bands (O₂-A at 760 nm).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Provides a mechanistic link between field spectroradiometry and gross primary production (GPP).</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Van der Tol, C. et al. (2009). An integrated model of soil-canopy spectral radiances, photosynthesis, fluorescence, temperature and energy balance. Biogeosciences.</a:t>
            </a:r>
            <a:endParaRPr lang="en-US" sz="75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[QualityAssurance] • SLIDE 19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Validating RTMs with Field Spectroradiometry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Rigorous RTM validation requires independent concurrent ground measurements of leaf traits, canopy structure, and TOC spectra.</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Experiment protocol: Measure leaf reflectance/transmittance with integrating sphere -&gt; Measure foliar chlorophyll (wet lab) -&gt; Measure LAI with LAI-2200 -&gt; Measure TOC reflectance with ASD on boom.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Forward validation: Feed measured traits into PROSAIL; compare simulated TOC spectra against field-measured spectra.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Inverse validation: Invert TOC field spectra; compare retrieved LAI and Cab against ground destructive harvest data.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Metrics: RMSE, normalized RMSE (NRMSE), and Nash-Sutcliffe Efficiency (NSE).</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Never validate an RTM using the same dataset used to calibrate its internal empirical parameters.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Dorigo, W. et al. (2007). In-situ biophysical variable retrieval validation. Remote Sensing of Environment.</a:t>
            </a:r>
            <a:endParaRPr lang="en-US" sz="75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[RTM] • SLIDE 20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Soil Background Effects &amp; Non-Lambertian Soil Models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Soil reflectance is not a static constant; soil moisture dynamics and roughness alter the lower boundary condition in RTMs.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PROSAIL psoil parameter scales a single baseline soil spectrum up or down.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Real soils change spectral slope as they dry and exhibit strong BRDF anisotropy (Hapke or Walthall soil BRDF models).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sparse canopies (LAI &lt; 1.5), soil contributes &gt; 60% of total reflected radiance.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Coupling BSM (Biological Soil Model) or MARMIT water-absorption soil models improves sparse canopy trait retrieval.</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Baret, F. et al. (1993). BSM: A model of soil spectral reflectance. Remote Sensing of Environment.</a:t>
            </a:r>
            <a:endParaRPr lang="en-US" sz="75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[RTM] • SLIDE 21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Atmospheric Radiative Transfer Coupling: 6S and MODTRAN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Full-system RTM chains couple canopy models (PROSAIL) with atmospheric radiative transfer codes (6S, MODTRAN).</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Simulates Top-of-Atmosphere (TOA) spectral radiance directly from surface canopy traits.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6S (Second Simulation of the Satellite Signal in the Solar Spectrum): Models gaseous absorption, Rayleigh, and aerosol scattering.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MODTRAN 6: High spectral resolution (0.1 cm⁻¹) atmospheric transmission and radiance code.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Essential for designing future spaceborne hyperspectral mission specifications (e.g. ESA CHIME, NASA SBG).</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Vermote, E. F. et al. (1997). Second Simulation of the Satellite Signal in the Solar Spectrum, 6S: An overview. IEEE TGRS.</a:t>
            </a:r>
            <a:endParaRPr lang="en-US" sz="75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[Mathematics] • SLIDE 22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Hybrid Inversion Frameworks: Machine Learning on RTM Datasets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Hybrid inversion trains advanced machine learning algorithms (Random Forest, GPR, Deep Neural Networks) on synthetic RTM datasets.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Combines the physical universality of RTMs with the computational speed of machine learning.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Step 1: Generate 50,000 synthetic spectra using PROSAIL across realistic global parameter distributions.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Step 2: Train a Random Forest or Deep Multi-Layer Perceptron (MLP) on the synthetic dataset.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Step 3: Apply the trained model to field spectroradiometer or drone hyperspectral imagery for millisecond pixel retrieval.</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Verrelst, J. et al. (2019). Optical remote sensing and the retrieval of terrestrial vegetation bio-geophysical properties: A review. RSE.</a:t>
            </a:r>
            <a:endParaRPr lang="en-US" sz="75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[CaseStudy] • SLIDE 23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Retrieval of Equivalent Water Thickness (EWT) &amp; Dry Matter (Cm)</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PROSAIL inversion accurately retrieves canopy water content (CWC = LAI · Cw) and dry biomass (LAI · Cm) from SWIR bands.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Canopy Water Content (CWC [g/m²]): Critical indicator of drought stress and forest fire fuel moisture.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Canopy Dry Matter (CDM [g/m²]): Directly measures standing non-water crop biomass for yield prediction.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Inversion of PRISMA/EnMAP hyperspectral scenes achieves NRMSE &lt; 12% for CWC validation across European agricultural sites.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Colombo, R. et al. (2008). Retrieval of leaf area index and equivalent water thickness in a Mediterranean forest. RSE.</a:t>
            </a:r>
            <a:endParaRPr lang="en-US" sz="75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[CaseStudy] • SLIDE 24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Leaf Carotenoid and Anthocyanin Inversion with PROSPECT-D</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PROSPECT-D resolves secondary protective pigments (carotenoids, anthocyanins) that signal photo-oxidative stress and leaf senescence.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Carotenoids (Car): Lutein, β-carotene, neoxanthin; protect chlorophyll from photo-damage.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Anthocyanins (Anth): Water-soluble flavonoids producing red coloration during autumn or cold stress.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Inversion of contact probe field spectra retrieves Car with RMSE &lt; 2.5 µg/cm² and Anth with RMSE &lt; 1.8 µg/cm².</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Féret, J. B. et al. (2017). Remote Sensing of Environment, 193, 204-215.</a:t>
            </a:r>
            <a:endParaRPr lang="en-US" sz="75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[Processing] • SLIDE 25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RTM Inversion in the R Package `hsdar` and Python `prosail`</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Open-source compiled Fortran and C libraries provide high-speed Python and R wrappers for PROSPECT and PROSAIL.</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Python: `pip install prosail` provides instant vectorized forward modeling (`prosail.run_prosail(...)`).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 `library(hsdar)` provides comprehensive PROSAIL forward simulation, LUT generation, and automated model inversion.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Enables automated coupling into GIS spatial pipelines and Jupyter notebooks.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Lehnert, L. W. et al. (2019). hsdar: Manage, analyze and simulate hyperspectral data in R.</a:t>
            </a:r>
            <a:endParaRPr lang="en-US" sz="75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[Mathematics] • SLIDE 26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Active Learning for Efficient RTM Sampling</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Active learning algorithms intelligently select the most informative RTM simulations, slashing training dataset sizes by 90%.</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Instead of generating 100,000 random LUT entries, Active Learning iteratively samples areas of maximum model uncertainty.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Methods: Entropy query, Gaussian Process variance sampling, Euclidean distance diversity.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Reduces required training size to &lt; 2,000 simulations while achieving equal or superior retrieval accuracy.</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Verrelst, J. et al. (2016). Machine learning regression algorithms for retrieval of plant biophysical parameters: A review. IEEE GRSL.</a:t>
            </a:r>
            <a:endParaRPr lang="en-US" sz="75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[Physics] • SLIDE 27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Multi-Angular RTM Inversion: Resolving the LAI-LAD Ambiguity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Adding off-nadir viewing angles (e.g. from goniometers or multi-angle satellites like CHRIS-PROBA) breaks the LAI-leaf angle ambiguity.</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At nadir (θ_v = 0°), an erectophile canopy looks sparse, mimicking a low-LAI planophile canopy.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At oblique view zenith angles (θ_v = 45° to 60°), path length through erectophile leaves increases dramatically, exposing full foliage.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Multi-angular inversion simultaneously resolves both LAI and Average Leaf Angle (ALA) with zero equifinality.</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Bicheron, P., &amp; Leroy, M. (1999). A method of biophysical variable retrieval using multiangle airborne measurements. RSE.</a:t>
            </a:r>
            <a:endParaRPr lang="en-US" sz="75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[CaseStudy] • SLIDE 28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Coupling RTMs with Crop Growth Models: Assimilation Workflows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Data assimilation merges RTM-retrieved LAI into dynamic crop growth models (APSIM, DSSAT, WOFOST) to forecast crop yields.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Field spectroscopy and satellite RTM retrievals provide real-time state updates during the growing season.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Ensemble Kalman Filter (EnKF): Adjusts crop model simulated biomass and soil moisture when RTM-retrieved LAI deviates from simulation.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Corrects model errors caused by unmodeled pest damage, fertilizer shortages, or localized microclimates.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Dorigo, W. et al. (2007). A review on reflective remote sensing and data assimilation techniques for enhanced agroecosystem modeling. IJAEOG.</a:t>
            </a:r>
            <a:endParaRPr lang="en-US" sz="75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[RTM] • SLIDE 29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Current Limitations &amp; Future Frontiers of RTMs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Emerging frontiers include leaf specular polarization, biochemical vertical stratification, and canopy fluorescence-photosynthesis coupling.</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Current limitation: Most 1D models assume vertically homogeneous chlorophyll and water distribution (real leaves vary from top to bottom of canopy).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Frontier 1: PROSPECT-PRO: Explicitly isolates pure proteins from structural cellulose and lignin.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Frontier 2: Ray-tracing 3D digital twins derived from terrestrial and drone LiDAR point clouds.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Frontier 3: Integration of solar-induced chlorophyll fluorescence (SIF) into global carbon cycle models.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Féret, J. B. et al. (2021). PROSPECT-PRO for estimating content of nitrogen-containing compounds in leaves. RSE.</a:t>
            </a:r>
            <a:endParaRPr lang="en-US" sz="75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7: Radiative Transfer Modeling &amp; PROSAIL • [RTM] • SLIDE 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Module 7 Synthesis &amp; Progression to Spectral Databases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Radiative transfer models transform field spectroscopy into a rigorous, physics-driven quantitative discipline.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Module 7 established: PROSPECT-D leaf physics, 4SAIL 4-stream canopy transport, PROSAIL coupling, and LUT/GPR inverse retrieval.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 Module 8, we integrate all field spectroscopy workflows into permanent institutional architectures: SPECCHIO database, metadata schemas, and the course capstone project.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Preparation for Field Exercise 7: Inverting field-measured canopy spectra using PROSAIL LUT to retrieve ground LAI and chlorophyll.</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Jacquemoud, S. et al. (2009). Remote Sensing of Environment, 113, S56-S66.</a:t>
            </a:r>
            <a:endParaRPr lang="en-US" sz="75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1645920"/>
            <a:ext cx="7772400" cy="365760"/>
          </a:xfrm>
          <a:prstGeom prst="rect">
            <a:avLst/>
          </a:prstGeom>
          <a:noFill/>
          <a:ln/>
        </p:spPr>
        <p:txBody>
          <a:bodyPr wrap="square" rtlCol="0" anchor="ctr"/>
          <a:lstStyle/>
          <a:p>
            <a:pPr indent="0" marL="0">
              <a:buNone/>
            </a:pPr>
            <a:r>
              <a:rPr lang="en-US" sz="1600" b="1" dirty="0">
                <a:solidFill>
                  <a:srgbClr val="34D399"/>
                </a:solidFill>
              </a:rPr>
              <a:t>MODULE 8</a:t>
            </a:r>
            <a:endParaRPr lang="en-US" sz="1600" dirty="0"/>
          </a:p>
        </p:txBody>
      </p:sp>
      <p:sp>
        <p:nvSpPr>
          <p:cNvPr id="3" name="Text 1"/>
          <p:cNvSpPr/>
          <p:nvPr/>
        </p:nvSpPr>
        <p:spPr>
          <a:xfrm>
            <a:off x="731520" y="2194560"/>
            <a:ext cx="7772400" cy="1097280"/>
          </a:xfrm>
          <a:prstGeom prst="rect">
            <a:avLst/>
          </a:prstGeom>
          <a:noFill/>
          <a:ln/>
        </p:spPr>
        <p:txBody>
          <a:bodyPr wrap="square" rtlCol="0" anchor="ctr"/>
          <a:lstStyle/>
          <a:p>
            <a:pPr indent="0" marL="0">
              <a:buNone/>
            </a:pPr>
            <a:r>
              <a:rPr lang="en-US" sz="2600" b="1" dirty="0">
                <a:solidFill>
                  <a:srgbClr val="FFFFFF"/>
                </a:solidFill>
              </a:rPr>
              <a:t>Spectral Databases, SPECCHIO, Metadata Architecture &amp; Course Capstone</a:t>
            </a:r>
            <a:endParaRPr lang="en-US" sz="2600" dirty="0"/>
          </a:p>
        </p:txBody>
      </p:sp>
      <p:sp>
        <p:nvSpPr>
          <p:cNvPr id="4" name="Text 2"/>
          <p:cNvSpPr/>
          <p:nvPr/>
        </p:nvSpPr>
        <p:spPr>
          <a:xfrm>
            <a:off x="731520" y="3474720"/>
            <a:ext cx="7772400" cy="1371600"/>
          </a:xfrm>
          <a:prstGeom prst="rect">
            <a:avLst/>
          </a:prstGeom>
          <a:noFill/>
          <a:ln/>
        </p:spPr>
        <p:txBody>
          <a:bodyPr wrap="square" rtlCol="0" anchor="ctr"/>
          <a:lstStyle/>
          <a:p>
            <a:pPr indent="0" marL="0">
              <a:buNone/>
            </a:pPr>
            <a:r>
              <a:rPr lang="en-US" sz="1100" dirty="0">
                <a:solidFill>
                  <a:srgbClr val="94A3B8"/>
                </a:solidFill>
              </a:rPr>
              <a:t>4 Teaching Hours • 1.5 ECTS Credits • Module 8 culminates the MSc curriculum by addressing spectral data management, institutional archiving, and the complete field-to-satellite synthesis. Students master the SPECCHIO spectral information system, analyzing relational database entities (campaigns, sensors, calibrations, measurement geometries, environmental sensors). The curriculum explores global spectral repositories (USGS, ECOSTRESS, JPL, RadCalNet), FAIR data principles, self-describing container formats (NetCDF-4, HDF5), and PostGIS spatial queries. The module concludes with the comprehensive Course Capstone Project integrating all 8 modules into an operational, peer-reviewed field validation campaign.</a:t>
            </a:r>
            <a:endParaRPr lang="en-US" sz="110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[Database] • SLIDE 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Challenge of Spectral Data Management in Geospatial Sciences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Decades of field spectroscopy campaigns often become unusable because raw binary files lack persistent, standardized metadata.</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Thousands of proprietary spectrometer binary files (.asd, .sig, .sed) scattered across research hard drives.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Loss of critical contextual metadata: Which fiber cable was used? What was the white reference panel serial number? Was it hazy?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Without relational metadata architecture, historical field spectra cannot be audited, shared, or re-calibrated.</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A field spectrum without documented calibration lineage and environmental metadata is not scientific data; it is noise.</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Hueni, A. et al. (2009). The spectral database SPECCHIO for improved data sharing and data analysis. Computers &amp; Geosciences.</a:t>
            </a:r>
            <a:endParaRPr lang="en-US" sz="75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[QualityAssurance] • SLIDE 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FAIR Data Principles in Spectroscopy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FAIR guidelines mandate that scientific data must be Findable, Accessible, Interoperable, and Reusable.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Findable: Assigned globally unique, persistent identifiers (DOIs) and rich indexed metadata.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Accessible: Retrievable via open, standardized communications protocols (REST APIs, SQL queries).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Interoperable: Uses standardized ontologies and open file formats (NetCDF, HDF5, CSV, JSON).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Reusable: Rigorous provenance, clear data usage licensing, and conformance to CEOS WGCV standards.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Wilkinson, M. D. et al. (2016). The FAIR Guiding Principles for scientific data management. Scientific Data, 3, 160018.</a:t>
            </a:r>
            <a:endParaRPr lang="en-US" sz="75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[Database] • SLIDE 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Architecture of the SPECCHIO Spectral Information System</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SPECCHIO is an open-source relational database designed specifically for storage and processing of spectroradiometer data.</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Developed by the University of Zurich and Remote Sensing Laboratories (RSL).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Relational schema: Decouples raw spectral data vectors from multidimensional sampling metadata.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Core entities: Campaigns, Sampling Locations, Targets, Spectral Vectors, Sensors, Calibration Files, Environmental Sensors.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Java desktop client, RESTful Web API, and native R / Python connector packages.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Hueni, A., Nieke, J., Schopfer, J., Kneubühler, M., &amp; Itten, K. (2009). Computers &amp; Geosciences, 35(4), 697-707.</a:t>
            </a:r>
            <a:endParaRPr lang="en-US" sz="75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[Database] • SLIDE 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SPECCHIO Entity-Relationship Model &amp; Provenance Tracking</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SPECCHIO models the complete measurement lineage from physical photons to calibrated reflectance.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Sensor Table: Serial numbers, detector array specifications, slit functions, and calibration history.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Calibration Table: Date-stamped radiometric responsivity files and white reference calibration certificates.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Measurement Geometry: Zenith angles, azimuth angles, sensor height, and calculated footprint area.</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Hierarchy: Campaign -&gt; Site -&gt; Plot -&gt; Station -&gt; Capture Group -&gt; Spectral Vector.</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Hueni, A. et al. (2012). Data exchange between distributed spectral databases. Computers &amp; Geosciences.</a:t>
            </a:r>
            <a:endParaRPr lang="en-US" sz="750"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[Database] • SLIDE 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Benchmark Global Spectral Libraries: USGS, ECOSTRESS &amp; JPL</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Authoritative international spectral libraries provide reference endmember signatures for material identification.</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USGS Spectral Library (Clark et al., 2007; Kokaly et al., 2017): &gt; 2,400 laboratory spectra of minerals, rocks, soils, vegetation, and manmade materials (0.2 to 200 µm).</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ECOSTRESS Spectral Library (Meerdink et al., 2019): Formerly ASTER library; comprehensive TIR and optical signatures.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JPL (Jet Propulsion Laboratory) Spectral Library: Pure mineralogical standards measured under laboratory conditions.</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When validating mineral field spectra, match absorption band centers against USGS certified mineral standards.</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Kokaly, R. F. et al. (2017). USGS Spectral Library Version 7. USGS Data Series 1035.</a:t>
            </a:r>
            <a:endParaRPr lang="en-US" sz="75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[QualityAssurance] • SLIDE 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CEOS WGCV Cal/Val Data Formatting Standards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Committee on Earth Observation Satellites defines mandatory data interchange standards for satellite calibration networks.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Metadata compliance: Strict parameter nomenclature for illumination and viewing geometry.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Associated uncertainties: Every spectral vector must include a paired standard uncertainty vector u(λ).</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Automated ingestion: REST API endpoints exchanging JSON/GeoJSON payload records.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Direct linkage to RadCalNet automated radiometric ground validation networks.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CEOS WGCV (2014). Quality Assurance Framework for Earth Observation: Field Spectrometry Protocol.</a:t>
            </a:r>
            <a:endParaRPr lang="en-US" sz="75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[Processing] • SLIDE 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Self-Describing Hierarchical Formats: NetCDF-4 and HDF5</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Modern field spectroscopy campaigns store high-volume multi-dimensional datasets in NetCDF-4 / HDF5 container formats.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Limitations of CSV: No standardized metadata headers; separated files lose context.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NetCDF-4 (Network Common Data Form): Combines multi-dimensional arrays (samples, bands, coordinates) with unlimited global metadata attributes.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CF (Climate and Forecast) Metadata Conventions: Standardizes coordinate reference systems, timestamps, and physical variable names.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Directly supported in Python (`xarray`, `netCDF4`), R (`ncdf4`), and QGIS.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Rew, R., &amp; Davis, G. (1990). NetCDF: An interface for scientific data access. IEEE Computer Graphics and Applications.</a:t>
            </a:r>
            <a:endParaRPr lang="en-US" sz="750"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[Processing] • SLIDE 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Automated Ingestion Pipelines: From Raw Spectrometer to Database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Automated Python/R loaders parse vendor binary formats, extract embedded EXIF metadata, and populate database tables.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FileReader module: Decodes ASD binary streams, SVC SIG ASCII, or Spectral Evolution SED files.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Header extraction: Reads internal GPS coordinates, integration time, detector temperatures, and operator text logs.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Quality gatekeeper: Automatically rejects saturated scans, scans with WR departure &gt; 1.5%, or scans outside SZA windows.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Database insertion: Commits clean records to relational SQL or document NoSQL backends with cryptographic MD5 hashes.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Hueni, A. et al. (2012). Computers &amp; Geosciences.</a:t>
            </a:r>
            <a:endParaRPr lang="en-US" sz="750"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[Database] • SLIDE 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Spatial Querying and SQL Integration: PostGIS for Field Spectra</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Pairing spectral databases with PostGIS spatial extensions enables multi-criteria spatial and spectral queries.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Spatial filtering: Query all spectra collected within 50 meters of an eddy covariance flux tower or within a Sentinel-2 tile.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Temporal filtering: Query all spectra acquired within ±30 minutes of a satellite overpass.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Spectral filtering: Query all vegetation spectra where NDVI &gt; 0.70 and Kaolinite absorption depth &lt; 0.05.</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Direct linkage to enterprise GIS platforms (QGIS, ArcGIS Pro) via spatial database connections.</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\text{SELECT * FROM spectra WHERE ST\_DWithin(geom, ST\_MakePoint(lon, lat), 50.0);}</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Obe, R. O., &amp; Hsu, L. S. (2015). PostGIS in Action (2nd ed.). Manning Publications.</a:t>
            </a:r>
            <a:endParaRPr lang="en-US" sz="750"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[Processing] • SLIDE 10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Spectral Resampling Engines: Satellite Sensor Convolution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Spectral resampling convolves continuous high-resolution field spectra to match discrete satellite multispectral bands.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Satellite sensors (Sentinel-2 MSI, Landsat-9 OLI, WorldView-3, PlanetScope) have distinct Spectral Response Functions (SRF).</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Spectral convolution integrates field radiance or reflectance weighted by the sensor SRF: R_band = (∫ R(λ) · SRF(λ) dλ) / (∫ SRF(λ) dλ).</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Enables direct quantitative cross-validation between ground truth and satellite pixel digital numbers.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Implemented natively in SPECCHIO, `hsdar` (R), and `pysptools` (Python).</a:t>
            </a:r>
            <a:endParaRPr lang="en-US" sz="1100" dirty="0"/>
          </a:p>
        </p:txBody>
      </p:sp>
      <p:sp>
        <p:nvSpPr>
          <p:cNvPr id="8" name="Shape 6"/>
          <p:cNvSpPr/>
          <p:nvPr/>
        </p:nvSpPr>
        <p:spPr>
          <a:xfrm>
            <a:off x="5486400" y="1737360"/>
            <a:ext cx="3108960" cy="1005840"/>
          </a:xfrm>
          <a:prstGeom prst="roundRect">
            <a:avLst>
              <a:gd name="adj" fmla="val 4545"/>
            </a:avLst>
          </a:prstGeom>
          <a:solidFill>
            <a:srgbClr val="EFF6FF"/>
          </a:solidFill>
          <a:ln w="12700">
            <a:solidFill>
              <a:srgbClr val="3B82F6"/>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1E40AF"/>
                </a:solidFill>
              </a:rPr>
              <a:t>MATHEMATICAL FORMULATION</a:t>
            </a:r>
            <a:endParaRPr lang="en-US" sz="850" dirty="0"/>
          </a:p>
        </p:txBody>
      </p:sp>
      <p:sp>
        <p:nvSpPr>
          <p:cNvPr id="10" name="Text 8"/>
          <p:cNvSpPr/>
          <p:nvPr/>
        </p:nvSpPr>
        <p:spPr>
          <a:xfrm>
            <a:off x="5577840" y="1993392"/>
            <a:ext cx="2926080" cy="411480"/>
          </a:xfrm>
          <a:prstGeom prst="rect">
            <a:avLst/>
          </a:prstGeom>
          <a:noFill/>
          <a:ln/>
        </p:spPr>
        <p:txBody>
          <a:bodyPr wrap="square" rtlCol="0" anchor="ctr"/>
          <a:lstStyle/>
          <a:p>
            <a:pPr indent="0" marL="0">
              <a:buNone/>
            </a:pPr>
            <a:r>
              <a:rPr lang="en-US" sz="1100" b="1" dirty="0">
                <a:solidFill>
                  <a:srgbClr val="1E3A8A"/>
                </a:solidFill>
                <a:latin typeface="Courier New" pitchFamily="34" charset="0"/>
                <a:ea typeface="Courier New" pitchFamily="34" charset="-122"/>
                <a:cs typeface="Courier New" pitchFamily="34" charset="-120"/>
              </a:rPr>
              <a:t>\rho_{\text{band}} = \frac{\int_{\lambda_1}^{\lambda_2} \rho_{\text{field}}(\lambda) \cdot \text{SRF}(\lambda) \, d\lambda}{\int_{\lambda_1}^{\lambda_2} \text{SRF}(\lambda) \, d\lambda}</a:t>
            </a:r>
            <a:endParaRPr lang="en-US" sz="11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Barsi, J. A. et al. (2014). Remote Sensing.</a:t>
            </a:r>
            <a:endParaRPr lang="en-US" sz="750"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[Processing] • SLIDE 11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Reproducible Research: Jupyter Notebooks &amp; R Markdown Workflows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Computational notebooks integrate executable code, equations, data visualizations, and explanatory text into audited scientific workflows.</a:t>
            </a:r>
            <a:endParaRPr lang="en-US" sz="1100" dirty="0"/>
          </a:p>
        </p:txBody>
      </p:sp>
      <p:sp>
        <p:nvSpPr>
          <p:cNvPr id="7" name="Text 5"/>
          <p:cNvSpPr/>
          <p:nvPr/>
        </p:nvSpPr>
        <p:spPr>
          <a:xfrm>
            <a:off x="548640" y="1737360"/>
            <a:ext cx="475488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Jupyter and R Markdown ensure complete scientific provenance: From raw field binary file ingestion to published figures.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Parameter transparency: Every threshold (e.g. S-G window size, continuum removal endpoints) is explicitly documented and version-controlled.</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Version control: Git and GitHub repositories enable collaborative code development and peer-review reproducibility.</a:t>
            </a:r>
            <a:endParaRPr lang="en-US" sz="1100" dirty="0"/>
          </a:p>
        </p:txBody>
      </p:sp>
      <p:sp>
        <p:nvSpPr>
          <p:cNvPr id="8" name="Shape 6"/>
          <p:cNvSpPr/>
          <p:nvPr/>
        </p:nvSpPr>
        <p:spPr>
          <a:xfrm>
            <a:off x="5486400" y="1737360"/>
            <a:ext cx="3108960" cy="1005840"/>
          </a:xfrm>
          <a:prstGeom prst="roundRect">
            <a:avLst>
              <a:gd name="adj" fmla="val 4545"/>
            </a:avLst>
          </a:prstGeom>
          <a:solidFill>
            <a:srgbClr val="FFFBEB"/>
          </a:solidFill>
          <a:ln w="12700">
            <a:solidFill>
              <a:srgbClr val="F59E0B"/>
            </a:solidFill>
            <a:prstDash val="solid"/>
          </a:ln>
        </p:spPr>
      </p:sp>
      <p:sp>
        <p:nvSpPr>
          <p:cNvPr id="9" name="Text 7"/>
          <p:cNvSpPr/>
          <p:nvPr/>
        </p:nvSpPr>
        <p:spPr>
          <a:xfrm>
            <a:off x="5577840" y="1783080"/>
            <a:ext cx="2926080" cy="182880"/>
          </a:xfrm>
          <a:prstGeom prst="rect">
            <a:avLst/>
          </a:prstGeom>
          <a:noFill/>
          <a:ln/>
        </p:spPr>
        <p:txBody>
          <a:bodyPr wrap="square" rtlCol="0" anchor="ctr"/>
          <a:lstStyle/>
          <a:p>
            <a:pPr indent="0" marL="0">
              <a:buNone/>
            </a:pPr>
            <a:r>
              <a:rPr lang="en-US" sz="850" b="1" dirty="0">
                <a:solidFill>
                  <a:srgbClr val="92400E"/>
                </a:solidFill>
              </a:rPr>
              <a:t>FIELD PROTOCOL NOTE</a:t>
            </a:r>
            <a:endParaRPr lang="en-US" sz="850" dirty="0"/>
          </a:p>
        </p:txBody>
      </p:sp>
      <p:sp>
        <p:nvSpPr>
          <p:cNvPr id="10" name="Text 8"/>
          <p:cNvSpPr/>
          <p:nvPr/>
        </p:nvSpPr>
        <p:spPr>
          <a:xfrm>
            <a:off x="5577840" y="1993392"/>
            <a:ext cx="2926080" cy="685800"/>
          </a:xfrm>
          <a:prstGeom prst="rect">
            <a:avLst/>
          </a:prstGeom>
          <a:noFill/>
          <a:ln/>
        </p:spPr>
        <p:txBody>
          <a:bodyPr wrap="square" rtlCol="0" anchor="ctr"/>
          <a:lstStyle/>
          <a:p>
            <a:pPr indent="0" marL="0">
              <a:buNone/>
            </a:pPr>
            <a:r>
              <a:rPr lang="en-US" sz="900" dirty="0">
                <a:solidFill>
                  <a:srgbClr val="78350F"/>
                </a:solidFill>
              </a:rPr>
              <a:t>Require students to submit their final MSc course capstone as a self-contained, reproducible notebook.</a:t>
            </a:r>
            <a:endParaRPr lang="en-US" sz="900" dirty="0"/>
          </a:p>
        </p:txBody>
      </p:sp>
      <p:sp>
        <p:nvSpPr>
          <p:cNvPr id="11" name="Text 9"/>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Perkel, J. M. (2018). Why Jupyter is data scientists’ computational notebook of choice. Nature, 563(7729), 145-147.</a:t>
            </a:r>
            <a:endParaRPr lang="en-US" sz="750"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[CaseStudy] • SLIDE 12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Field Spectroscopy in Spaceborne Hyperspectral Missions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 new golden era of spaceborne imaging spectroscopy (PRISMA, EnMAP, EMIT, CHIME, SBG) relies on ground field spectroscopy networks.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PRISMA (Italy, launched 2019): 240 bands (400–2500 nm), 30 m GSD.</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EnMAP (Germany, launched 2022): 242 bands, 30 m GSD, signal-to-noise ratio &gt; 500:1.</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EMIT (NASA / ISS, launched 2022): 285 bands mapping global mineral dust sources.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CHIME (ESA Copernicus) and SBG (NASA): Next-generation operational routine hyperspectral missions.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All missions maintain active ground cal/val networks requiring standardized field spectroscopy datasets.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Guanter, L. et al. (2015). The EnMAP imaging spectroscopy mission. Remote Sensing.</a:t>
            </a:r>
            <a:endParaRPr lang="en-US" sz="75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[CaseStudy] • SLIDE 13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Course Capstone: Designing an End-to-End Field Campaign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MSc capstone project synthesizes all 8 modules into an operational, peer-reviewed field validation campaign.</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Phase 1: Pre-field planning (Solar geometry calculation, SZA window determination, sample size N, RTK GPS grid design).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Phase 2: Laboratory instrument calibration and Spectralon verification against NIST standards.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Phase 3: Field execution (Two-person choreography, pyranometer illumination tracking, foreoptic footprint control, ISO metadata logging).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Phase 4: Laboratory preprocessing (Savitzky-Golay, continuum removal, GUM uncertainty budget).</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Phase 5: Satellite validation and PROSAIL RTM inversion (Publishing data to SPECCHIO / Zenodo with DOI).</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et al. (2009). Remote Sensing of Environment, 113, S92-S109.</a:t>
            </a:r>
            <a:endParaRPr lang="en-US" sz="750"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[QualityAssurance] • SLIDE 14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Course Synthesis: Core Principles of Field Spectroscopy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Mastery of optical physics, rigorous geometrical protocols, metrological traceability, and RTM modeling underpins modern Earth observation.</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1. Optical Physics: Respect radiometric units, Planck radiation, and atmospheric absorption windows.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2. Geometric Rigor: Restrict observations to SZA &lt; 50°, avoid hotspot retro-reflection, and eliminate operator cast shadows.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3. Metrological Integrity: Treat Spectralon panels with extreme care, re-acquire white references every 5 minutes, and quantify uncertainty.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4. Physics-Based Analysis: Combine statistical chemometrics (PLSR) with forward radiative transfer models (PROSAIL).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5. Data Preservation: Structure all datasets according to ISO 19115-2 and FAIR principles in spectral databases like SPECCHIO.</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Schaepman, M. E., Anderson, K., &amp; Gao, B. C. (2009). Progress in field spectroscopy. Remote Sensing of Environment, 113, S92-S109.</a:t>
            </a:r>
            <a:endParaRPr lang="en-US" sz="750"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[Database] • SLIDE 15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Open Data Repositories: Zenodo, PANGAEA &amp; Figshare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Long-term scientific archiving requires depositing final spectral datasets in citable, non-commercial repositories.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Zenodo (CERN / OpenAIRE): Issues permanent Digital Object Identifiers (DOIs), guarantees 20-year preservation.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PANGAEA: Specialized data publisher for earth &amp; environmental science, enforcing rigorous metadata curation.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Data citation: Enables tracking dataset re-use and citations in peer-reviewed scientific literature.</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Wilkinson, M. D. et al. (2016). Scientific Data, 3, 160018.</a:t>
            </a:r>
            <a:endParaRPr lang="en-US" sz="75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[QualityAssurance] • SLIDE 16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Building Automated Quality-Control Dashboards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Interactive web dashboards provide immediate visual feedback on campaign progress, spatial coverage, and spectral QA flags.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Real-time visualization of field spectra, SNR curves, and white reference check ratios.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Interactive Leaflet/Mapbox maps displaying GPS sampling tracks and sensor footprints.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Automated warning flags for SZA violations, detector splice steps, and saturated bands.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Hueni, A. et al. (2009). Computers &amp; Geosciences.</a:t>
            </a:r>
            <a:endParaRPr lang="en-US" sz="75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[QualityAssurance] • SLIDE 17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Exporting Presentations to Google Slides &amp; Educational Platforms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Academic workflows benefit from direct programmatic export of generated lecture modules to Google Slides and Workspace.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Google Slides REST API: Programmatically constructs slide decks with title, category badges, key takeaways, and academic citations.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Collaborative editing: Allows instructors and student research groups to annotate slides in real time.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Cloud storage: Directly archives presentations within institutional Google Drive workspaces.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Google Workspace Developer Documentation (2024). Google Slides API v1.</a:t>
            </a:r>
            <a:endParaRPr lang="en-US" sz="750"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[QualityAssurance] • SLIDE 18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Continuous Professional Development in Spectroscopy</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Graduates should engage with international professional bodies and community calibration working groups.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CEOS Working Group on Calibration and Validation (WGCV).</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IEEE Geoscience and Remote Sensing Society (GRSS).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NERC Field Spectroscopy Facility annual training workshops and instrument loan programs.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Coblentz Society: Conferences, standards committees, and educational resources.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Coblentz Society (2022). Education and Spectroscopy Standards.</a:t>
            </a:r>
            <a:endParaRPr lang="en-US" sz="75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[Processing] • SLIDE 19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Spectral Index Standardization: The Index DataBase (IDB)</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Index DataBase (IDB) catalog provides standardized mathematical definitions and sensor formulations for &gt; 300 spectral indices.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Maintained by University of Bonn: Searchable catalog covering vegetation, soil, water, snow, and burned area indices.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Sensor specific formulations: Maps generic indices (e.g. NDVI, NDWI) to specific band numbers of Sentinel-2, Landsat, and MODIS.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Prevents indexing ambiguities in peer-reviewed scientific publications.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Henrich, V. et al. (2012). The Index Database (IDB). University of Bonn.</a:t>
            </a:r>
            <a:endParaRPr lang="en-US" sz="750"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[QualityAssurance] • SLIDE 20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Ethical Guidelines &amp; Environmental Stewardship in Field Campaigns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Field researchers must practice Leave-No-Trace ethics, obtain landowner permissions, and respect protected ecological habitats.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Trampling minimization: Avoid establishing heavy foot trails across fragile alpine, peatland, or biocrust ecosystems.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Destructive sampling limits: Harvest only the minimum leaf biomass required for laboratory calibration.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Indigenous lands and permits: Secure institutional permits and respect traditional ecological stewardship.</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Leave No Trace Center for Outdoor Ethics (2020). Seven Principles of Leave No Trace.</a:t>
            </a:r>
            <a:endParaRPr lang="en-US" sz="750"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[Mathematics] • SLIDE 21</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Spectral Deconvolution: Gaussian and Lorentzian Peak Fitting</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Deconvolution decomposes complex composite absorption bands into constituent Gaussian and Lorentzian sub-bands.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Overlapping vibrational bands in SWIR (e.g. Al-OH and Fe-OH combinations) blend into single broad troughs.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Nonlinear least-squares fitting of Voigt or Gaussian profiles isolates individual absorption energies.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Reveals mineral solid solution series and lattice defect densities.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Sunshine, J. M. et al. (1990). Deconvolution of mineral absorption bands: An improved approach. JGR.</a:t>
            </a:r>
            <a:endParaRPr lang="en-US" sz="750"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[Processing] • SLIDE 22</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Imaging Spectroscopy Data Cubes: Spatial-Spectral Visualizations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3D hyperspectral data cubes contain two spatial dimensions (X, Y) and one contiguous spectral dimension (λ).</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Cube slicing: Extracting 2D spatial images at single wavelengths vs extracting 1D spectral curves at single spatial coordinates.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False-color composites: Mapping diagnostic spectral bands into Red, Green, and Blue color channels (e.g. CIR: NIR=Red, Red=Green, Green=Blue).</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Interactive cube inspection tools: ENVI, QGIS Crayfish/Spectral, and Python `hyperspy`.</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Richards, J. A. (2013). Remote Sensing Digital Image Analysis.</a:t>
            </a:r>
            <a:endParaRPr lang="en-US" sz="750"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[CaseStudy] • SLIDE 23</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Long-Term Ecological Monitoring Networks: NEON and ICOS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Automated tower-mounted spectrometers in NEON and ICOS networks provide decade-long continuous time series of canopy phenology.</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NEON (National Ecological Observatory Network, USA): Airborne Observation Platform (AOP) hyperspectral surveys paired with tower radiometry.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ICOS (Integrated Carbon Observation System, Europe): Continuous spectral radiometers tracking gross primary productivity and phenology.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Captures inter-annual climate impacts: Drought stress, spring green-up anomalies, and autumn senescence.</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Kampe, T. U. et al. (2010). NEON: Airborne observation platform for detecting continental-scale ecological change. SPIE.</a:t>
            </a:r>
            <a:endParaRPr lang="en-US" sz="75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[Protocol] • SLIDE 24</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Laboratory Protocol for Wet Chemistry Ground Truth</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Spectroscopic models are only as accurate as the laboratory wet chemistry used to calibrate them.</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Chlorophyll extraction: Spectrophotometric assay using 80% acetone or 96% ethanol and Lichtenthaler equations.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Nitrogen determination: Dumas high-temperature combustion or micro-Kjeldahl digestion.</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Quality control: Triplicate analytical replicates, certified laboratory reference standards, and blind blank samples.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Lichtenthaler, H. K. (1987). Chlorophylls and carotenoids: Pigments of photosynthetic biomembranes. Methods in Enzymology.</a:t>
            </a:r>
            <a:endParaRPr lang="en-US" sz="75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[CaseStudy] • SLIDE 25</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Spectroscopy in Planetary Exploration: Mars and Moon Analog Studies</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Terrestrial field spectroscopy is the primary tool for interpreting reflectance data from Mars rovers and lunar orbiters.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Mars 2020 Perseverance Rover: SuperCam and SHERLOC spectrometers analyzing Jezero Crater mineralogy.</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Terrestrial field analogs: Atacama Desert, Iceland basalt volcanic fields, and Antarctic dry valleys.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Field spectrometers validate detection of phyllosilicates, sulfates, and carbonates that indicate ancient water activity.</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Wiens, R. C. et al. (2021). The SuperCam instrument suite on the Mars 2020 rover: Body unit and combined system tests. Space Science Reviews.</a:t>
            </a:r>
            <a:endParaRPr lang="en-US" sz="750"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[Mathematics] • SLIDE 26</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Machine Learning vs. Physics-Based Models: A Philosophical Debate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The future of remote sensing lies in hybrid modeling: embedding physical laws (RTMs) directly into deep learning architectures.</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Pure Machine Learning: Flexible and fast, but prone to spurious correlations and catastrophic failure outside training domains.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Pure Physics (RTM): Universally valid and mechanistic, but computationally heavy and simplified (turbid assumptions).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Physics-Informed Neural Networks (PINNs): Loss functions penalize predictions that violate energy conservation or RTM equations.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Camps-Valls, G. et al. (2021). Physics-aware machine learning for Earth observation. Nature Reviews Earth &amp; Environment.</a:t>
            </a:r>
            <a:endParaRPr lang="en-US" sz="75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[QualityAssurance] • SLIDE 27</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Field Equipment Maintenance and Post-Season Storage</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Proper seasonal storage preserves spectrometer optical bench alignment and prevents detector mold degradation.</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Desiccant maintenance: Recharge instrument internal desiccant cartridges whenever indicator turns pink.</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Battery storage: Store lithium batteries at 50% state of charge (3.85V/cell) in fireproof containers at 15°C.</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Fiber storage: Never coil cables tighter than 30 cm diameter; install protective metal end caps on all optical connectors.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Annual recalibration: Schedule factory or certified metrology laboratory calibration every 12 months.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Analytical Spectral Devices (2012). FieldSpec Maintenance and Care Guide.</a:t>
            </a:r>
            <a:endParaRPr lang="en-US" sz="75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[QualityAssurance] • SLIDE 28</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Preparing Research Papers for Publication in Remote Sensing</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Peer-reviewed remote sensing journals enforce strict methodological reporting for field radiometry.</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Mandatory reporting checklist: Sensor model, foreoptic FOV, sensor height, SZA range, sky condition (AOD, clouds).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White reference panel serial number, calibration certificate date, and re-acquisition interval.</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Uncertainty statement: State whether reported reflectance is HCRF or BRF, and provide error bars / confidence ribbons.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Target journals: Remote Sensing of Environment (RSE), IEEE TGRS, ISPRS Journal, International Journal of Applied Earth Observation.</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et al. (2009). Remote Sensing of Environment.</a:t>
            </a:r>
            <a:endParaRPr lang="en-US" sz="75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[QualityAssurance] • SLIDE 29</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The AI Research Tutor: Interactive Learning &amp; Real-Time Q&amp;A</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Students can utilize the integrated AI Research Tutor powered by Gemini with deep academic reasoning for instant concept guidance.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Interactive inquiry: Ask complex questions regarding equations, calibration pitfalls, and code troubleshooting.</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Grounded in academic standards: Provides authoritative explanations citing Milton et al., Schaepman-Strub, and Jacquemoud.</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Code generation: Assists in customizing Python and R scripts for specific field instruments and experimental designs.</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Google DeepMind (2024). Gemini Models Technical Documentation.</a:t>
            </a:r>
            <a:endParaRPr lang="en-US" sz="75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548640" y="109728"/>
            <a:ext cx="8046720" cy="228600"/>
          </a:xfrm>
          <a:prstGeom prst="rect">
            <a:avLst/>
          </a:prstGeom>
          <a:noFill/>
          <a:ln/>
        </p:spPr>
        <p:txBody>
          <a:bodyPr wrap="square" rtlCol="0" anchor="ctr"/>
          <a:lstStyle/>
          <a:p>
            <a:pPr indent="0" marL="0">
              <a:buNone/>
            </a:pPr>
            <a:r>
              <a:rPr lang="en-US" sz="900" b="1" dirty="0">
                <a:solidFill>
                  <a:srgbClr val="34D399"/>
                </a:solidFill>
              </a:rPr>
              <a:t>MOD 8: Spectral Databases &amp; Capstone • [QualityAssurance] • SLIDE 30</a:t>
            </a:r>
            <a:endParaRPr lang="en-US" sz="900" dirty="0"/>
          </a:p>
        </p:txBody>
      </p:sp>
      <p:sp>
        <p:nvSpPr>
          <p:cNvPr id="4" name="Text 2"/>
          <p:cNvSpPr/>
          <p:nvPr/>
        </p:nvSpPr>
        <p:spPr>
          <a:xfrm>
            <a:off x="548640" y="347472"/>
            <a:ext cx="8046720" cy="411480"/>
          </a:xfrm>
          <a:prstGeom prst="rect">
            <a:avLst/>
          </a:prstGeom>
          <a:noFill/>
          <a:ln/>
        </p:spPr>
        <p:txBody>
          <a:bodyPr wrap="square" rtlCol="0" anchor="ctr"/>
          <a:lstStyle/>
          <a:p>
            <a:pPr indent="0" marL="0">
              <a:buNone/>
            </a:pPr>
            <a:r>
              <a:rPr lang="en-US" sz="1600" b="1" dirty="0">
                <a:solidFill>
                  <a:srgbClr val="FFFFFF"/>
                </a:solidFill>
              </a:rPr>
              <a:t>Module 8 Capstone &amp; Course Completion</a:t>
            </a:r>
            <a:endParaRPr lang="en-US" sz="1600" dirty="0"/>
          </a:p>
        </p:txBody>
      </p:sp>
      <p:sp>
        <p:nvSpPr>
          <p:cNvPr id="5" name="Shape 3"/>
          <p:cNvSpPr/>
          <p:nvPr/>
        </p:nvSpPr>
        <p:spPr>
          <a:xfrm>
            <a:off x="548640" y="960120"/>
            <a:ext cx="8046720" cy="640080"/>
          </a:xfrm>
          <a:prstGeom prst="roundRect">
            <a:avLst>
              <a:gd name="adj" fmla="val 7143"/>
            </a:avLst>
          </a:prstGeom>
          <a:solidFill>
            <a:srgbClr val="ECFDF5"/>
          </a:solidFill>
          <a:ln w="12700">
            <a:solidFill>
              <a:srgbClr val="10B981"/>
            </a:solidFill>
            <a:prstDash val="solid"/>
          </a:ln>
        </p:spPr>
      </p:sp>
      <p:sp>
        <p:nvSpPr>
          <p:cNvPr id="6" name="Text 4"/>
          <p:cNvSpPr/>
          <p:nvPr/>
        </p:nvSpPr>
        <p:spPr>
          <a:xfrm>
            <a:off x="731520" y="1005840"/>
            <a:ext cx="7680960" cy="548640"/>
          </a:xfrm>
          <a:prstGeom prst="rect">
            <a:avLst/>
          </a:prstGeom>
          <a:noFill/>
          <a:ln/>
        </p:spPr>
        <p:txBody>
          <a:bodyPr wrap="square" rtlCol="0" anchor="ctr"/>
          <a:lstStyle/>
          <a:p>
            <a:pPr indent="0" marL="0">
              <a:buNone/>
            </a:pPr>
            <a:r>
              <a:rPr lang="en-US" sz="1100" b="1" dirty="0">
                <a:solidFill>
                  <a:srgbClr val="065F46"/>
                </a:solidFill>
              </a:rPr>
              <a:t>CORE TAKEAWAY: Congratulations on completing Principles of Field Spectroscopy: You now command the full theoretical and practical discipline.</a:t>
            </a:r>
            <a:endParaRPr lang="en-US" sz="1100" dirty="0"/>
          </a:p>
        </p:txBody>
      </p:sp>
      <p:sp>
        <p:nvSpPr>
          <p:cNvPr id="7" name="Text 5"/>
          <p:cNvSpPr/>
          <p:nvPr/>
        </p:nvSpPr>
        <p:spPr>
          <a:xfrm>
            <a:off x="548640" y="1737360"/>
            <a:ext cx="8046720" cy="3474720"/>
          </a:xfrm>
          <a:prstGeom prst="rect">
            <a:avLst/>
          </a:prstGeom>
          <a:noFill/>
          <a:ln/>
        </p:spPr>
        <p:txBody>
          <a:bodyPr wrap="square" rtlCol="0" anchor="t"/>
          <a:lstStyle/>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You have mastered: Optical radiation physics, point spectroradiometer hardware, NIST calibration, outdoor sampling protocols, UAV imaging payloads, advanced spectral preprocessing, radiative transfer modeling, and spectral databases.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Proceed to execute your final Field Exercise Capstone and Automated Quizzes.</a:t>
            </a:r>
            <a:endParaRPr lang="en-US" sz="1100" dirty="0"/>
          </a:p>
          <a:p>
            <a:pPr marL="342900" indent="-342900">
              <a:lnSpc>
                <a:spcPts val="1800"/>
              </a:lnSpc>
              <a:buSzPct val="100000"/>
              <a:buChar char="•"/>
            </a:pPr>
            <a:r>
              <a:rPr lang="en-US" sz="1100" dirty="0">
                <a:solidFill>
                  <a:srgbClr val="1E293B"/>
                </a:solidFill>
                <a:latin typeface="Arial" pitchFamily="34" charset="0"/>
                <a:ea typeface="Arial" pitchFamily="34" charset="-122"/>
                <a:cs typeface="Arial" pitchFamily="34" charset="-120"/>
              </a:rPr>
              <a:t>Your rigorous data will calibrate the satellites that monitor our changing planet.</a:t>
            </a:r>
            <a:endParaRPr lang="en-US" sz="1100" dirty="0"/>
          </a:p>
        </p:txBody>
      </p:sp>
      <p:sp>
        <p:nvSpPr>
          <p:cNvPr id="8" name="Text 6"/>
          <p:cNvSpPr/>
          <p:nvPr/>
        </p:nvSpPr>
        <p:spPr>
          <a:xfrm>
            <a:off x="548640" y="4892040"/>
            <a:ext cx="8046720" cy="201168"/>
          </a:xfrm>
          <a:prstGeom prst="rect">
            <a:avLst/>
          </a:prstGeom>
          <a:noFill/>
          <a:ln/>
        </p:spPr>
        <p:txBody>
          <a:bodyPr wrap="square" rtlCol="0" anchor="ctr"/>
          <a:lstStyle/>
          <a:p>
            <a:pPr indent="0" marL="0">
              <a:buNone/>
            </a:pPr>
            <a:r>
              <a:rPr lang="en-US" sz="750" dirty="0">
                <a:solidFill>
                  <a:srgbClr val="64748B"/>
                </a:solidFill>
              </a:rPr>
              <a:t>References: Milton, E. J., Schaepman, M. E., Anderson, K., &amp; Gao, B. C. (2009). Progress in field spectroscopy. Remote Sensing of Environment, 113, S92-S109.</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249</Slides>
  <Notes>249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249</vt:i4>
      </vt:variant>
    </vt:vector>
  </HeadingPairs>
  <TitlesOfParts>
    <vt:vector size="2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Field Spectroscopy - Complete MSc Course (Modules 1-8)</dc:title>
  <dc:subject>PptxGenJS Presentation</dc:subject>
  <dc:creator>Principles of Field Spectroscopy - Master Curriculum</dc:creator>
  <cp:lastModifiedBy>Principles of Field Spectroscopy - Master Curriculum</cp:lastModifiedBy>
  <cp:revision>1</cp:revision>
  <dcterms:created xsi:type="dcterms:W3CDTF">2026-10-12T19:27:31Z</dcterms:created>
  <dcterms:modified xsi:type="dcterms:W3CDTF">2026-10-12T19:27:31Z</dcterms:modified>
</cp:coreProperties>
</file>
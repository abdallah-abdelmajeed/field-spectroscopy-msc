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6. Here we master the mathematical toolkit of chemometrics and spectroscopic feature extraction.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on the board how a moving average blunts a sharp Kaolinite doublet into an uninterpretable lump.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effect of increasing window size from 5 to 51 nm on the Chlorophyll red edge slope.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after SNV, every spectrum has a mean of 0.0 and a standard deviation of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MSC with SNV: MSC uses the population mean; SNV is purely sample-internal. Their results are mathematically very similar.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an agricultural grain flour spectrum before and after SNV-Detrend.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rubber-band analogy on the board: imagine stretching a rubber band tightly over the top of the spectral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Band Area scales linearly with chemical absorber concentration according to radiative transfer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Al-OH 2200 nm feature in pure muscovite vs phengite and how asymmetry shifts.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Warning: Taking a numerical derivative of raw noisy data amplifies high-frequency noise by 1/Δλ. Always smooth first!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red edge shift in leaves subjected to heavy metal stress vs healthy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saturation curve of broadband NDVI vs narrowband NDRE over a dense corn canopy.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three-band concept: 1/R(pigment) - 1/R(interfering) normalized by R(NIR).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diurnal PRI curves: drops sharply at midday as plants enter photo-inhibition, recovers in late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use 970 and 1240 nm rather than 1400 nm? Because 1400 nm saturates immediately and is blocked by atmosphere.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SWIR spectrum of dry wheat straw vs green wheat vs bare mineral soil.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mining geologists use these exact band ratios to map alteration zones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geometric intuition: Two spectra that have identical shapes but differ in brightness lie along the same vector ray (θ =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classification confusion matrices of SAM vs SID for discriminating 12 mineral species.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scree plot of eigenvalues and display false-color composites of PC1, PC2, and PC3.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MNF with PCA. Explain why MNF is the standard preprocessing step prior to spectral unmixing.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unmixing a mixed pixel containing 40% green leaf, 35% dry litter, and 25% bare soil.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multiple scattering photon trajectory through a 3D forest canopy to explain non-linear mixing.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VIP scores: Wavelengths with VIP &gt; 1.0 are considered statistically significant predictors.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an example of a 100-band noise dataset predicting a random coin flip with R² = 0.92 when overfitted with 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USGS mineral library database and the Tetracorder decision-tree logic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dry leaf spectra vs fresh leaf spectra in the 2100–2200 nm zone to demonstrate protein feature unmasking.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package dependencies and show the online documentation for hsdar and prospectr.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flowchart of an automated batch script processing 5,000 field spectra in under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preprocessing lecture, confirm understanding of continuum removal math, and introduce Lab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OF FIELD SPECTROSCOPY • GEO-MSc-704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Spectral Preprocessing, Continuum Removal &amp; Feature Extraction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Teaching Hours • 1.5 ECTS Credits • 30 Lecture Slides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equips MSc students with advanced mathematical and chemometric algorithms for preprocessing field spectra and extracting diagnostic biochemical and mineralogical features. The curriculum covers noise suppression via Savitzky-Golay polynomial convolution, scatter correction via Standard Normal Variate (SNV) and Multiplicative Scatter Correction (MSC), and the Clark &amp; Roush continuum removal algorithm. Students derive physical absorption metrics: band center, band depth, FWHM, and absorption band area. The module explores spectral derivatives (1st/2nd order, red edge inflection point REIP), narrow-band physiological indices (PRI, NDRE, CI_RE, NDWI, CAI), and dimensionality reduction via PCA, MNF, and Partial Least Squares Regression (PLSR).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[PROCESSING] • SLIDE 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Spectral Preprocessing &amp; Feature Extraction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Raw reflectance curves contain both diagnostic chemical absorption features and confounding multiplicative scatter noise.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scatter vs. Chemical absorption: Particle size, leaf internal cell anatomy, and surface roughness induce baseline shifts.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objective: Remove non-linear scattering and instrument noise while enhancing subtle molecular vibrational and electronic transitions.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methods: Smoothing, scatter correction (SNV, MSC), continuum removal, derivative spectroscopy, and narrow-band indices.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apply chemometric modeling (PLSR, Random Forest) directly to raw un-preprocessed field spectra.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Rinnan, Å. et al. (2009). Review of the most common pre-processing techniques for near-infrared spectra. TrAC Trends in Analytical Chemistry.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Suppression: Moving Average vs. Gaussian vs. Savitzky-Golay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Simple moving averages distort narrow absorption peak shapes; Savitzky-Golay filters preserve peak height, width, and area.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average: Replaces each point with the unweighted local mean; flattens sharp absorption peaks and widens FWHM.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filter: Applies Gaussian weights; still attenuates high-frequency peak tips.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Savitzky-Golay (1964): Fits a local polynomial of degree p across a moving window of 2m + 1 points using least-squares convolution coefficients.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y_j^* = \sum_{i=-m}^m c_i \cdot y_{j+i}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Savitzky-Golay convolution sum where c_i are precomputed least-squares polynomial coefficients.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Savitzky, A., &amp; Golay, M. J. (1964). Smoothing and differentiation of data by simplified least squares procedures. Analytical Chemistry.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Savitzky-Golay Parameter Optimization: Window Size &amp; Polynomial Degree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Selecting the optimal window length and polynomial order requires balancing noise removal against spectral feature distortion.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degree p: Typically quadratic (p=2) or cubic (p=3); higher degrees (p=4, 5) fit high-frequency noise.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size w = 2m + 1: Must be odd and smaller than the full width at half maximum (FWHM) of the narrowest diagnostic absorption feature.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window size exceeds absorption feature FWHM, the feature is systematically smoothed away.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In field spectroscopy with 1 nm sampling, w = 11 to 21 points (11 to 21 nm) with polynomial degree 2 or 3.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Schafer, R. W. (2011). What is a Savitzky-Golay filter? IEEE Signal Processing Magazine.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Normal Variate (SNV) Transformation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SNV centers and scales each individual spectrum independently, eliminating additive baseline offsets and multiplicative scaling effects.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 Barnes et al. (1989) for near-infrared diffuse reflectance spectroscopy of particulates.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shift: Caused by sample height variations and stray light.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Multiplicative scaling: Caused by particle size differences and optical path length changes.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SNV requires no reference or target set; it operates on a single spectrum row-by-row.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x_{ij}^{\text{SNV}} = \frac{x_{ij} - \bar{x}_i}{s_i}, \quad \bar{x}_i = \frac{1}{K}\sum_{k=1}^K x_{ik}, \quad s_i = \sqrt{\frac{1}{K-1}\sum_{k=1}^K (x_{ik} - \bar{x}_i)^2}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Normal Variate normalization for spectrum i at channel j across K wavelengths.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Barnes, R. J. et al. (1989). Standard normal variate transformation and de-trending of near-infrared diffuse reflectance spectra. Applied Spectroscopy.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Multiplicative Scatter Correction (MSC)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MSC separates light scattering from chemical absorption by regressing each spectrum against an ideal reference mean spectrum.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Formulated by Geladi et al. (1985).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that physical scatter linearly shifts and scales the entire spectrum relative to an average population spectrum.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Compute the mean spectrum x̄ across the entire calibration dataset.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Fit linear regression per spectrum: x_i = a_i + b_i · x̄ + e_i.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Correct spectrum: x_i^MSC = (x_i - a_i) / b_i.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x_i(\lambda) = a_i + b_i \cdot \bar{x}(\lambda) + e_i(\lambda) \implies x_i^{\text{MSC}}(\lambda) = \frac{x_i(\lambda) - a_i}{b_i}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linear scatter correction equation.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Geladi, P. et al. (1985). Linearization and scatter-correction for near-infrared reflectance spectra of meat. Applied Spectroscopy.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Detrending Algorithms: Removing Baseline Curvature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Detrending fits a second-order polynomial baseline to each spectrum, removing curvilinear drift caused by dense scattering.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applied immediately following SNV (SNV-Detrending pipeline).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for wavelength-dependent scattering that increases at shorter wavelengths (Rayleigh-Mie scatter curvature).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y = c₀ + c₁·λ + c₂·λ² to the SNV-transformed curve and subtracts the fitted curve.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Flattens spectral baselines to zero, highlighting discrete absorption bands.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Barnes, R. J. et al. (1989). Applied Spectroscopy.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Removal: The Convex Hull Concept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Continuum removal normalizes reflectance spectra to a common convex hull baseline, isolating true absorption band shapes.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Formalized by Clark &amp; Roush (1984) at USGS Spectroscopy Lab.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Continuum: An upper boundary convex hull that connects local reflectance maxima, representing background scattering without absorption.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definition: Smallest convex polygon enclosing all spectral points from above.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Continuum-removed reflectance: Ratio of original reflectance to the continuum value at each wavelength: R_cr(λ) = R(λ) / R_c(λ).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R_{\text{cr}}(\lambda) = \frac{R(\lambda)}{R_c(\lambda)} \quad \implies \quad 0.0 \le R_{\text{cr}}(\lambda) \le 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Continuum-removed reflectance is bounded between 0 (complete absorption) and 1 (on the continuum baseline).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Clark, R. N., &amp; Roush, T. L. (1984). Reflectance spectroscopy: Quantitative analysis techniques for remote sensing applications. JGR.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Continuum-Removed Diagnostic Parameters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Continuum-removed features yield quantitative physical parameters: Band Center, Band Depth, FWHM, and Absorption Area.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Center (λ_min): Wavelength corresponding to minimum continuum-removed reflectance (maximum absorption).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Depth (BD): Maximum absorption depth: BD = 1.0 - R_cr(λ_min).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Width at Half Maximum (FWHM): Width of the absorption feature where depth is half of BD: BD / 2.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Absorption Band Area: Numerical integral of (1.0 - R_cr(λ)) across the absorption interval.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\text{BD} = 1 - R_{\text{cr}}(\lambda_{\min}), \quad \text{Area} = \int_{\lambda_{\text{start}}}^{\lambda_{\text{end}}} \left(1 - R_{\text{cr}}(\lambda)\right) \, d\lambda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Depth and Band Area definitions for quantitative absorption feature characterization.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Clark, R. N. (1999). Manual of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Absorption Feature Asymmetry and Skewness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Absorption feature asymmetry reveals overlapping secondary absorption sub-bands and mineral solid solutions.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feature: The left half-width (λ_min - λ_left) equals the right half-width (λ_right - λ_min).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Asymmetry parameter: S = (λ_right - λ_min) / (λ_min - λ_left) or S = log((Area_right) / (Area_left)).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Kaolinite vs Halloysite: Asymmetry distinguishes disorder in the crystal lattice.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chlorophyll: Carotenoid absorption on the left wing (450–500 nm) creates strong negative asymmetry.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\text{Asymmetry} = \frac{\lambda_{\text{right, 0.5}} - \lambda_{\min}}{\lambda_{\min} - \lambda_{\text{left, 0.5}}}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of right to left half-width at half-maximum depth.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Van der Meer, F. (2004). Analysis of spectral absorption features. International Journal of Applied Earth Observation.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10/30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Derivatives: First and Second Order Formulations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Spectral derivatives eliminate baseline offsets (1st derivative) and linear slopes (2nd derivative), resolving overlapping peaks.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Derivative (dR/dλ): Measures spectral slope. Zero-crossings locate reflectance peaks and absorption troughs.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Derivative (d²R/dλ²): Measures curvature. Negative values identify local maxima; positive peaks identify absorption minima.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 computation: Implemented simultaneously with Savitzky-Golay polynomial differentiation to suppress noise amplification.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\frac{d R}{d\lambda} \approx \frac{R(\lambda_{i+1}) - R(\lambda_{i-1})}{2 \Delta\lambda}, \quad \frac{d^2 R}{d\lambda^2} \approx \frac{R(\lambda_{i+1}) - 2R(\lambda_i) + R(\lambda_{i-1})}{(\Delta\lambda)^2}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finite difference approximations for first and second derivatives.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Tsai, F., &amp; Philpot, W. (1998). Derivative analysis of hyperspectral data.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11/30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 Edge Inflection Point (REIP) Algorithms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REIP marks the maximum first-derivative slope between red chlorophyll absorption (680 nm) and the NIR plateau (750 nm).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Guyot &amp; Baret (1988) 4-band linear interpolation model.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Miller et al. (1990) inverted-Gaussian fitting model.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First-derivative peak detection: Finding the exact wavelength where dR/dλ reaches its maximum.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Chlorophyll increase causes the REIP to shift toward longer wavelengths ("red edge shift") due to saturation of the 680 nm band.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\lambda_{\text{REIP}} = 700 + 40 \cdot \left[ \frac{\frac{R_{670} + R_{780}}{2} - R_{700}}{R_{740} - R_{700}} \right]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Guyot &amp; Baret (1988) formulation for Red Edge Position from four spectral bands.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Guyot, G., &amp; Baret, F. (1988). Utilisation de la haute résolution spectrale pour suivre l'état des couverts végétaux. ESA SP-287.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12/30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Broadband vs. Narrowband Spectral Indices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Narrowband indices exploit specific 2–5 nm physical absorption features, avoiding saturation common in broadband indices.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Broadband indices (e.g. Landsat NDVI): Integrate 50–100 nm chunks; saturate rapidly at LAI &gt; 2.5 to 3.0.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Narrowband indices (hyperspectral): Select precise wavelengths on the red edge slope, xanthophyll cycle, or water overtones.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Edge NDVI (NDRE): Replaces red band with red edge band (705 nm), maintaining sensitivity at high biomass (LAI &gt; 6.0).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Gitelson, A. A., &amp; Merzlyak, M. N. (1994). Quantitative estimation of chlorophyll-a content in plant leaves using reflectance spectra. Journal of Photochemistry and Photobiology.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[PROCESSING] • SLIDE 13/30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Pigment Indices: Chlorophyll, Carotenoids &amp; Anthocyanins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Tailored band ratios isolate specific pigment pools without interference from overlapping absorption.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Chlorophyll Index Red Edge: CI_RE = (R780 / R710) - 1.0 (linear relationship with foliar chlorophyll content).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Chlorophyll Index Green: CI_Green = (R780 / R550) - 1.0.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Carotenoid Reflectance Index (CRI550): CRI = (1 / R510) - (1 / R550).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Anthocyanin Reflectance Index (ARI): ARI = (1 / R550) - (1 / R700).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\text{CI}_{\text{RE}} = \frac{R_{780}}{R_{710}} - 1, \quad \text{ARI} = \frac{1}{R_{550}} - \frac{1}{R_{700}}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Gitelson pigment indices based on reciprocal reflectance differences.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Gitelson, A. A. et al. (2006). Novel algorithms for remote estimation of vegetation fraction.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[PHYSICS] • SLIDE 14/30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Photochemical Reflectance Index (PRI) &amp; Xanthophyll Cycle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PRI tracks the rapid, reversible epoxidation of violaxanthin to antheraxanthin and zeaxanthin in the photosynthetic apparatus.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Xanthophyll cycle: Non-Photochemical Quenching (NPQ) dissipates excess absorbed photon energy as heat under stress.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Induces a subtle 0.2% to 0.5% absorption shift at 531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band at 570 nm is unaffected by xanthophyll interconversion.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 = (R531 - R570) / (R531 + R570): Directly correlates with light use efficiency (LUE) and diurnal photosynthetic stress.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\text{PRI} = \frac{R_{531} - R_{570}}{R_{531} + R_{570}}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Formulated by Gamon et al. (1992) for diurnal tracking of photosynthetic efficiency.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0" y="2880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926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77840" y="3136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high SNR instruments; changes in PRI are small and easily drowned out by instrument drift.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Gamon, J. A., Peñuelas, J., &amp; Field, C. B. (1992). A narrow-waveband spectral index that tracks diurnal changes in photosynthetic efficiency. RSE.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[PROCESSING] • SLIDE 15/30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Canopy Water Indices: WI, NDWI &amp; NDII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Water indices exploit weak water overtone absorption features at 970 nm and 1240 nm to retrieve canopy moisture.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Index (WI): WI = R900 / R970 (Peñuelas et al., 1993).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Difference Water Index (NDWI): NDWI = (R860 - R1240) / (R860 + R1240) (Gao, 1996).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Difference Infrared Index (NDII): NDII = (R860 - R1640) / (R860 + R1640).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estimates Equivalent Water Thickness (EWT [g/cm²]) and Fuel Moisture Content (FMC %).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\text{WI} = \frac{R_{900}}{R_{970}}, \quad \text{NDWI} = \frac{R_{860} - R_{1240}}{R_{860} + R_{1240}}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Formulations for foliar water overtone retrieval.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Gao, B. C. (1996). NDWI—A normalized difference water index for remote sensing of vegetation liquid water from space. RSE.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[PHYSICS] • SLIDE 16/30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Cellulose Absorption Index (CAI) &amp; Non-Photosynthetic Vegetation (NPV)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CAI quantifies dry plant litter, crop residue, and dead senescent vegetation using cellulose and lignin features in the SWIR.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residue and dry grass cannot be detected with NDVI because chlorophyll is gone.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Cellulose and lignin exhibit diagnostic doublet absorption features at 2100 nm and 2300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 = 0.5 · (R2000 + R2200) - R2100 (Daughtry, 2001).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monitoring conservation tillage, carbon sequestration, and wildfire fuel loads.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\text{CAI} = 100 \cdot \left[ 0.5 \cdot (R_{2000} + R_{2200}) - R_{2100} \right]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Cellulose Absorption Index formulated by Daughtry (2001).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Daughtry, C. S. (2001). Discriminating crop residues from soil by shortwave infrared reflectance. Agronomy Journal.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[PROCESSING] • SLIDE 17/30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Indices: Clay, Carbonate &amp; Iron Oxide Ratios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Narrowband SWIR band ratios differentiate clay species, carbonate rocks, and iron oxide alteration phases.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Al-OH Hydroxyl Index (Kaolinite/Muscovite): (R2160 / R2200).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Carbonate Index (Calcite/Dolomite): (R2340 / R2200).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Ferrous Iron Index: R1600 / R900.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Ferric Oxide Index (Hematite vs Goethite): R650 / R450 and 2nd derivative zero-crossings.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Ninomiya, Y. et al. (2005). Detecting lithology with advanced spaceborne thermal emission and reflection radiometer (ASTER). RSE.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18/30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Angle Mapper (SAM) &amp; Spectral Correlation Measure (SCM)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SAM treats spectra as vectors in N-dimensional space, measuring spectral angle θ independent of illumination brightness.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dot product: cos(θ) = (t · r) / (||t|| · ||r||).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angle θ is invariant to uniform illumination scaling (shadows or irradiance changes).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Correlation Measure (SCM): Computes Pearson correlation coefficient r between target and reference spectrum.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SCM standardizes spectra to mean 0, variance 1, making it robust against additive baseline offsets.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\theta(\mathbf{t}, \mathbf{r}) = \arccos\left( \frac{\sum_{i=1}^B t_i r_i}{\sqrt{\sum_{i=1}^B t_i^2} \sqrt{\sum_{i=1}^B r_i^2}} \right)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Angle Mapper angle in radians or degrees.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Kruse, F. A. et al. (1993). The spectral image processing system (SIPS)—Interactive visualization and analysis. RSE.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19/30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Information Divergence (SID)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SID models spectra as probability distributions and calculates spectral similarity using Kullback-Leibler information divergence.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Formulated by Chang (2000) based on Shannon information theory.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spectrum to a probability vector: p_i = x_i / Σ x_k.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relative entropy D(p || q) and symmetrizes: SID = D(p || q) + D(q || p).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sensitive to subtle narrow absorption feature differences than SAM.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\text{SID}(\mathbf{p}, \mathbf{q}) = \sum_{i=1}^B p_i \log\left(\frac{p_i}{q_i}\right) + \sum_{i=1}^B q_i \log\left(\frac{q_i}{p_i}\right)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Kullback-Leibler spectral information divergence.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Chang, C. I. (2000). An information-theoretic approach to spectral variability, similarity, and discrimination for hyperspectral imagery. IEEE TGRS.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20/30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Component Analysis (PCA) on Hyperspectral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PCA transforms hundreds of correlated spectral channels into an uncorrelated orthogonal subspace, concentrating variance.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Hyperspectral bands exhibit severe multicollinearity (&gt; 0.95 inter-band correlation between adjacent channels).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diagonalizes the spectral covariance matrix: C = V · Λ · Vᵀ.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3 to 5 Principal Components typically capture &gt; 98% of total spectral variance across the dataset.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 captures overall brightness/albedo; PC2 captures red-edge/pigment contrast; PC3 captures SWIR moisture/cellulose.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whitening: Higher-order PCs contain primarily random noise and can be truncated.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Richards, J. A. (2013). Remote Sensing Digital Image Analysis (5th ed.). Springer.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21/30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Noise Fraction (MNF) Transformation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MNF performs two cascaded PCA rotations: the first separates and whitens noise; the second concentrates signal-to-noise ratio.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PCA orders components by total variance, which can mistakenly elevate high-variance noise.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MNF (Green et al., 1988) orders components strictly by Signal-to-Noise Ratio (SNR).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an estimate of the noise covariance matrix (from dark scans or spatial shift differences).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 vs. Noise bands: Eigenvalues &gt;&gt; 1 contain coherent spatial/spectral signal; eigenvalues near 1 contain pure white noise.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Green, A. A. et al. (1988). A transformation for ordering multispectral data in terms of image quality with implications for noise removal. IEEE TGRS.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22/30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Spectral Mixture Analysis (LSMA) &amp; Endmember Extraction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Field footprints often mix multiple surface covers; LSMA decomposes mixed spectra into fractional abundances of pure endmembers.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mixture model: Mixed spectrum is the linear combination of pure endmembers weighted by their areal fractions: x = Σ f_k · e_k + ε.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constraints: Fully Constrained Least Squares (FCLS): Abundance Non-Negativity Constraint (f_k ≥ 0) and Sum-to-One Constraint (Σ f_k = 1).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Endmember extraction algorithms: Pixel Purity Index (PPI), N-FINDR, Vertex Component Analysis (VCA).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\mathbf{x} = \sum_{k=1}^P f_k \mathbf{e}_k + \boldsymbol{\varepsilon}, \quad \text{s.t.} \; f_k \ge 0 \; \text{and} \; \sum_{k=1}^P f_k =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Constrained Linear Spectral Mixture Model.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Adams, J. B., Smith, M. O., &amp; Gillespie, A. R. (1993). Imaging spectroscopy: Interpretation based on spectral mixture analysis. Remote Geochemical Analysis.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[PHYSICS] • SLIDE 23/30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Spectral Mixing in Vegetation Canopies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Multiple scattering between canopy leaves and background soil produces non-linear photon interactions that violate linear mixture models.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mixing assumes photons interact with only one surface component before entering the foreoptic.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dense canopies, transmitted NIR photons bounce between multiple leaf layers and soil before exitance.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Hapke intimate mixture model and bilinear models (Fan, Nascimento) account for multi-bounce interactions.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unmixing of vegetation canopies typically overestimates soil fraction if non-linear scattering is ignored.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Ray, T. W., &amp; Murray, B. C. (1996). Nonlinear spectral mixing in desert vegetation. RSE.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[MATHEMATICS] • SLIDE 24/30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Least Squares Regression (PLSR) in Spectroscopy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PLSR projects both predictor spectra (X) and target biochemical traits (Y) to latent variables, maximizing covariance.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Overcomes multicollinearity where ordinary least squares (OLS) regression completely fails.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vectors: Supervised decomposition that extracts features most predictive of foliar nitrogen, phosphorus, or LMA.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(k-fold or leave-one-out): Determines the optimal number of latent components to avoid overfitting.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Importance in Projection (VIP): Identifies which spectral wavelengths contribute most to the biochemical model.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Wold, S. et al. (2001). PLS-regression: a basic tool of chemometrics. Chemometrics and Intelligent Laboratory Systems.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[QUALITYASSURANCE] • SLIDE 25/30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&amp; Avoiding Overfitting in Chemometrics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With 2000 spectral predictor bands and 50 field samples, random correlation can produce spurious R² &gt; 0.95 without cross-validation.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Curse of Dimensionality: p &gt;&gt; n problem (more spectral bands than physical ground samples).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evaluate models on an independent holdout test set (e.g. 70% train / 30% test).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cross-validation: Split training and testing sets by geographic spatial blocks to avoid spatial autocorrelation leakage.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RMSE_CV (Cross-Validation Root Mean Square Error) and RPD (Ratio of Performance to Deviation).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report calibration R² alone; report validation R²_val and RMSE_val on truly independent sites.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Roberts, D. R. et al. (2017). Cross-validation strategies for data with spatial, temporal, hierarchical or phylogenetic structure. Ecography.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[CASESTUDY] • SLIDE 26/30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Spectral Feature Matching: USGS Tetracorder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USGS Tetracorder matches unknown field spectra against a reference spectral library using continuum-removed shape metrics.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 Roger Clark and USGS Spectral Lab team.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candidate features using continuum removal over diagnostic wavelength intervals.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weighted correlation coefficient, band depth, and asymmetry against &gt; 1000 laboratory reference minerals and plants.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automated mineral identification with quantitative confidence levels.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Clark, R. N. et al. (2003). Imaging spectroscopy: Earth and planetary remote sensing with the USGS Tetracorder and expert systems. JGR.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[CASESTUDY] • SLIDE 27/30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Foliar Nitrogen &amp; Protein Retrieval: The N-H SWIR Bands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Foliar nitrogen is bound primarily in Rubisco enzymes and photosynthetic proteins, producing diagnostic N-H absorption in SWIR.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leaf nitrogen (N %): Highly correlated with maximum carboxylation rate (Vcmax) and photosynthetic capacity.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N-H peptide bond absorption features: 1510 nm, 1680 nm, 2060 nm, and 2180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masked by liquid water in fresh leaves; continuum removal and first-derivative analysis isolate protein features.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PLSR models routinely achieve R² &gt; 0.85 for nitrogen retrieval across diverse plant functional types.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Kokaly, R. F. (2001). Investigating a physical basis for spectroscopic estimates of canopy nitrogen concentration. RSE.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[PROCESSING] • SLIDE 28/30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Spectral Processing Toolkits: Python &amp; R Ecosystem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The modern spectroscopic research workflow is built on open-source Python (pysptools, specdal, scikit-learn) and R (hsdar, prospectr).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`pysptools` (endmember extraction, unmixing), `specdal` (instrument readers, ASD batch processing), `scikit-learn` (PLSR, PCA, RF).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`hsdar` (hyperspectral data analysis, PROSAIL coupling, indices), `prospectr` (SNV, MSC, Savitzky-Golay, continuum removal).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fully scripted, reproducible, version-controlled scientific analysis pipelines.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Lehnert, L. W. et al. (2019). hsdar: Manage, analyze and simulate hyperspectral data in R. Package Vignette.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[QUALITYASSURANCE] • SLIDE 29/30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 Pipelines for Large Field Campaigns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Automated batch pipelines enforce consistent quality flags, dark current subtraction, and feature extraction across thousands of spectra.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pipeline architecture: Ingestion -&gt; Quality screening -&gt; Dark current subtract -&gt; White reference calibrate -&gt; Saturated band mask -&gt; Savitzky-Golay filter -&gt; Continuum removal -&gt; Feature extraction -&gt; Export to SPECCHIO / NetCDF.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logging of QA failure flags (e.g. WR departure &gt; 1.5%, SZA &gt; 50°).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repeatable re-processing when sensor calibration coefficients are updated.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Hueni, A. et al. (2009). Computers &amp; Geosciences.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6 • [PROCESSING] • SLIDE 30/30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Synthesis &amp; Preparing for Radiative Transfer Modeling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Preprocessing and feature extraction isolate fundamental physical and biochemical parameters from noisy outdoor spectra.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established: Savitzky-Golay smoothing, SNV, MSC, continuum removal convex hulls, band depths, derivatives, and spectral indices.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Module 7, we explore the forward physics: Radiative Transfer Models (RTMs) spanning leaf-level PROSPECT and canopy-level SAIL (PROSAIL) and look-up table inversion.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for Field Exercise 6: Collecting leaf and mineral spectra and executing continuum removal and band depth analysis.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Clark, R. N., &amp; Roush, T. L. (1984). JGR, 89(B7), 6329-6340.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31</Slides>
	<Notes>31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31</vt:i4></vt:variant>
		</vt:vector>
	</HeadingPairs>
	<TitlesOfParts>
		<vt:vector size="3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<vt:lpstr>Slide 17</vt:lpstr><vt:lpstr>Slide 18</vt:lpstr><vt:lpstr>Slide 19</vt:lpstr><vt:lpstr>Slide 20</vt:lpstr><vt:lpstr>Slide 21</vt:lpstr><vt:lpstr>Slide 22</vt:lpstr><vt:lpstr>Slide 23</vt:lpstr><vt:lpstr>Slide 24</vt:lpstr><vt:lpstr>Slide 25</vt:lpstr><vt:lpstr>Slide 26</vt:lpstr><vt:lpstr>Slide 27</vt:lpstr><vt:lpstr>Slide 28</vt:lpstr><vt:lpstr>Slide 29</vt:lpstr><vt:lpstr>Slide 30</vt:lpstr><vt:lpstr>Slide 31</vt:lpstr>
		</vt:vector>
	</TitlesOfParts>
	<Company>GEO-MSc-704 Earth Observation & Geo-Information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Advanced Spectral Preprocessing, Continuum Removal &amp; Feature Extraction</dc:title>
  <dc:subject>PptxGenJS Presentation</dc:subject>
  <dc:creator>Principles of Field Spectroscopy - MSc Curriculum</dc:creator>
  <cp:lastModifiedBy>Principles of Field Spectroscopy - MSc Curriculum</cp:lastModifiedBy>
  <cp:revision>1</cp:revision>
  <dcterms:created xsi:type="dcterms:W3CDTF">2026-10-12T19:27:31Z</dcterms:created>
  <dcterms:modified xsi:type="dcterms:W3CDTF">2026-10-12T19:27:31Z</dcterms:modified>
</cp:coreProperties>
</file>
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Module 5. We transition from stationary tripods to airborne drone imaging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3D data cube animation illustrating line-scan vs frame-sequential acquisition.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spectral band comparisons of MicaSense 5-band vs Headwall 270-band curves over the same leaf.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out a practical flight calculation: if GSD = 3 cm and frame rate = 100 Hz, maximum flight speed is 3.0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raw distorted "snake" pushbroom image before IMU trajectory correction and the clean orthorectified image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boresight pitch error of only 0.2° produces a 17 cm ground projection error from a flight altitude of 50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Agisoft Metashape and Pix4D workflows for multispectral radiometric calibration.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MicaSense DLS-2 sensor and discuss how its built-in magnetometer and orientation sensor correct for drone tilt.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why ELM remains the gold standard for UAV optical calibration: it eliminates atmospheric model uncertainties.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classic rolling shutter photo of a bent airplane propeller to explain why it destroys photogrammetric geometry.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an uncorrected multispectral mosaic with dark circular halos in every frame before vignetting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an unbalanced gimbal overheats its motor drivers and induces high-frequency micro-jitter.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 GSD for a 5.5 µm pixel pitch, 8 mm lens flown at 50 m AGL (GSD = 50 * 5.5e-6 / 8e-3 = 3.44 cm).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flight profile cross-section of a terrain-following flight vs a flat barometric flight.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full atmospheric radiative transfer codes like 6S/MODTRAN are usually overkill for low-altitude UAVs, whereas ELM is ideal.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this core trade-off: You cannot have 1 cm spatial resolution, 1 nm spectral resolution, and 1000:1 SNR simultaneously on a drone.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multispectral orthomosaic over an orchard where half the leaves are washed out white from sun glint.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photos of well-pinned tarps versus wrinkled, windblown tarps that ruined a drone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flight planning in software, showing overlap coverage heatmaps.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students through the radiometric calibration settings panel in Pix4Dmapper and Agisoft Metashape.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a 3D LiDAR canopy point cloud color-coded by hyperspectral chlorophyll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the legal liabilities of conducting university UAV research flights.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Calculate daily storage requirements for a 4-flight research campaign.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examples of poor orthomosaic stitching where tree crowns are smeared into blurred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Display the high-resolution vine segmentation mask and the resulting water stress prescription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classified forest map with individual delineated crowns color-coded by species.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geological false-color composite and mineral abundance maps from an abandoned copper mine.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multi-tier scaling pyramid diagram from leaf clip to space station sensor.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cutting-edge prototypes currently in academic flight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UAV lecture, address flight planning questions, and preview Practical Lab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OF FIELD SPECTROSCOPY • GEO-MSc-704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UAV-Based Imaging Spectroscopy &amp; Multispectral Payloads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Teaching Hours • 1.5 ECTS Credits • 30 Lecture Slides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02336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explores the operational and physical principles of airborne imaging spectroscopy deployed on Unmanned Aerial Vehicles (UAVs / drones). Students examine pushbroom (line-scan) spectrometers, 2D snapshot hyperspectral frame cameras, and multi-lens multispectral payloads (e.g. MicaSense RedEdge, DJI Mavic 3M, Headwall Nano-Hyperspec). The module covers direct georeferencing via tactical-grade GNSS/IMU integration, lever-arm and boresight calibration, rolling vs global shutter distortions, downwelling light sensors (DLS), lens vignetting correction, and the Empirical Line Method (ELM) using ground radiometric calibration tarps.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[INSTRUMENTATION] • SLIDE 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from Point Spectrometry to Drone Imaging Spectroscopy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UAV imaging spectroscopy bridges the spatial scaling gap between individual ground point spectra and satellite pixel grids.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spectrometers deliver exceptional spectral fidelity (&gt; 2000 contiguous bands) but lack continuous spatial context.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Unmanned Aerial Vehicles (UAVs / drones) provide centimetric ground sampling distance (GSD 1–5 cm) with hundreds of spectral channels.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mapping individual plant crowns, crop stress micro-heterogeneity, and sub-meter geological outcrops.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flights inherit aircraft attitude dynamics (roll, pitch, yaw) and vibration requiring high-grade IMU integration.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Aasen, H. et al. (2018). Quantitative remote sensing at ultra-high resolution with UAV photogrammetry and spectroscopy.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[INSTRUMENTATION] • SLIDE 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 of Hyperspectral Sensor Types: Pushbroom vs. Snapshot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Pushbroom sensors scan linear cross-track swaths over time; snapshot frame cameras capture full 2D spatial images instantaneously.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Pushbroom (Line-scan, e.g. Headwall Nano-Hyperspec, Corning microHSI): Entrance slit disperses light along a 2D focal plane array (one spatial axis, one spectral axis). Forward aircraft motion builds the 2D image.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Hyperspectral (e.g. Cubert UHD, Photonfocus): Captures 2D spatial dimensions (X, Y) and multiple spectral bands simultaneously in a single exposure.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Fabry-Perot Interferometer (FPI, e.g. Senop): Sequentially changes interferometer cavity gap to acquire spectral frames across time.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Adão, T. et al. (2017). Hyperspectral imaging: A review on UAV-based sensors, data processing and applications for agriculture and forestry.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[INSTRUMENTATION] • SLIDE 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Multispectral vs. Hyperspectral UAV Payloads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Multispectral sensors use discrete optical bandpass filters; hyperspectral sensors sample contiguous continuous narrow bands.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Multispectral (e.g. MicaSense RedEdge-P, DJI Mavic 3M): 5 to 10 broad bands (FWHM 10–40 nm) targeting key pigments and red edge.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Hyperspectral (e.g. Headwall, Resonon): 100 to 300+ contiguous narrow bands (FWHM 2–6 nm) resolving narrow absorption features.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Multispectral is lightweight, low-cost, and robust; hyperspectral is heavy, expensive, and demands complex georeferencing.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Multispectral sensors suffice for general NDVI and canopy vigor; hyperspectral is required for biochemical trait retrieval (nitrogen, carotenoids, lignin).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Zarco-Tejada, P. J. et al. (2012). High-resolution airborne hyperspectral imagery for assessing crop water stress. Agricultural and Forest Meteorology.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[PHYSICS] • SLIDE 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Pushbroom Image Cube Formation Physics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Pushbroom cameras project a single geographic line onto a 2D detector array, with one dimension recording space and the orthogonal dimension recording wavelength.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dimension: Line of N pixels across track (e.g. 640 or 1024 spatial pixels).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Spectral dimension: M spectral channels dispersed by an internal convex grating onto M rows of the array (e.g. 270 bands).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rate (fps): The drone must fly forward at an exact ground speed to produce square pixels on the ground without spatial stretching or compression.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V_{\text{drone}} = \text{GSD} \cdot f_{\text{frame}} = \left( \frac{h \cdot p}{f} \right) \cdot f_{\text{frame}}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flight speed V_drone as a function of ground sampling distance GSD and camera frame rate f_frame.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Headwall Photonics (2018). Nano-Hyperspec User and Integration Manual.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[INSTRUMENTATION] • SLIDE 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Georeferencing: GNSS/IMU Inertial Navigation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Pushbroom lines cannot be stitched using standard photogrammetry; each scan line requires position and orientation from an RTK GNSS/IMU.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individual pushbroom line is acquired at a unique microsecond in time with distinct aircraft roll, pitch, yaw, and altitude.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Applanix APX or SBG Ellipse tactical-grade Inertial Measurement Unit (IMU): Measures angular velocity and linear acceleration at 200–500 Hz.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Kalman Filter (EKF): Fuses dual-frequency RTK GNSS and IMU gyroscopes to achieve pitch/roll accuracy &lt; 0.03° and heading &lt; 0.08°.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fly pushbroom payloads with consumer-grade IMUs; uncorrected roll wiggles turn straight crop rows into oscillating sine waves.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Mostafa, M. M. R., &amp; Schwarz, K. P. (2000). A multi-sensor system for airborne mapping without ground control points. Photogrammetric Engineering &amp;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[QUALITYASSURANCE] • SLIDE 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Boresight and Lever-Arm Calibration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Physical offsets between GNSS antenna, IMU center of navigation, and camera focal point must be calibrated to sub-millimeter precision.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Lever-Arm Offset [ΔX, ΔY, ΔZ]: Physical vector between IMU center of navigation and camera optical entrance pupil.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Boresight Misalignment Angles [dRoll, dPitch, dYaw]: Angular rotation between the IMU coordinate axes and the camera optical frame.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flights: Flying reciprocal opposing flight lines over distinct sharp control targets (buildings, survey markers) resolves boresight angles.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\mathbf{r}_{\text{ground}} = \mathbf{r}_{\text{GNSS}} + \mathbf{R}_{\text{IMU}} \cdot \mathbf{l}_{\text{lever}} + s \cdot \mathbf{R}_{\text{IMU}} \cdot \mathbf{R}_{\text{boresight}} \cdot \mathbf{u}_{\text{pixel}}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direct georeferencing transformation equation.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Skaloud, J. (1999). Optimizing Direct Georeferencing of Airborne Mapping Systems. PhD Thesis, University of Calgary.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[PROCESSING] • SLIDE 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Structure-from-Motion (SfM) Photogrammetry for Multispectral Frame Cameras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Snapshot and multispectral frame cameras reconstruct 3D surface geometry and orthomosaics using bundle block adjustment.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Scale-Invariant Feature Transform (SIFT): Detects thousands of shared feature keypoints across overlapping photos.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overlap requirement: Multispectral mapping requires 75–85% forward overlap and 70–80% side overlap.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adjustment: Simultaneously solves camera interior orientation (focal length, lens distortion) and exterior poses.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3D Dense Point Cloud, Digital Surface Model (DSM), and radiometrically calibrated orthomosaic.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Westoby, M. J. et al. (2012). ‘Structure-from-Motion’ photogrammetry: A low-cost, effective tool for geoscience applications. Geomorphology.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[INSTRUMENTATION] • SLIDE 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Downwelling Light Sensors (DLS / Sunshine Sensors)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Upward-looking DLS sensors measure incident solar irradiance during flight to normalize image pixels for solar illumination drift.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 on the highest point of the UAV airframe with an unobstructed 180° hemispherical view of the sky.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spectral photodiode channels matched to the camera bands, equipped with cosine diffusers.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instantaneous solar irradiance for every captured image frame.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model: Reflectance = (Pixel Radiance / Downwelling Irradiance) · Calibration Scale.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Propeller shadows passing over the DLS sensor create massive periodic irradiance noise spikes. Mount DLS on an elevated mast.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MicaSense Inc. (2020). RedEdge-P and DLS-2 Integration and Calibration Guide.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[QUALITYASSURANCE] • SLIDE 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Empirical Line Method (ELM) with Ground Calibration Tarps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ELM establishes a linear regression between in-flight digital numbers (or at-sensor radiance) and ground-measured surface reflectance.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at least two (optimally three or four) large Lambertian calibration tarps in the flight area.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Tarps: Typically 3% (black), 24% (medium gray), 48% (light gray), and 84% (white) diffuse reflectance across 400–1000 nm.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Tarps must be measured on the ground during flight with a calibrated point spectroradiometer (ASD or SVC).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ELM regression: ρ(λ) = Gain(λ) · DN(λ) + Offset(λ), directly accounting for atmospheric path radiance and sensor gain.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\rho_i(\lambda) = m(\lambda) \cdot \text{DN}_i(\lambda) + b(\lambda)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Line Method linear transfer equation.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0" y="2880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926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577840" y="3136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Tarp size must span at least 5 to 10 image pixels to avoid mixed-edge adjacency effects.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Smith, G. M., &amp; Milton, E. J. (1999). The use of the empirical line method to calibrate remotely sensed data to reflectance. IJRS.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[INSTRUMENTATION] • SLIDE 10/30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Shutter vs. Global Shutter Distortions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Rolling shutters expose pixels line-by-line, causing severe "jello" geometric warping during UAV flight motion; global shutters are mandatory.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shutter: CMOS array reads out top-to-bottom sequentially over several milliseconds.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drone vibrations and forward velocity shear and warp objects within a single frame.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shutter: All photodiode wells open and close simultaneously, freezing the entire spatial scene instantaneously.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use consumer rolling-shutter cameras for precision quantitative radiometry.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Vautherin, J. et al. (2016). Photogrammetric accuracy and modeling of rolling shutter cameras on UAVs. ISPRS Annals.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[PROCESSING] • SLIDE 11/30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Optical Vignetting and Lens Falloff Correction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Optical vignetting causes image brightness to decay radial-symmetrically from the optical center toward the frame corners.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Cosine-fourth law of illumination: Off-axis image brightness drops with cos⁴(θ_lens).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vignetting: Lens barrel or filter rims physically obstructing peripheral light rays.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Calibration: Laboratory flat-field acquisition using an integrating sphere or uniform white light panel.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Vignetting lookup table (LUT): Multiplies corner pixels by inverse radial falloff polynomial V(r) = 1 + k₁·r² + k₂·r⁴.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I_{\text{corrected}}(x, y) = \frac{I_{\text{raw}}(x, y)}{V(r)}, \quad r = \sqrt{(x - x_0)^2 + (y - y_0)^2}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Radial flat-field vignetting normalization formula.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Kelcey, J., &amp; Lucieer, A. (2012). Sensor correction of a 6-band multispectral imaging sensor for UAV remote sensing.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[INSTRUMENTATION] • SLIDE 12/30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Gimbal Stabilization: 3-Axis Brushless Gimbals vs. Fixed Mounts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Active 3-axis brushless gimbals decouple camera orientation from aircraft buffeting, maintaining true nadir pointing.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High-torque brushless motors and dedicated IMU controllers compensate for drone roll, pitch, and yaw in milliseconds.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camera mounts inherit every tilt of the drone, causing footprint wander of ±15° during windy cross-tracks.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pushbroom imaging, gimbals maintain the scan line perpendicular to the flight path vector.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the gimbal mechanically with power OFF until the camera sits neutral in any orientation before powering motors.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Aasen, H. et al. (2018).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[MATHEMATICS] • SLIDE 13/30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Sampling Distance (GSD) &amp; Flight Altitude Math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Ground Sampling Distance represents the physical ground dimension represented by a single detector pixel.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GSD is governed by flight altitude h above ground level (AGL), camera focal length f, and sensor pixel pitch p.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altitude expands field coverage but degrades spatial resolution.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undulating terrain, GSD varies across the flight line unless terrain-following flight planning is utilized.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\text{GSD} = \frac{h \cdot p}{f} \iff h = \frac{\text{GSD} \cdot f}{p}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photogrammetric ground sampling distance equation.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Wolf, P. R. et al. (2014). Elements of Photogrammetry with Applications in GIS (4th ed.). McGraw-Hill.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[PROTOCOL] • SLIDE 14/30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Following Flight Planning with High-Resolution DEMs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Flying at fixed barometric altitude over hilly terrain causes massive variations in GSD and overlap, ruining orthomosaics.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Barometric altimeters maintain fixed height relative to takeoff point, not local ground level.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Flying over a 50m hill from a 80m takeoff drops true altitude to 30m, causing image overlap to plunge and risking terrain collision.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 following: Flight management software (e.g. UgCS, DJI Pilot) adjusts drone altitude dynamically using an onboard Digital Elevation Model (SRTM, LiDAR).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terrain DEM accuracy; outdated SRTM data may miss new quarry pits or tree canopy heights.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Nex, F., &amp; Remondino, F. (2014). UAV for 3D mapping applications: a review. Applied Geomatics.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[PHYSICS] • SLIDE 15/30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Path Radiance and Adjacency Effects at UAV Altitudes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At 50–120 m flight altitudes, atmospheric attenuation is small (&lt; 2–3%) but target adjacency and diffuse scattering still exist.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700 km satellites, UAVs operate beneath 99% of the atmospheric column.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Rayleigh scattering in the 50 m path is negligible (&lt; 0.5% in blue).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However, dense haze or dust plumes create significant path radiance.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Adjacency effect: Photons reflected from bright concrete borders scatter into adjacent dark vegetation pixels.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Bimonte, M. et al. (2021). Atmospheric correction of UAV hyperspectral data.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[PHYSICS] • SLIDE 16/30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Signal-to-Noise Ratio (SNR) in Airborne Imaging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Airborne imaging spectrometers suffer lower SNR than ground point sensors due to millisecond integration times and tiny pixel areas.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point spectrometer: Big entrance slit, large foreoptic, integration times 10–100 ms, SNR &gt; 1000:1.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pushbroom pixel: Tiny entrance slit, fast flight speed requiring integration times 2–5 ms, SNR often 100:1 to 300:1.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Binning (spatial and spectral): Summing adjacent pixels 2×2 or 4×4 boosts SNR at the expense of spatial or spectral resolution.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40AF"/>
                </a:solidFill>
              </a:rPr>
              <a:t>MATHEMATICAL FORMULATION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\text{SNR}_{\text{binned}} = \text{SNR}_0 \cdot \sqrt{N_{\text{pixels}}}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SNR scaling through hardware pixel binning.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Schaepman, M. E. (2007). Spectroradiometry—A review.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[PROTOCOL] • SLIDE 17/30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 Angle Restrictions &amp; Glint in UAV Surveys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UAV surveys over wet soils, rice paddies, or water bodies produce intense specular sun glint that saturates camera arrays.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 glint: Direct mirror reflection of the solar disk into the wide-angle camera lens.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Occurs when surface normal bisects the sun and sensor vectors (Snell-Fresnel specular geometry).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Polarized lens filters and off-nadir camera tilting (10°–15° away from solar azimuth) eliminate specular glint.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land, solar zenith angle must remain between 30° and 50° to avoid both deep tree shadows and extreme hotspot surge.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Suomalainen, J. et al. (2014). Direct reflectance measurements from drones.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[QUALITYASSURANCE] • SLIDE 18/30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Panel Deployment &amp; Ground Target Protocols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Calibration tarps must be maintained in pristine condition and pinned flat to prevent wind flutter and shadow folds.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tarps in an open, level area free from building or tree shadows throughout the flight.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tarp corners with tent pegs to eliminate wind billowing.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the center of each tarp with a calibrated field spectroradiometer at the exact moment the UAV passes overhead.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walk on or drag equipment across radiometric calibration tarps.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calibration tarps rolled around PVC cores; folding tarps creates permanent creases that cause micro-shadows.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Smith, G. M., &amp; Milton, E. J. (1999). International Journal of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[PROTOCOL] • SLIDE 19/30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Flight Mission Design &amp; Overlap Strategies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Mission geometry must guarantee consistent ground overlap, cross-track coverage, and adequate battery reserves.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lines: Parallel serpentine paths oriented perpendicular to prevailing wind to maintain steady ground speed.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overlap (along-track): 80% minimum for multispectral SfM matching in vegetated canopies.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overlap (cross-track): 75% minimum to prevent longitudinal stitching seams and gaps.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reserve: Plan flight duration to land with at least 25% battery capacity remaining.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Repetitive agricultural crops (wheat, maize) lack visual texture; insufficient overlap (&lt; 75%) causes photogrammetry alignment failure.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Aasen, H. et al. (2018).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[PROCESSING] • SLIDE 20/30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Radiometric Calibration Pipelines in Photogrammetry Suites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Modern photogrammetry suites (Agisoft Metashape, Pix4D) execute multi-stage radiometric calibration algorithms.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1: Read EXIF metadata (exposure time, ISO gain, sensor black level, calibration panel albedo).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2: DLS solar irradiance normalization frame-by-frame.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3: Lens vignetting and radial distortion removal.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4: Calibration panel optimization (ELM calibration factor calculation).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16-bit or 32-bit floating-point GeoTIFF reflectance orthomosaics scaled from 0.0 to 1.0.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Pix4D SA (2020). Radiometric Calibration of Multispectral Images Technical Guide.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[CASESTUDY] • SLIDE 21/30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Multi-Sensor Payloads: Thermal IR and LiDAR Co-Registration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Fusing hyperspectral imagery with concurrent UAV LiDAR and thermal infrared provides structural and physiological data.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LiDAR: Delivers 3D structural canopy height models (CHM), vertical vegetation density profiles, and exact ground terrain.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IR (e.g. FLIR Vue Pro R): Measures canopy surface kinetic temperature, revealing stomatal conductance and early water stress.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Hyperspectral: Delivers biochemical pigment concentrations (chlorophyll, carotenoids, nitrogen).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co-registration: Merging LiDAR point clouds with hyperspectral voxels creates true 3D hyper-spectral canopy models.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Zarco-Tejada, P. J. et al. (2013). Assessing vineyard water status with UAV thermal and hyperspectral imagery.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[QUALITYASSURANCE] • SLIDE 22/30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Regulatory Frameworks &amp; Airspace Safety Protocols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Scientific UAV operations require strict adherence to national civil aviation authorities (FAA Part 107, EASA Open/Specific Category).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Pilot-in-Command (PIC) certification: Mandatory commercial remote pilot licensing.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Line-of-Sight (VLOS): Drone must remain visible to the remote pilot without visual aids at all times.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altitude ceiling: Typically 120 m (400 ft) AGL to avoid manned general aviation airspace.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Pre-flight risk assessment: Failsafe return-to-home (RTH) programming, lost-link procedures, and emergency landing zones.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conduct a physical crew safety briefing and test RTH altitude settings before taking off.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FAA (2021). 14 CFR Part 107 — Small Unmanned Aircraft Systems. Federal Aviation Administration.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[QUALITYASSURANCE] • SLIDE 23/30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Volumes, Storage Architecture &amp; Field Compute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UAV hyperspectral surveys generate massive data volumes (50–200 GB per flight) requiring high-throughput field storage.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20-minute pushbroom flight collecting 100 frames/sec at 1024 spatial pixels × 270 bands generates ~35 GB of raw uncompressed data.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requirements: Fast NVMe solid-state drives (read/write &gt; 1500 MB/s) to offload flight cards quickly.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triage workstation: High-core laptop with GPU acceleration to inspect pushbroom track completeness before leaving the field.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737360"/>
            <a:ext cx="3108960" cy="1005840"/>
          </a:xfrm>
          <a:prstGeom prst="roundRect">
            <a:avLst>
              <a:gd name="adj" fmla="val 454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783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2400E"/>
                </a:solidFill>
              </a:rPr>
              <a:t>FIELD PROTOCOL NOTE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77840" y="199339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fly subsequent missions using the same SD card without verifying full hash-verified checksum backup.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Aasen, H. et al. (2018). Remote Sensing.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[QUALITYASSURANCE] • SLIDE 24/30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Assessment of UAV Orthomosaics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Systematic QA checks must verify radiometric uniformity, spatial resolution, and geometric positional accuracy.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Control Points (GCPs): Independent check points surveyed with RTK-GNSS must yield RMSE_xy &lt; 1–2 GSD.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Radiometric uniformity: Verify that no striping or brightness seams exist along flight line boundaries.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Ghosting and blur: Inspect moving vegetation in the mosaic for double edges or motion-blur artifacts caused by wind.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Turner, D. et al. (2012). An automated technique for generating georeferenced orthorectified mosaics from ultra-high resolution UAV imagery. IEEE TGRS.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[CASESTUDY] • SLIDE 25/30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Precision Viticulture Water Stress Mapping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Airborne multispectral imagery at 5 cm GSD isolates pure grapevine sunlit leaves from shaded soil and grass cover.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Vineyard challenge: Conventional 10m satellite pixels mix vine rows (30%), bare soil (50%), and inter-row weed grass (20%).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solution: 5 cm multispectral orthomosaic allows automated mask segmentation isolating 100% pure vine canopies.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Photochemical Reflectance Index (PRI) and CWSI (Crop Water Stress Index) retrieved from pure vine pixels correlate with leaf water potential (R² = 0.84).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Zarco-Tejada, P. J. et al. (2013).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[CASESTUDY] • SLIDE 26/30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Forest Canopy Biodiversity and Tree Species Classification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UAV hyperspectral imaging identifies tropical and temperate tree species by resolving subtle biochemical absorption signatures.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Tree Crown (ITC) delineation using high-resolution canopy height models.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of 150-band continuous spectral signatures per individual tree crown.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classification (Support Vector Machines, Random Forest) achieves &gt; 92% tree species identification accuracy.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Distinguishes ash, oak, beech, and birch based on red edge slopes and water overtone band depths.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Féret, J. B., &amp; Asner, G. P. (2013). Tree species discrimination in tropical forests using airborne imaging spectroscopy. IEEE TGRS.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[CASESTUDY] • SLIDE 27/30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Acid Mine Drainage &amp; Heavy Metal Soil Contamination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UAV pushbroom spectroscopy maps iron oxide mineralogy (hematite, goethite, jarosite) across mine tailings at sub-meter scale.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Acid mine drainage generates distinctive secondary iron sulfate and oxide precipitates.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Jarosite (diagnostic absorption at 430 nm and 2260 nm) indicates highly acidic conditions (pH &lt; 3).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Goethite (absorption at 480 nm and 900 nm) indicates neutralizing pH conditions.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mapping pinpoints active acid generation zones without hazardous foot sampling in toxic tailings ponds.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Swayze, G. A. et al. (2000). Using imaging spectroscopy to map acidic mine waste. Environmental Science &amp; Technology.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[CASESTUDY] • SLIDE 28/30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Cross-Scale Validation: Ground Point to Drone to Satellite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UAV imaging spectroscopy serves as the critical intermediate upscaling bridge validating spaceborne missions (PRISMA, EnMAP, EMIT).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(Ground): ASD point spectrometer characterizes leaf optics and calibration tarps with SI traceability.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(Airborne): UAV hyperspectral camera maps 1 km² area at 5 cm GSD, capturing full spatial variability.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(Spaceborne): Convolving UAV mosaic to 30m EnMAP/PRISMA pixels provides synthetic validation scenes with zero spatial error.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Kokaly, R. F. et al. (2009). Spectroscopic remote sensing for material identification and mapping. Remote Sensing of Environment.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[INSTRUMENTATION] • SLIDE 29/30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Sensor Horizons: Lightweight SWIR and Hyperspectral LiDAR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Miniaturized SWIR pushbroom cameras (1000–2500 nm) and hyperspectral LiDAR are opening revolutionary new observational dimensions.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SWIR on drones: Historically prohibited by weight (&gt; 10 kg); new compact InGaAs cameras weigh &lt; 1.8 kg.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airborne mineral mapping, cellulose/lignin detection, and microplastic identification on drones.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Hyperspectral LiDAR (Supercontinuum laser): Measures range and contiguous reflectance simultaneously, delivering illuminated spectra without solar shadows.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Hakala, T. et al. (2012). Full waveform hyperspectral LiDAR for remote sensing of vegetation. Optics Express.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 5 • [INSTRUMENTATION] • SLIDE 30/30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Synthesis &amp; Progression to Spectral Preprocessing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05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TAKEAWAY: UAV spectroscopy demands mastery of sensor physics, direct IMU georeferencing, ELM tarp calibration, and photogrammetry.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5 established: Pushbroom vs snapshot sensors, IMU trajectory synchronization, GSD math, ELM tarp calibration, and flight planning.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Module 6, we analyze spectral curves mathematically: Savitzky-Golay smoothing, SNV, continuum removal, derivatives, and spectral indices.</a:t>
            </a:r>
            <a:endParaRPr lang="en-US" sz="11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Preparation for Field Exercise 5: Conducting an airborne multispectral drone flight with ground calibration tarps and ASD validation.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References: Aasen, H. et al. (2018). Quantitative remote sensing with UAV spectroscopy. Remote Sensing.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31</Slides>
	<Notes>31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31</vt:i4></vt:variant>
		</vt:vector>
	</HeadingPairs>
	<TitlesOfParts>
		<vt:vector size="3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<vt:lpstr>Slide 12</vt:lpstr><vt:lpstr>Slide 13</vt:lpstr><vt:lpstr>Slide 14</vt:lpstr><vt:lpstr>Slide 15</vt:lpstr><vt:lpstr>Slide 16</vt:lpstr><vt:lpstr>Slide 17</vt:lpstr><vt:lpstr>Slide 18</vt:lpstr><vt:lpstr>Slide 19</vt:lpstr><vt:lpstr>Slide 20</vt:lpstr><vt:lpstr>Slide 21</vt:lpstr><vt:lpstr>Slide 22</vt:lpstr><vt:lpstr>Slide 23</vt:lpstr><vt:lpstr>Slide 24</vt:lpstr><vt:lpstr>Slide 25</vt:lpstr><vt:lpstr>Slide 26</vt:lpstr><vt:lpstr>Slide 27</vt:lpstr><vt:lpstr>Slide 28</vt:lpstr><vt:lpstr>Slide 29</vt:lpstr><vt:lpstr>Slide 30</vt:lpstr><vt:lpstr>Slide 31</vt:lpstr>
		</vt:vector>
	</TitlesOfParts>
	<Company>GEO-MSc-704 Earth Observation & Geo-Information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UAV-Based Imaging Spectroscopy &amp; Multispectral Payloads</dc:title>
  <dc:subject>PptxGenJS Presentation</dc:subject>
  <dc:creator>Principles of Field Spectroscopy - MSc Curriculum</dc:creator>
  <cp:lastModifiedBy>Principles of Field Spectroscopy - MSc Curriculum</cp:lastModifiedBy>
  <cp:revision>1</cp:revision>
  <dcterms:created xsi:type="dcterms:W3CDTF">2026-10-12T19:27:31Z</dcterms:created>
  <dcterms:modified xsi:type="dcterms:W3CDTF">2026-10-12T19:27:31Z</dcterms:modified>
</cp:coreProperties>
</file>
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Module 2, we study the physical hardware subsystems that convert incident photons into calibrated digital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physical instrument cutaway diagrams and compare the internal spectrometer optical benches.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students: Attaching a 1° or 8° foreoptic lens changes optical throughput and requires a new white reference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fragile inner structure of a fiber cable. Broken strands permanently reduce throughput and degrade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measure leaves with contact probe clamped for no more than 3–5 seconds to prevent thermal scorch.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diffraction order overlap can cause false signals in the NIR if filter transitions degrade.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quantum efficiency curve of silicon: peaks around 700–800 nm, drops sharply at 1000 nm.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why older spectrometers used liquid nitrogen cooled detectors; modern thermoelectric coolers made portable field radiometry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mechanical vulnerability of rotating scanning gratings with solid-state array designs.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Caution students: Just because a vendor exports data with 1 nm increments does not mean the optical resolution is 1 nm! ASD is 3 nm in VNIR, 8–10 nm in SWIR.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mathematical convolution of a hyperspectral curve with Sentinel-2 spectral response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what a clipped, flat-topped saturated spectrum looks like in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integration time scales linearly with counts in VNIR array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an uncorrected vegetation spectrum showing a prominent 5% jump at 1000 nm. Explain splice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averaging 25 spectra improves SNR by a factor of 5 (√25 = 5), while averaging 100 scans improves it by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rule of diminishing returns: moving from 25 to 100 scans quadruples measurement time but only doubles SNR.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dark current count spectrum across the 2151 channels, highlighting the difference between cooled and uncooled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stray light leads to underestimation of deep absorption feature depths if not mathematically calibrated.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built-in temperature logging in modern SVC and ASD instruments.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operational trade-offs: single-beam is simpler and lighter; dual-beam is essential in variable temperate climates like the 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photos of well-designed field boom arms versus sloppy handheld operator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microscopic porous structure of PTFE that creates almost perfect diffuse scattering through multiple internal refractions.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re-sand and clean a Spectralon panel according to Labsphere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measuring only leaf reflectance is insufficient to parameterize PROSPECT; leaf transmittance is equally 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field-portable integrating spheres (e.g. ASD RTS-3ZC, SVC LC-RP Pro).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why reflectance can be measured accurately in the field even if absolute radiometric calibration has decayed by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field horror stories of spending two hours hiking to a remote field site only to find dead batteries.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software GUI and highlight the key indicators students must watch during active data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geological cross-section and show how 500 point spectra mapped the entire hydrothermal alteration gradient.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hardware lecture, confirm understanding of detector bandgap limits and fiber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Point Spectroradiometers &amp; Hardware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deconstructs the internal physics, mechanical design, and electronic subsystems of commercial field spectroradiometers (ASD FieldSpec, SVC HR-1024, Spectral Evolution PSR+). Students analyze entrance foreoptics, fiber optic bundle numerical apertures, holographic diffraction gratings, order-sorting filters, and detector technologies spanning silicon photodiode arrays (VNIR) and thermoelectrically cooled InGaAs detectors (SWIR-1 and SWIR-2). The module details integration time optimization, dark current compensation, Spectralon reference standards, detector junction splice steps, and signal-to-noise ratio (SNR) modeling.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Point Spectroradiometers &amp;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Point spectroradiometers integrate entrance optics, fiber guides, dispersive elements, and multi-detector arrays to record contiguous spectral signatures.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spectrometer: Measures spectral radiance or irradiance integrated over a single spatially averaged field of view.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Contrasts with imaging spectrometers (hyperspectral cameras) which collect 2D spatial pixels simultaneously.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signal-to-noise ratio (SNR &gt; 1000:1) and rapid integration times (10 to 100 ms) make point sensors the benchmark for ground validation.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spectrometers are precision laboratory-grade optical instruments packaged for ruggedized field deployment.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Curtiss, B., &amp; Goetz, A. F. (1994). Field spectrometry: Techniques and instrumentation.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Benchmark Field Spectroradiometers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three leading commercial field instruments (ASD FieldSpec, SVC HR-1024, Spectral Evolution PSR+) share core tripartite architecture.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 FieldSpec 4 Hi-Res: Tri-detector architecture (VNIR Si-array + SWIR1 InGaAs + SWIR2 InGaAs), fiber optic cable with 57 quartz fibers.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HR-1024i: Internal high-resolution diffraction gratings, 1024 channels, dual internal cameras, GPS, and Bluetooth.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Evolution PSR-3500 / PSR+: Direct-mount foreoptics without fiber cables, reducing mechanical fiber bend noise.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(2014). Optimizing the use of field spectrometers.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Entrance Optics: Foreoptics &amp; Solid Angles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Foreoptics define the instrument's angular field of view (FOV), determining the spatial footprint and optical throughput.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Fiber: Typically ~25° full-angle cone (acceptance angle governed by numerical aperture of quartz fiber).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Restrictor Lenses: 1°, 4°, 8°, 10° barrel lenses reduce the FOV for small targets or tall canopy towers.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Receptor: Opal glass or PTFE diffuser with 180° (2π steradian) hemispherical collection for measuring downwelling irradiance.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= n \cdot \sin\theta_a = \sqrt{n_{\text{core}}^2 - n_{\text{cladding}}^2}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aperture (NA) of fiber optic cable dictates maximum acceptance half-angle θ_a.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Best Practice Manual for Field Spectroradiometry.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Bundles: Transmission &amp; Care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Fiber optic cables are brittle silica glass bundles vulnerable to micro-fractures, bend-loss, and mode-scrambling defects.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construction: High-purity anhydrous fused silica (low-OH) core to minimize internal hydroxyl absorption at 1400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bundle: Transmits light from the circular entrance slit to three separate internal spectrometer entrance slits.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bend attenuation: Bending the cable beyond minimum bend radius (&gt; 15 cm) induces transient transmission loss and calibration drift.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step on, twist, or clamp a spectrometer fiber cable. Secure the cable along the pistol grip with hook-and-loop straps.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(1987). Principles of field spectroscopy. International Journal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Probes and Plant Probes with Internal Halogen 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Contact probes eliminate outdoor solar fluctuations by providing constant artificial illumination under a sealed optical head.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Illumination: Low-noise quartz-tungsten-halogen (QTH) bulb operating at stabilized voltage.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clip / Plant probe: Holds leaves gently against low-reflectance black (or white) background backing without solar influence.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Enables reliable spectral measurements under cloudy skies, indoors, or at night.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Measures contact leaf optical properties, not canopy structure or BRDF.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 from high-intensity halogen contact probes can cause rapid desiccation of delicate leaves within seconds.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Doughty, C. E. et al. (2011). Foliar spectral traits in tropical trees.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[PHYSICS]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Dispersive Elements: Diffraction Gratings vs. Prisms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Reflective diffraction gratings disperse polychromatic light into angularly separated wavelengths via constructive interference.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 vs. Holographic Gratings: Holographic gratings produce minimal stray light and eliminate ghost spectra.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dispersion: Spatial separation of wavelengths along the detector plane: dx/dλ = f · m / (d · cos θ_m).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Diffraction orders: Order-sorting filters (long-pass or bandpass) are required to block overlapping second-order harmonics (e.g. 400 nm diffracted at 800 nm angle).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\cdot (\sin\alpha + \sin\beta) = m \cdot \lambda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Grating equation where d is groove spacing, α is incident angle, β is diffracted angle, and m is spectral order.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Palmer, C. (2020). Diffraction Grating Handbook (8th ed.). Newport Corporation.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Photodiode Arrays for VNIR Detection (350–1000 nm)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Silicon detectors operate on the internal photoelectric effect with high quantum efficiency in the visible and near-infrared.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512-element or 1024-element linear silicon NMOS/CMOS photodiode array.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bandgap energy Eg ≈ 1.12 eV at 300 K; limits long-wavelength detection cutoff to λ_cutoff = hc / Eg ≈ 1100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grating with no moving parts: All VNIR channels are exposed and read out simultaneously in milliseconds.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\lambda_{\text{cutoff}} = \frac{hc}{E_g} \approx \frac{1.24}{\text{Energy in eV}} \, [\mu\text{m}]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Bandgap cutoff limits the operational wavelength range of semiconductor detectors.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Sze, S. M. (2007). Physics of Semiconductor Devices. Wiley.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Indium Gallium Arsenide (InGaAs) Detectors for SWIR (1000–2500 nm)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InGaAs semiconductor alloys provide the sensitivity required to detect low-energy shortwave infrared photons.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InGaAs (In₀.₅₃Ga₀.₄₇As lattice-matched to InP substrate): Covers SWIR-1 (1000–1700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InGaAs: Graded ternary composition with lower bandgap (Eg ≈ 0.49 eV) covers SWIR-2 (1700–2500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Thermoelectric (Peltier) cooling to -10°C to -25°C to suppress thermal dark current generation.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the spectroradiometer 15–20 minutes warm-up time after powering on for the Peltier coolers to stabilize detector temperatures.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Rogalski, A. (2010). Infrared Detectors (2nd ed.). CRC Press.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Monochromator vs. Fixed Photodiode Array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Array spectrometers read all wavelengths concurrently; scanning grating instruments step sequentially with rotating galvanometers.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Spectrometer (e.g. ASD VNIR, SVC HR-1024): All spectral channels acquire simultaneously, freezing fast-moving cloud shadows.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Grating (e.g. ASD SWIR1 &amp; SWIR2): A high-speed oscillating galvanometer scans the spectrum across a single thermoelectrically cooled InGaAs point detector.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ASD FieldSpec 4 uses fast oscillating concave gratings: complete 350–2500 nm scan in 100 milliseconds.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Curtiss, B., &amp; Goetz, A. F. (1994). Field spectrometry techniques.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[MATHEMATICS]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Resolution vs. Spectral Sampling Interval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Resolution (FWHM) measures optical band-separation power; sampling interval is the wavelength spacing between reported data points.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Width at Half Maximum (FWHM): Width of the instrument response function (bandpass) at 50% peak transmittance.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Interval: Wavelength step between adjacent digital output channels (e.g., interpolated to 1.0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Nyquist sampling theorem: To avoid undersampling, spectral sampling interval must be at least FWHM / 2.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\Delta \lambda_{\text{FWHM}} \ge 2 \cdot \delta\lambda_{\text{sampling}}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for resolving adjacent narrow spectral absorption features without aliasing.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CEOS WGCV (2014). Quality Assurance Framework for Earth Observation: Field Spectrometry Protocol.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[PHYSICS]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Response Function (IRF) &amp; Slit Function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instrument slit function convolves monochromatic spectral lines into Gaussian-shaped instrument bandpasses.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monochromatic Dirac delta function δ(λ - λ₀) is mapped onto the detector as a Gaussian response function.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experimentally using narrow gas emission lamps (Mercury-Argon, Neon, Krypton).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resynthesizing satellite spectral bands (e.g. Sentinel-2 MSI, Landsat-9 OLI) from continuous field spectra.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S(\lambda) = \int_{-\infty}^{+\infty} L_{\text{true}}(\lambda') \cdot f_{\text{slit}}(\lambda - \lambda') \, d\lambda'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integral describing the observed spectrum S(λ) through the spectrometer slit function.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Barsi, J. A. et al. (2014). The spectral response functions of Landsat-8 Operational Land Imager.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Analog-to-Digital Conversion (ADC) &amp; Dynamic Range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ADC converts photo-generated analog voltage into discrete Digital Numbers (DN) with finite quantization resolution.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ADC provides 2¹⁶ = 65,536 discrete quantization levels (0 to 65535 counts).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range must accommodate both bright 99% Spectralon panels in full sun and dark water bodies (&lt; 2% reflectance).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Saturation: When incident photon flux generates voltage exceeding the maximum ADC reference voltage, counts peg at 65535.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\text{Dynamic Range [dB]} = 20 \cdot \log_{10}\left(\frac{\text{Full Well Capacity}}{\text{Readout Noise}}\right)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ratio between the maximum detectable signal and the noise floor.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2880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record data with peak counts exceeding 85–90% of maximum ADC capacity to preserve headroom for solar bursts.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Holst, G. C. (2011). CCD Arrays, Cameras, and Displays. JCD Publishing.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[PROTOCOL]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Time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Integration time (exposure time) must be dynamically optimized on the white reference panel before scanning targets.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time governs the duration charges accumulate on the photodiode capacitors before readout.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short: Low signal-to-noise ratio, dominated by quantization and readout noise.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long: Signal saturation (&gt; 65535 counts), corrupting reflectance ratios.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optimum: Set integration time so peak white reference signal sits between 70% and 85% of saturation (~45,000 counts on 16-bit).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auto-integration optimization whenever solar zenith angle changes by &gt; 5° or cloud conditions shift.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ASD Inc. (2010). FieldSpec 4 User Manual. Analytical Spectral Devices.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[PROCESSING]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Junction Steps / Jumps at 1000 nm &amp; 1800 nm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Transitions between separate physical detectors create artificial discontinuities (splices) in raw spectral curves.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 FieldSpec employs three separate physical gratings/detectors: VNIR (350–1000 nm), SWIR-1 (1001–1800 nm), and SWIR-2 (1801–2500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strands feeding the three spectrometers have slight spatial misalignments, seeing slightly different target footprints.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shifts cause different dark current drifts between silicon and InGaAs arrays.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characteristic "steps" or "jumps" at exactly 1000 nm and 1800 nm.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correction algorithms mathematically adjust the SWIR1 and SWIR2 offsets to match the VNIR reference channel.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Dorigo, W. et al. (2006). A new sensor for vegetation reflectance measurements.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[PHYSICS]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Signal-to-Noise Ratio (SNR) Physics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SNR quantifies spectral measurement precision; it is wavelength-dependent and peaks in the VNIR, dropping in atmospheric absorption bands.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= Mean Signal (S) / Standard Deviation of Noise (σ_N).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sources: Shot noise (Poisson statistics of photon arrival), Thermal dark noise, Readout noise, Digitization noise.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noise scales with the square root of signal: SNR_shot = S / √S = √S.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\text{SNR}(\lambda) = \frac{\mu_S(\lambda)}{\sigma_N(\lambda)} \propto \sqrt{N_{\text{photons}}} \propto \sqrt{t_{\text{integration}} \cdot N_{\text{scans}}}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improves with the square root of the number of averaged scans.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Bevington, P. R., &amp; Robinson, D. K. (2003). Data Reduction and Error Analysis for the Physical Sciences. McGraw-Hill.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[PROTOCOL]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Averaging in Field Environments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Averaging multiple consecutive scans suppresses random gaussian noise while preserving deterministic spectral signatures.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operational protocol: Average 10 to 30 individual scans per stored sample spectrum.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current averaging: 25 to 50 scans for a noise-free dark offset subtraction.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reference averaging: 20 to 40 scans to ensure high-precision reference denominator.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averaging: 15 to 30 scans balanced against target movement and solar drift.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wind causes canopy swaying, higher scan averaging blurs the signal across varying leaf angles.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Standard Operating Procedures.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[PHYSICS]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Current: Physics and Generation Mechanisms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Dark current is thermal electron-hole pair generation in the semiconductor depletion region occurring in complete darkness.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current is strongly temperature dependent, doubling approximately every 6°C to 8°C in silicon and InGaAs.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current must be measured with an internal optical shutter closed and subtracted from every subsequent measurement.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Uncorrected dark current drift introduces a systematic positive offset that distorts low-reflectance targets (e.g. water, shadow).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I_{\text{dark}}(T) = A \cdot T^2 \cdot \exp\left(-\frac{E_g}{2 k_B T}\right)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Shockley-Read-Hall generation rate in semiconductor p-n junctions.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Sze, S. M. (2007). Physics of Semiconductor Devices.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 Light &amp; Optical Cross-Talk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Scattered photons reflecting off internal spectrometer walls contaminate adjacent detector pixels, degrading spectral purity.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 light: Radiation of unwanted wavelength reaching a detector channel due to imperfect grating diffraction or wall scatter.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severe in deep absorption bands (e.g. O₂ A-band at 760 nm or water bands) where true signal is near zero.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using specialized stray light matrices calibrated with laser emission lines or cutoff filters.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Zong, Y. et al. (2006). Simple method for stray-light correction on array spectroradiometers. Applied Optics, 45(6), 1111-1119.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[QUALITYASSURANCE]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Sensitivity and Thermal Drift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Field ambient temperatures fluctuating from 15°C morning to 35°C afternoon induce internal mechanical and optical shifts.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expansion of optical bench alters diffraction grating angles and focal plane alignment (sub-nanometer wavelength drift).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InGaAs detector responsivity shifts with temperature, especially near bandgap cutoff boundaries.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Continuous monitoring of internal instrument thermistors and frequent white reference / dark current re-acquisitions.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spectrometer body in the shade when operating in hot desert or summer environments.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(2007). A field procedure to compensate for temperature drift in portable spectrometers. NERC FSF.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Single-Beam vs. Dual-Beam Field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Dual-beam instruments record target radiance and downwelling irradiance simultaneously, canceling temporal solar fluctuations.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Single-beam (Standard ASD/SVC): One optical head alternates sequentially between White Reference panel and target.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Dual-beam (e.g. Dual ASD, PP-Systems, Unispec-DC): Two intercalibrated channels measure white reference / cosine diffuser and target at the exact same millisecond.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Dual-beam eliminates error from moving clouds, but introduces complex inter-channel sensor cross-calibration challenges.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dual-beam setups, exchange fiber heads periodically over the reference panel to track inter-channel drift.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Progress in field spectroscopy.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[PROTOCOL]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Pistol Grips, Mounting Rigs and Tripods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Rigid mechanical mounting eliminates operator hand-tremor, maintains nadir viewing geometry, and sets fixed sensor heights.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pistol grip: Convenient for rapid surveys, but prone to operator zenith tilt and operator shadow artifacts.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Counterbalanced boom tripod: Holds foreoptic 2 to 3 meters away from the operator and metal legs, minimizing adjacency shadows.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bubble levels and laser pointers: Ensure precise nadir alignment (θ_r = 0°) and target center verification.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the bubble level before triggering every scan. A 10° tilt completely invalidates BRDF assumptions.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Operations Manual.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[QUALITYASSURANCE]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Spectralon® White Reference Reflectance Standards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Sintered polytetrafluoroethylene (PTFE) provides &gt; 99% diffuse Lambertian reflectance from 350 to 1600 nm (&gt; 95% to 2500 nm).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by Labsphere: Porous, sintered thermoplastic with isotropic bulk volume scattering.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thermal and chemical stability; impervious to water (hydrophobic).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by NIST with a calibration certificate listing exact spectral reflectance factors at 50 nm intervals.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 the active white surface of a Spectralon panel with bare fingers or let dust accumulate.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Labsphere Inc. (2018). Spectralon Diffuse Reflectance Standards and Targets Technical Guide.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[QUALITYASSURANCE]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Reference Degradation and Contamination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Panel contamination by skin oils, dust, and UV photochemical yellowing degrades short-wavelength reflectance.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Hydrocarbon contamination (fingerprints, volatile organics) creates deep C-H absorption bands in the SWIR (1200, 1720, 2300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solarization causes yellowing, dropping blue/UV reflectance from 99% down to 92%.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contaminated reference panel makes targets appear artificially high in reflectance (apparent reflectance &gt; 100%).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reference panels in clean desiccated cases and clean annually with waterproof emery sandpaper under deionized water.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(2012). The calibration and characterization of field spectrometers. NERC FSF.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Transmittance &amp; Absorbance Measurement Modes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Spectroradiometers can measure transmittance (T) and absorbance (A) in addition to reflectance using specialized accessories.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Transmittance: Attaching an integrating sphere allows measurement of total directional-hemispherical transmittance of single leaves.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Absorbance: A = 1 - R - T (by conservation of energy in non-scattering systems).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calibrating leaf radiative transfer models like PROSPECT which require both leaf reflectance (ρ) and transmittance (τ).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A(\lambda) + R(\lambda) + T(\lambda)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law of thermodynamics applied to radiant energy conservation.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S., &amp; Ustin, S. L. (2019). Leaf Optical Properties. Cambridge University Press.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Spheres in Field Spectroscopy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Integrating spheres collect all scattered light across the entire 4π or 2π hemisphere, enabling pure hemispherical measurements.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Hollow sphere coated internally with highly reflective diffuse Spectralon or Zenith coating.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internal diffuse reflections homogenize radiation uniformly over the inner wall area.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directional-hemispherical reflectance factor (DHRF) and directional-hemispherical transmittance factor (DHTF).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Labsphere Inc. (2015). Integrating Sphere Theory and Applications.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[PROCESSING]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Files &amp; Raw Digital Numbers to Radiance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Conversion from raw digital numbers to physical spectral radiance requires the instrument calibration coefficient file.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instrument possesses a factory-calibrated responsivity vector: R_cal(λ) [DN / (W m⁻² sr⁻¹ nm⁻¹)].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Radiance: L(λ) = (DN(λ) - DN_dark(λ)) / (t_int · R_cal(λ)).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computing relative reflectance against a white reference, R_cal(λ) cancels out in the ratio, which is why reflectance is robust against absolute calibration drift.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\rho(\lambda) = \frac{L_{\text{target}}(\lambda)}{L_{\text{ref}}(\lambda)} \cdot \rho_{\text{ref}}(\lambda) = \frac{\frac{\text{DN}_{\text{t}} - \text{DN}_{\text{d}}}{t_{\text{int,t}} \cdot R_{\text{cal}}}}{\frac{\text{DN}_{\text{r}} - \text{DN}_{\text{d}}}{t_{\text{int,r}} \cdot R_{\text{cal}}}} \cdot \rho_{\text{ref}}(\lambda)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of absolute responsivity R_cal in the reflectance ratio calculation.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(1987). International Journal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[QUALITYASSURANCE]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Systems, Battery Care &amp; Thermal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Stable battery voltage is crucial to avoid baseline electronic shifts in Peltier cooling and InGaAs detector amplifiers.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iron phosphate (LiFePO4) or high-capacity lithium-ion field battery packs.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drops below operating threshold induce subtle noise spikes and premature instrument shutdown.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carry at least two fully charged spare batteries and an in-field 12V DC vehicle charging adapter.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weather (&lt; 5°C) reduces lithium battery capacity by up to 40%; keep spare batteries inside thermal jackets.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Operational Field Guide.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Interfaces: RS3, SVC PC, and SAMS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Instrument control software handles auto-integration, dark current acquisition, spectral logging, and real-time QA displays.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 RS3 / Indico Pro: Real-time graphical display of DN, radiance, and reflectance; automated splice correction.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PC Software: Manages Bluetooth telemetry, automated camera integration, and internal file conversions.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 (Simple Automated Measurement Software): Open-source automated field spectroscopy collection suite.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Analytical Spectral Devices (2012). RS3 User Manual.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[CASESTUDY]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Point Spectrometry in Mineral Exploration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Point spectroscopy in the Atacama desert demonstrates rapid mineral mapping of hydrothermal alteration zones.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Hydrothermal porphyry copper deposits exhibit concentric alteration halos: potassic, phyllic, argillic, propylitic.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spectroradiometers identify white mica Al-OH composition shifts (2198 nm sodic paragonite vs 2206 nm potassic muscovite vs 2220 nm phengite).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shifts correlate directly with paleofluid temperatures and proximity to ore bodies.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Thompson, A. J. B. et al. (1999). Alteration mapping in exploration: application of short-wave infrared (SWIR) spectroscopy. SEG Newsletter.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2 • [INSTRUMENTATION]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Summary &amp; Transition to Calibration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Hardware architecture dictates data quality: numerical aperture, gratings, detector cooling, and ADC dynamic range.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reviewed: Optical layout, fiber cables, silicon vs InGaAs detectors, Spectralon white references, and SNR optimization.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in Module 3: Laboratory calibration, wavelength standards (Mercury-Argon), radiometric calibration with integrating spheres, and uncertainty budgets.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practical: Processing raw binary spectroradiometer files, removing detector steps, and computing SNR curves.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Remote Sensing of Environment, 113, S92-S109.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Fundamentals of Point Spectroradiometers &amp; Hardware Architecture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
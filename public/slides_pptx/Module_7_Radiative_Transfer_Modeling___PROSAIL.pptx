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7. Here we explore the physics-based heart of quantitative optical remote sensing: PROSAIL and RTM inversion.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forward and inverse arrows on the board. Emphasize why the inverse problem requires regularization.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anatomical cross-section of a dicot leaf: upper epidermis, palisade mesophyll, spongy mesophyll with intercellular air cavities.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chronological development of PROSPECT versions over three decades of peer-reviewed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N is dimensionless (typically 1.1 for monocots up to 2.5 for thick sclerophyllous leaves).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increasing N from 1.0 to 3.0 boosts 800 nm reflectance from 10% to 55% while keeping chlorophyll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"cavity effect": photons entering canopy gaps bounce between leaves, increasing the probability of absorption.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the 4x4 matrix: k is extinction, a is attenuation, σ is backscattering, K is directional viewing extinction.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6 standard leaf angle distribution types according to de Wit (1965) and Verhoef (1984).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the combined workflow diagram showing PROSPECT outputs flowing seamlessly as inputs into 4SAIL.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classic Sobol sensitivity variance decomposition plot across 400–2500 nm.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concept of "spectral equifinality" and why brute-force minimization leads to unphysical parameter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why averaging the top 50 matches (mean or median) is far more robust than taking the single best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adding the prior penalty term (Tikhonov regularization) eliminates wild outlier retrievals.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Sentinel-2 biophysical processor in ESA SNAP which runs GPR to output LAI, FAPAR, and FVC.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3D visual renderings from DART showing ray-traced photons interacting with individual leaf facets in an orchard.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gap fraction curve of a clumped spruce stand vs a uniform wheat field to illustrate optical clumping.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oxygen absorption notch at 760 nm where SIF fills in the dark atmospheric absorption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validation scatter plots of retrieved LAI vs harvested leaf area for maize, wheat, and grassland.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an erroneous dry soil assumption over moist soil causes RTM inversion to overestimate 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coupled atmosphere-canopy radiative transfer equation.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why hybrid approaches dominate operational satellite processors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SWIR water overtone fit between field measurements and inverted PROSAIL curves.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seasonal leaf spectra tracking anthocyanin development in autumn red maple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simplicity of calling `prosail.run_prosail` in Python with only 10 input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active learning prevents over-populating the LUT in non-informative dense parameter 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nadir vs oblique viewing rays penetrating through vertical grass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dynamic yield forecast curve updating after each satellite/drone RTM ingestion.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next generation of 3D radiative transfer digital twins.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RTM lecture, confirm understanding of the forward and inverse loops, and preview Lab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OF FIELD SPECTROSCOPY • GEO-MSc-704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Radiative Transfer Modeling (RTM), PROSAIL &amp; Canopy Physics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Teaching Hours • 1.5 ECTS Credits • 30 Lecture Slides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delivers rigorous training in physical radiative transfer modeling (RTM) governing vegetation canopies. Students dissect the PROSPECT-D leaf optical model, understanding leaf mesophyll scattering parameter N and specific absorption coefficients for chlorophyll (Cab), carotenoids (Car), anthocyanins (Anth), equivalent water thickness (Cw), and leaf mass per area (Cm). The module couples PROSPECT with the 4SAIL 4-stream canopy radiative transfer model, parameterizing Leaf Area Index (LAI), leaf angle distributions (LIDF), and hotspot scattering. Students address the ill-posed mathematical nature of RTM inversion, implementing Look-Up Tables (LUT), Bayesian regularization, and Gaussian Process Regression (GPR) emulators in Python and 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Radiative Transfer Modeling in Remote Sensing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Radiative Transfer Models (RTMs) simulate photon scattering and absorption in plant tissue and canopies based on physical laws.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indices (NDVI, NDRE) are site- and species-specific and suffer from empirical saturation and background soil bias.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Radiative Transfer Models provide a mechanistic, universal link between biophysical canopy traits and observed spectral reflectance.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modeling: Simulates reflectance from known biochemical traits and structure.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modeling: Retrieves unknown biochemical traits from measured field spectra.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inversion eliminates the need for recalibrating empirical indices for every new crop type or field season.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Jacquemoud, S. et al. (2009). PROSPECT+SAIL: A review of use for vegetation characterization.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[MATHEMATICS] • SLIDE 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vs. Inverse Modeling Paradigm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Forward modeling maps biophysical traits to spectra via deterministic physics; inverse modeling solves the ill-posed mathematical reverse.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Problem: y = f(x, θ, λ) is well-posed, unique, and deterministic.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x: Chlorophyll (Cab), Carotenoids (Car), Water (Cw), Dry matter (Cm), Leaf Area Index (LAI), Leaf Angle (ALA).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y: Directional spectral reflectance across 400–2500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Problem: x = f⁻¹(y) is ill-posed: Multiple distinct trait combinations can yield nearly identical canopy reflectance (equifinality).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\mathbf{y}_{\text{spectrum}} = f_{\text{RTM}}(\mathbf{x}_{\text{traits}}, \mathbf{\Omega}_{\text{geometry}})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radiative transfer function mapping biophysical state vector x to spectral vector y.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Baret, F., &amp; Buis, S. (2008). Estimating canopy characteristics from remote sensing observations: Review of methods and constraints. Advances in Land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[PHYSICS] • SLIDE 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Optical Physics: The Plate Model &amp; Fresnel Interfaces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Willstätter-Stoll and Allen plate theory models the leaf as a stack of absorbing optical plates separated by air spaces.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 et al. (1969) generalized Stokes equations for multiple reflecting and transmitting parallel plates.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plate boundary, refraction occurs according to Snell's law (refractive index n(λ) ≈ 1.40–1.45 for leaf wax/cellulose).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Fresnel reflection at the waxy cuticle reflects ~5% of light specularly without biochemical interaction.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mesophyll air spaces create thousands of refractive index boundaries (n_cell ≈ 1.42 vs n_air ≈ 1.00), scattering NIR photons intensely.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Allen, W. A. et al. (1969). Interaction of isotropic light with a compact plant leaf. JOSA.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PROSPECT Leaf Optical Model Evolution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PROSPECT calculates leaf directional-hemispherical reflectance and transmittance from 400 to 2500 nm.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Stéphane Jacquemoud and Frédéric Baret (1990).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PROSPECT-4: Leaf structure parameter N, Chlorophyll a+b (Cab), Equivalent Water Thickness (Cw), Leaf Mass per Area (Cm).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PROSPECT-5: Separated carotenoids (Car) from chlorophyll.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PROSPECT-D (Féret et al., 2017): Added anthocyanins (Anth) and brown senescent pigments (Cbrown), covering all phenological stages from budburst to senescence.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Féret, J. B. et al. (2017). PROSPECT-D: Towards modeling leaf optical properties through a complete lifecycle. RSE.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[MATHEMATICS] • SLIDE 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 Mathematical Formulation &amp; Specific Absorption Coefficients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Total leaf absorption coefficient k(λ) is the linear sum of biochemical concentrations multiplied by specific absorption coefficients.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Generalized Beer-Lambert formulation inside the leaf plates.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absorption coefficients (k_i(λ)) are NIST-traceable calibrated laboratory optical constants for pure pigments, water, and dry matter.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Transmittance of an elementary plate: τ(λ) = (1 - k(λ)) · exp(-k(λ)) + k(λ)² · E₁(k(λ)).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k(\lambda) = \frac{C_{ab} k_{ab}(\lambda) + C_{ar} k_{ar}(\lambda) + C_{\text{anth}} k_{\text{anth}}(\lambda) + C_w k_w(\lambda) + C_m k_m(\lambda)}{N}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 coefficient k(λ) per unit elementary plate in PROSPECT-D.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Jacquemoud, S., &amp; Baret, F. (1990). PROSPECT: A model of leaf optical properties spectra. RSE.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Leaf Mesophyll Structure Parameter 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structural parameter N represents the effective number of compact cell layers and internal refractive interfaces.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1.0 represents a single compact plate with zero internal air spaces (no scattering, pure absorption).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Monocots (corn, wheat, grasses) with compact mesophyll: N ≈ 1.2 to 1.5.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Dicotyledons (soybean, oak, sunflower) with distinct spongy mesophyll: N ≈ 1.6 to 2.2.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 evergreen sclerophylls (eucalyptus, olive, pine): N ≈ 2.3 to 3.5.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N increases internal multiple scattering, shifting NIR plateau reflectance upward.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Jacquemoud, S., &amp; Ustin, S. L. (2019). Leaf Optical Properties. Cambridge University Press.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Single Leaf to Canopy Architecture: 1D Canopy Radiative Transfer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Canopy reflectance depends not only on leaf optics, but on canopy architecture, leaf angle distribution, and background soil.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canopy is a 3D turbid medium where leaves act as absorbing and scattering facets.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Canopy reflectance is significantly lower than individual leaf reflectance because photons are trapped and absorbed in internal multi-bounce cavities.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 canopy reflectance is typically 20–35%, whereas individual leaf reflectance is 45–55%.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Verhoef, W. (1984). Light scattering by leaf layers with application to canopy reflectance modeling: The SAIL model. RSE.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4SAIL Canopy Radiative Transfer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SAIL (Scattering by Arbitrarily Inclined Leaves) models four-stream radiative transfer in a homogeneous turbid vegetation layer.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Formulated by Wout Verhoef (1984); upgraded to 4SAIL (Verhoef et al., 2007).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differential radiation flux streams: Direct solar flux (E_s), Diffuse downward flux (E⁻), Diffuse upward flux (E⁺), Directional radiance toward observer (E_o).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differential equations solved in closed form with boundary conditions at top of canopy (TOC) and bottom of canopy (soil).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\frac{d}{dz} \begin{bmatrix} E_s \\ E^- \\ E^+ \\ E_o \end{bmatrix} = \begin{bmatrix} k &amp; 0 &amp; 0 &amp; 0 \\ -s &amp; a &amp; -\sigma &amp; 0 \\ s' &amp; \sigma &amp; -a &amp; 0 \\ w &amp; v &amp; v' &amp; -K \end{bmatrix} \begin{bmatrix} E_s \\ E^- \\ E^+ \\ E_o \end{bmatrix}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Verhoef 4-stream matrix differential equations.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Verhoef, W. (1984). Remote Sensing of Environment, 16(2), 125-141.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4SAIL Canopy Parameters: LAI, ALA, and Hotspot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4SAIL is parameterized by Leaf Area Index (LAI), Leaf Angle Distribution (LAD), Hotspot parameter, and soil brightness.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Area Index (LAI): Total one-sided green leaf area per unit ground surface area [m²/m²] (typically 0.5 to 8.0).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Leaf Angle (ALA) or Campbell parameter (LIDF): Planophile, erectophile, spherical, or plagiophile leaf angles.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parameter (s_l / h): Ratio of leaf size to canopy height (controls the angular width of retro-reflection surge).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soil reflectance spectrum: Multiplied by soil brightness scaling factor (psoil).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Verhoef, W. et al. (2007). Unified optical-thermal four-stream radiative transfer model. RSE.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10/30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Coupled PROSAIL: Linking Biochemistry to Canopy Reflectance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Coupled PROSAIL inputs leaf traits into PROSPECT to generate leaf ρ and τ, which are fed directly into 4SAIL to simulate top-of-canopy HCRF.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 generates: Leaf directional-hemispherical reflectance ρ_leaf(λ) and transmittance τ_leaf(λ).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4SAIL takes: ρ_leaf, τ_leaf, LAI, ALA, s_l, psoil, and illumination/viewing geometry (θ_s, θ_v, Δφ).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Top-of-Canopy (TOC) directional reflectance factor matching field spectroradiometer measurements.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international gold standard benchmark in operational agricultural and ecological Earth observation.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Jacquemoud, S. et al. (2009). PROSPECT+SAIL: A review.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[PHYSICS] • SLIDE 11/30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Analysis: Identifying Dominant Traits by Wavelength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Global sensitivity analysis (Sobol) proves that different canopy traits control distinct, well-defined spectral windows.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(400–700 nm): Dominated by Chlorophyll (Cab) and Carotenoids (Car); LAI controls saturation at low values.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Edge (700–750 nm): Jointly controlled by Cab, LAI, and Leaf Angle Distribution (LAD).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 Plateau (750–1100 nm): Exclusively controlled by LAI, structural parameter N, and background soil (zero pigment absorption).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SWIR (1100–2500 nm): Controlled by Water Thickness (Cw), Dry Matter (Cm), and LAI.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Verrelst, J. et al. (2015). Global sensitivity analysis for spectral indices.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[MATHEMATICS] • SLIDE 12/30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Ill-Posed Inverse Problem &amp; Equifinality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Inverting RTMs is mathematically ill-posed: Multiple distinct parameter combinations yield the same reflectance spectrum.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Hadamard criteria for well-posed problems: Existence, Uniqueness, Stability.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inversion violates uniqueness and stability: High Cab with low LAI can mimic lower Cab with high LAI in the visible.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Equifinality: Different combinations of soil brightness, leaf angle, and biomass create identical spectral signatures.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noise and model structural approximations amplify inversion instabilities.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Combal, B. et al. (2003). Retrieval of canopy biophysical variables by inverting radiative transfer models. RSE.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[MATHEMATICS] • SLIDE 13/30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Look-Up Table (LUT) Inversion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LUT inversion precomputes a large database of forward simulations and finds the closest matching spectra to observations.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Generate N simulations (e.g. N = 100,000) by sampling parameter distributions with Latin Hypercube Sampling (LHS).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Add realistic radiometric noise to simulated spectra.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Measure distance (Cost Function, e.g. Root Mean Square Error RMSE or Spectral Angle) between field scan and every LUT entry.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Average the parameter values of the top q best-matching entries (e.g. q = 50 or top 0.5%) to stabilize retrieval.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\text{RMSE} = \sqrt{\frac{1}{B} \sum_{b=1}^B \left( R_{\text{measured}}(\lambda_b) - R_{\text{LUT}}(\lambda_b) \right)^2}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function for identifying nearest neighbors in the Look-Up Table.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Weiss, M. et al. (2000). Investigation of a model inversion technique to retrieve canopy biophysical variables. Agronomie.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[MATHEMATICS] • SLIDE 14/30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Strategies: Bayesian Priors &amp; Parameter Bounds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Regularization injects prior knowledge (Bayesian priors) to constrain RTM inversion within physically realistic bounds.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Unconstrained inversion may predict LAI = 15 or Cab = 200 µg/cm² (physiologically absurd values).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Truncated Gaussian priors: Enforce known biological distributions based on field measurement knowledge.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Co-variance constraints: Link traits that correlate biologically (e.g. high nitrogen leaves have high chlorophyll and low LMA).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and temporal regularization: Constrain day-to-day LAI variations using smooth growth curves.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J(\mathbf{x}) = \left(\mathbf{y} - f(\mathbf{x})\right)^T \mathbf{C}_y^{-1} \left(\mathbf{y} - f(\mathbf{x})\right) + \left(\mathbf{x} - \mathbf{x}_{\text{prior}}\right)^T \mathbf{C}_x^{-1} \left(\mathbf{x} - \mathbf{x}_{\text{prior}}\right)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cost function incorporating spectral observation error Cy and prior parameter covariance Cx.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Tarantola, A. (2005). Inverse Problem Theory and Methods for Model Parameter Estimation. SIAM.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[MATHEMATICS] • SLIDE 15/30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Emulators &amp; Gaussian Process Regression (GPR)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Machine learning emulators approximate complex RTM physics, accelerating inversion speed by 10,000x with Bayesian uncertainty.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3D RTMs per pixel on a 10-megapixel hyperspectral image takes days of compute time.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Emulators: Train a statistical regression (Gaussian Process Regression, Neural Net) to approximate f(x) or f⁻¹(y).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Process Regression (GPR): Delivers both the mean predicted biophysical trait and the analytical predictive variance (uncertainty σ²).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operational processor in the ESA Sentinel-2 SNAP toolbox for biophysical trait retrieval.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\sigma_*^2 = k(\mathbf{y}_*, \mathbf{y}_*) - \mathbf{k}_*^T \left( \mathbf{K} + \sigma_n^2 \mathbf{I} \right)^{-1} \mathbf{k}_*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GPR predictive variance formulation providing analytical per-pixel uncertainty.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Verrelst, J. et al. (2012). Machine learning regression algorithms for retrieval of plant biophysical parameters. RSE.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16/30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Radiative Transfer Models: DART, FLIGHT &amp; LESS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1D turbid models fail in discontinuous, clumped ecosystems (orchards, savannas, coniferous forests); 3D RTMs simulate exact 3D architecture.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(Discrete Anisotropic Radiative Transfer, CESBIO): Ray-tracing and discrete ordinate transport in a 3D voxel grid containing 3D tree crowns, buildings, and topography.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(North, 1996): Monte Carlo ray-tracing model for clumped forest canopies.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(LargE-Scale Remote Sensing Data and Image Simulation Framework): GPU-accelerated ray tracing.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shadow casting, crown clumping, and multi-angular BRDF of complex 3D landscapes.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Gastellu-Etchegorry, J. P. et al. (2015). DART: a 3D model for remote sensing images and radiative budget of natural and urban landscapes. RSE.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[PHYSICS] • SLIDE 17/30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Canopy Clumping Index (CI) and Effective LAI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Leaves clump into shoots, branches, and crowns, creating large sunlit gaps that require clumping correction.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turbid models assume random spatial dispersion of foliage (Poisson distribution).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trees clump needles into shoots (conifers) and leaves into branch clusters.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Clumping Index (Ω): Ratio of effective LAI (LAI_eff) to true total LAI: LAI_true = LAI_eff / Ω.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random canopy: Ω = 1.0. For clumped conifer forests: Ω ≈ 0.4 to 0.7.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clumping underestimates conifer forest LAI by up to 50%.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\text{LAI}_{\text{true}} = \frac{\text{LAI}_{\text{effective}}}{\Omega}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Canopy clumping correction linking optical gap fraction to true biological leaf area.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Chen, J. M., &amp; Black, T. A. (1992). Foliage clumpiness and its impact on the optical remote sensing of leaf area index. JGR.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[PHYSICS] • SLIDE 18/30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Solar-Induced Chlorophyll Fluorescence (SIF) Modeling: SCOPE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SCOPE couples 1D radiative transfer with leaf photosynthesis, stomatal conductance, and chlorophyll fluorescence emission.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Christiaan van der Tol et al. (2009).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Chlorophyll fluoresces a small fraction (~1–2%) of absorbed photons at 650–850 nm (peaks at 685 nm and 740 nm).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simulates radiative transfer of emitted fluorescence photons through the canopy in the Fraunhofer absorption bands (O₂-A at 760 nm).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 mechanistic link between field spectroradiometry and gross primary production (GPP).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Van der Tol, C. et al. (2009). An integrated model of soil-canopy spectral radiances, photosynthesis, fluorescence, temperature and energy balance. Biogeosciences.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[QUALITYASSURANCE] • SLIDE 19/30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RTMs with Field Spectroradiometry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Rigorous RTM validation requires independent concurrent ground measurements of leaf traits, canopy structure, and TOC spectra.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protocol: Measure leaf reflectance/transmittance with integrating sphere -&gt; Measure foliar chlorophyll (wet lab) -&gt; Measure LAI with LAI-2200 -&gt; Measure TOC reflectance with ASD on boom.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validation: Feed measured traits into PROSAIL; compare simulated TOC spectra against field-measured spectra.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validation: Invert TOC field spectra; compare retrieved LAI and Cab against ground destructive harvest data.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RMSE, normalized RMSE (NRMSE), and Nash-Sutcliffe Efficiency (NSE).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validate an RTM using the same dataset used to calibrate its internal empirical parameters.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Dorigo, W. et al. (2007). In-situ biophysical variable retrieval validation.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20/30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Background Effects &amp; Non-Lambertian Soil Models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Soil reflectance is not a static constant; soil moisture dynamics and roughness alter the lower boundary condition in RTMs.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PROSAIL psoil parameter scales a single baseline soil spectrum up or down.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soils change spectral slope as they dry and exhibit strong BRDF anisotropy (Hapke or Walthall soil BRDF models).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sparse canopies (LAI &lt; 1.5), soil contributes &gt; 60% of total reflected radiance.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Coupling BSM (Biological Soil Model) or MARMIT water-absorption soil models improves sparse canopy trait retrieval.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Baret, F. et al. (1993). BSM: A model of soil spectral reflectance.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21/30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Radiative Transfer Coupling: 6S and MODTRAN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Full-system RTM chains couple canopy models (PROSAIL) with atmospheric radiative transfer codes (6S, MODTRAN).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Top-of-Atmosphere (TOA) spectral radiance directly from surface canopy traits.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6S (Second Simulation of the Satellite Signal in the Solar Spectrum): Models gaseous absorption, Rayleigh, and aerosol scattering.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MODTRAN 6: High spectral resolution (0.1 cm⁻¹) atmospheric transmission and radiance code.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designing future spaceborne hyperspectral mission specifications (e.g. ESA CHIME, NASA SBG).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Vermote, E. F. et al. (1997). Second Simulation of the Satellite Signal in the Solar Spectrum, 6S: An overview. IEEE TGRS.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[MATHEMATICS] • SLIDE 22/30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Inversion Frameworks: Machine Learning on RTM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Hybrid inversion trains advanced machine learning algorithms (Random Forest, GPR, Deep Neural Networks) on synthetic RTM datasets.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the physical universality of RTMs with the computational speed of machine learning.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Generate 50,000 synthetic spectra using PROSAIL across realistic global parameter distributions.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Train a Random Forest or Deep Multi-Layer Perceptron (MLP) on the synthetic dataset.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Apply the trained model to field spectroradiometer or drone hyperspectral imagery for millisecond pixel retrieval.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Verrelst, J. et al. (2019). Optical remote sensing and the retrieval of terrestrial vegetation bio-geophysical properties: A review. RSE.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[CASESTUDY] • SLIDE 23/30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of Equivalent Water Thickness (EWT) &amp; Dry Matter (Cm)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PROSAIL inversion accurately retrieves canopy water content (CWC = LAI · Cw) and dry biomass (LAI · Cm) from SWIR bands.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Canopy Water Content (CWC [g/m²]): Critical indicator of drought stress and forest fire fuel moisture.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Canopy Dry Matter (CDM [g/m²]): Directly measures standing non-water crop biomass for yield prediction.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Inversion of PRISMA/EnMAP hyperspectral scenes achieves NRMSE &lt; 12% for CWC validation across European agricultural sites.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Colombo, R. et al. (2008). Retrieval of leaf area index and equivalent water thickness in a Mediterranean forest. RSE.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[CASESTUDY] • SLIDE 24/30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Carotenoid and Anthocyanin Inversion with PROSPECT-D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PROSPECT-D resolves secondary protective pigments (carotenoids, anthocyanins) that signal photo-oxidative stress and leaf senescence.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Carotenoids (Car): Lutein, β-carotene, neoxanthin; protect chlorophyll from photo-damage.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Anthocyanins (Anth): Water-soluble flavonoids producing red coloration during autumn or cold stress.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Inversion of contact probe field spectra retrieves Car with RMSE &lt; 2.5 µg/cm² and Anth with RMSE &lt; 1.8 µg/cm².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Féret, J. B. et al. (2017). Remote Sensing of Environment, 193, 204-215.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[PROCESSING] • SLIDE 25/30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Inversion in the R Package `hsdar` and Python `prosail`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Open-source compiled Fortran and C libraries provide high-speed Python and R wrappers for PROSPECT and PROSAIL.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`pip install prosail` provides instant vectorized forward modeling (`prosail.run_prosail(...)`).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`library(hsdar)` provides comprehensive PROSAIL forward simulation, LUT generation, and automated model inversion.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automated coupling into GIS spatial pipelines and Jupyter notebooks.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Lehnert, L. W. et al. (2019). hsdar: Manage, analyze and simulate hyperspectral data in R.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[MATHEMATICS] • SLIDE 26/30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Learning for Efficient RTM Sampling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Active learning algorithms intelligently select the most informative RTM simulations, slashing training dataset sizes by 90%.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generating 100,000 random LUT entries, Active Learning iteratively samples areas of maximum model uncertainty.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Entropy query, Gaussian Process variance sampling, Euclidean distance diversity.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required training size to &lt; 2,000 simulations while achieving equal or superior retrieval accuracy.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Verrelst, J. et al. (2016). Machine learning regression algorithms for retrieval of plant biophysical parameters: A review. IEEE GRSL.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[PHYSICS] • SLIDE 27/30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Multi-Angular RTM Inversion: Resolving the LAI-LAD Ambiguity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Adding off-nadir viewing angles (e.g. from goniometers or multi-angle satellites like CHRIS-PROBA) breaks the LAI-leaf angle ambiguity.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nadir (θ_v = 0°), an erectophile canopy looks sparse, mimicking a low-LAI planophile canopy.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oblique view zenith angles (θ_v = 45° to 60°), path length through erectophile leaves increases dramatically, exposing full foliage.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Multi-angular inversion simultaneously resolves both LAI and Average Leaf Angle (ALA) with zero equifinality.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Bicheron, P., &amp; Leroy, M. (1999). A method of biophysical variable retrieval using multiangle airborne measurements. RSE.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[CASESTUDY] • SLIDE 28/30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Coupling RTMs with Crop Growth Models: Assimilation Workflows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Data assimilation merges RTM-retrieved LAI into dynamic crop growth models (APSIM, DSSAT, WOFOST) to forecast crop yields.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spectroscopy and satellite RTM retrievals provide real-time state updates during the growing season.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Kalman Filter (EnKF): Adjusts crop model simulated biomass and soil moisture when RTM-retrieved LAI deviates from simulation.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Corrects model errors caused by unmodeled pest damage, fertilizer shortages, or localized microclimates.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Dorigo, W. et al. (2007). A review on reflective remote sensing and data assimilation techniques for enhanced agroecosystem modeling. IJAEOG.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29/30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 &amp; Future Frontiers of RTMs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Emerging frontiers include leaf specular polarization, biochemical vertical stratification, and canopy fluorescence-photosynthesis coupling.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limitation: Most 1D models assume vertically homogeneous chlorophyll and water distribution (real leaves vary from top to bottom of canopy).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1: PROSPECT-PRO: Explicitly isolates pure proteins from structural cellulose and lignin.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2: Ray-tracing 3D digital twins derived from terrestrial and drone LiDAR point clouds.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3: Integration of solar-induced chlorophyll fluorescence (SIF) into global carbon cycle models.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Féret, J. B. et al. (2021). PROSPECT-PRO for estimating content of nitrogen-containing compounds in leaves. RSE.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7 • [RTM] • SLIDE 30/30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Synthesis &amp; Progression to Spectral Databases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Radiative transfer models transform field spectroscopy into a rigorous, physics-driven quantitative discipline.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established: PROSPECT-D leaf physics, 4SAIL 4-stream canopy transport, PROSAIL coupling, and LUT/GPR inverse retrieval.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Module 8, we integrate all field spectroscopy workflows into permanent institutional architectures: SPECCHIO database, metadata schemas, and the course capstone project.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for Field Exercise 7: Inverting field-measured canopy spectra using PROSAIL LUT to retrieve ground LAI and chlorophyll.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Jacquemoud, S. et al. (2009). Remote Sensing of Environment, 113, S56-S66.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31</Slides>
	<Notes>31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31</vt:i4></vt:variant>
		</vt:vector>
	</HeadingPairs>
	<TitlesOfParts>
		<vt:vector size="3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<vt:lpstr>Slide 17</vt:lpstr><vt:lpstr>Slide 18</vt:lpstr><vt:lpstr>Slide 19</vt:lpstr><vt:lpstr>Slide 20</vt:lpstr><vt:lpstr>Slide 21</vt:lpstr><vt:lpstr>Slide 22</vt:lpstr><vt:lpstr>Slide 23</vt:lpstr><vt:lpstr>Slide 24</vt:lpstr><vt:lpstr>Slide 25</vt:lpstr><vt:lpstr>Slide 26</vt:lpstr><vt:lpstr>Slide 27</vt:lpstr><vt:lpstr>Slide 28</vt:lpstr><vt:lpstr>Slide 29</vt:lpstr><vt:lpstr>Slide 30</vt:lpstr><vt:lpstr>Slide 31</vt:lpstr>
		</vt:vector>
	</TitlesOfParts>
	<Company>GEO-MSc-704 Earth Observation & Geo-Information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Radiative Transfer Modeling (RTM), PROSAIL &amp; Canopy Physics</dc:title>
  <dc:subject>PptxGenJS Presentation</dc:subject>
  <dc:creator>Principles of Field Spectroscopy - MSc Curriculum</dc:creator>
  <cp:lastModifiedBy>Principles of Field Spectroscopy - MSc Curriculum</cp:lastModifiedBy>
  <cp:revision>1</cp:revision>
  <dcterms:created xsi:type="dcterms:W3CDTF">2026-10-12T19:27:31Z</dcterms:created>
  <dcterms:modified xsi:type="dcterms:W3CDTF">2026-10-12T19:27:31Z</dcterms:modified>
</cp:coreProperties>
</file>
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capstone Module 8. We examine how to structure, preserve, and publish field spectroscopy data according to international FAIR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15 formal FAIR facets and show how they apply specifically to optical field radiometry.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Entity-Relationship (ER) diagram of the SPECCHIO PostgreSQL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following a spectral vector back to the exact factory calibration certificate of the fiber 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Navigate the USGS online spectral portal and show how to download ASCII spectral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CEOS Working Group on Calibration and Validation (WGCV) technical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ncdump header of a multi-campaign NetCDF-4 file containing 10,000 field spectra.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Python loader script that ingests an entire folder of 500 raw ASD files in 3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live SQL query showing how spatial and spectral filters combine seamlessly.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how an ASD 2151-channel field spectrum is resampled into the 13 Sentinel-2 MSI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GitHub repository structure of a peer-reviewed remote sensing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images acquired by EnMAP and PRISMA and show how field spectra validate their atmospheric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capstone project grading rubric and deliverable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inspiring closing remarks congratulating students on completing the course lectures and preparing them for the field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how to generate a DOI on Zenodo for their field spectroscopy research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modern dashboard interfaces used in national environmental monitoring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Google Slides API export feature built directly into this course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apply for student membership in IEEE GRSS and attend NERC FSF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Navigate the IDB website and show how to look up specific sensor band combinations.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research ethics and environmental stewardship during outdoor field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deconvolution of a complex clay spectrum into three distinct Gaussian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interactive point-and-click spectrum extraction from a 3D data cube in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a 5-year continuous time series of NDVI and PRI from a NEON forest tower.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Lichtenthaler (1987) equations for calculating chlorophyll a, b, and total carotenoids in acetone.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SuperCam spectra from Mars compared against ground spectra collected in Chilean analog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paradigm shift toward Physics-Informed Machine Learning in Earth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post-field season maintenance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common reviewer criticisms of field spectroscopy manuscripts and how to avoid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querying the AI Research Tutor within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inspiring final congratulations to the graduating MSc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731520" y="914400"/>
            <a:ext cx="7772400" cy="365760"/>
          </a:xfrm>
          <a:prstGeom prst="rect">
            <a:avLst/>
          </a:prstGeom>
          <a:noFill/>
          <a:ln/>
        </p:spPr>
        <p:txBody>
          <a:bodyPr wrap="square" rtlCol="0" anchor="ctr"/>
          <a:lstStyle/>
          <a:p>
            <a:pPr indent="0" marL="0">
              <a:buNone/>
            </a:pPr>
            <a:r>
              <a:rPr lang="en-US" sz="1300" b="1" dirty="0">
                <a:solidFill>
                  <a:srgbClr val="34D399"/>
                </a:solidFill>
                <a:latin typeface="Arial" pitchFamily="34" charset="0"/>
                <a:ea typeface="Arial" pitchFamily="34" charset="-122"/>
                <a:cs typeface="Arial" pitchFamily="34" charset="-120"/>
              </a:rPr>
              <a:t>PRINCIPLES OF FIELD SPECTROSCOPY • GEO-MSc-704</a:t>
            </a:r>
            <a:endParaRPr lang="en-US" sz="1300" dirty="0"/>
          </a:p>
        </p:txBody>
      </p:sp>
      <p:sp>
        <p:nvSpPr>
          <p:cNvPr id="3" name="Text 1"/>
          <p:cNvSpPr/>
          <p:nvPr/>
        </p:nvSpPr>
        <p:spPr>
          <a:xfrm>
            <a:off x="731520" y="1371600"/>
            <a:ext cx="7772400" cy="457200"/>
          </a:xfrm>
          <a:prstGeom prst="rect">
            <a:avLst/>
          </a:prstGeom>
          <a:noFill/>
          <a:ln/>
        </p:spPr>
        <p:txBody>
          <a:bodyPr wrap="square" rtlCol="0" anchor="ctr"/>
          <a:lstStyle/>
          <a:p>
            <a:pPr indent="0" marL="0">
              <a:buNone/>
            </a:pPr>
            <a:r>
              <a:rPr lang="en-US" sz="1600" b="1" dirty="0">
                <a:solidFill>
                  <a:srgbClr val="94A3B8"/>
                </a:solidFill>
                <a:latin typeface="Arial" pitchFamily="34" charset="0"/>
                <a:ea typeface="Arial" pitchFamily="34" charset="-122"/>
                <a:cs typeface="Arial" pitchFamily="34" charset="-120"/>
              </a:rPr>
              <a:t>MODULE 8</a:t>
            </a:r>
            <a:endParaRPr lang="en-US" sz="1600" dirty="0"/>
          </a:p>
        </p:txBody>
      </p:sp>
      <p:sp>
        <p:nvSpPr>
          <p:cNvPr id="4" name="Text 2"/>
          <p:cNvSpPr/>
          <p:nvPr/>
        </p:nvSpPr>
        <p:spPr>
          <a:xfrm>
            <a:off x="731520" y="1920240"/>
            <a:ext cx="7772400" cy="13716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Spectral Databases, SPECCHIO, Metadata Architecture &amp; Course Capstone</a:t>
            </a:r>
            <a:endParaRPr lang="en-US" sz="2800" dirty="0"/>
          </a:p>
        </p:txBody>
      </p:sp>
      <p:sp>
        <p:nvSpPr>
          <p:cNvPr id="5" name="Text 3"/>
          <p:cNvSpPr/>
          <p:nvPr/>
        </p:nvSpPr>
        <p:spPr>
          <a:xfrm>
            <a:off x="731520" y="3474720"/>
            <a:ext cx="7772400" cy="365760"/>
          </a:xfrm>
          <a:prstGeom prst="rect">
            <a:avLst/>
          </a:prstGeom>
          <a:noFill/>
          <a:ln/>
        </p:spPr>
        <p:txBody>
          <a:bodyPr wrap="square" rtlCol="0" anchor="ctr"/>
          <a:lstStyle/>
          <a:p>
            <a:pPr indent="0" marL="0">
              <a:buNone/>
            </a:pPr>
            <a:r>
              <a:rPr lang="en-US" sz="1200" dirty="0">
                <a:solidFill>
                  <a:srgbClr val="CBD5E1"/>
                </a:solidFill>
                <a:latin typeface="Arial" pitchFamily="34" charset="0"/>
                <a:ea typeface="Arial" pitchFamily="34" charset="-122"/>
                <a:cs typeface="Arial" pitchFamily="34" charset="-120"/>
              </a:rPr>
              <a:t>4 Teaching Hours • 1.5 ECTS Credits • 30 Lecture Slides</a:t>
            </a:r>
            <a:endParaRPr lang="en-US" sz="1200" dirty="0"/>
          </a:p>
        </p:txBody>
      </p:sp>
      <p:sp>
        <p:nvSpPr>
          <p:cNvPr id="6" name="Text 4"/>
          <p:cNvSpPr/>
          <p:nvPr/>
        </p:nvSpPr>
        <p:spPr>
          <a:xfrm>
            <a:off x="731520" y="4023360"/>
            <a:ext cx="7772400" cy="1645920"/>
          </a:xfrm>
          <a:prstGeom prst="rect">
            <a:avLst/>
          </a:prstGeom>
          <a:noFill/>
          <a:ln/>
        </p:spPr>
        <p:txBody>
          <a:bodyPr wrap="square" rtlCol="0" anchor="ctr"/>
          <a:lstStyle/>
          <a:p>
            <a:pPr indent="0" marL="0">
              <a:buNone/>
            </a:pPr>
            <a:r>
              <a:rPr lang="en-US" sz="1100" i="1" dirty="0">
                <a:solidFill>
                  <a:srgbClr val="94A3B8"/>
                </a:solidFill>
                <a:latin typeface="Arial" pitchFamily="34" charset="0"/>
                <a:ea typeface="Arial" pitchFamily="34" charset="-122"/>
                <a:cs typeface="Arial" pitchFamily="34" charset="-120"/>
              </a:rPr>
              <a:t>Module 8 culminates the MSc curriculum by addressing spectral data management, institutional archiving, and the complete field-to-satellite synthesis. Students master the SPECCHIO spectral information system, analyzing relational database entities (campaigns, sensors, calibrations, measurement geometries, environmental sensors). The curriculum explores global spectral repositories (USGS, ECOSTRESS, JPL, RadCalNet), FAIR data principles, self-describing container formats (NetCDF-4, HDF5), and PostGIS spatial queries. The module concludes with the comprehensive Course Capstone Project integrating all 8 modules into an operational, peer-reviewed field validation campaign.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[DATABASE] • SLIDE 1/30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Challenge of Spectral Data Management in Geospatial Sciences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Decades of field spectroscopy campaigns often become unusable because raw binary files lack persistent, standardized metadata.</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Thousands of proprietary spectrometer binary files (.asd, .sig, .sed) scattered across research hard drives.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Loss of critical contextual metadata: Which fiber cable was used? What was the white reference panel serial number? Was it hazy?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Without relational metadata architecture, historical field spectra cannot be audited, shared, or re-calibrated.</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A field spectrum without documented calibration lineage and environmental metadata is not scientific data; it is noise.</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Hueni, A. et al. (2009). The spectral database SPECCHIO for improved data sharing and data analysis. Computers &amp; Geosciences.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2/30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FAIR Data Principles in Spectroscopy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The FAIR guidelines mandate that scientific data must be Findable, Accessible, Interoperable, and Reusable.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Findable: Assigned globally unique, persistent identifiers (DOIs) and rich indexed metadata.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Accessible: Retrievable via open, standardized communications protocols (REST APIs, SQL queries).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Interoperable: Uses standardized ontologies and open file formats (NetCDF, HDF5, CSV, JSON).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Reusable: Rigorous provenance, clear data usage licensing, and conformance to CEOS WGCV standards.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Wilkinson, M. D. et al. (2016). The FAIR Guiding Principles for scientific data management. Scientific Data, 3, 160018.</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[DATABASE] • SLIDE 3/30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Architecture of the SPECCHIO Spectral Information System</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SPECCHIO is an open-source relational database designed specifically for storage and processing of spectroradiometer data.</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Developed by the University of Zurich and Remote Sensing Laboratories (RSL).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Relational schema: Decouples raw spectral data vectors from multidimensional sampling metadata.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Core entities: Campaigns, Sampling Locations, Targets, Spectral Vectors, Sensors, Calibration Files, Environmental Sensors.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Java desktop client, RESTful Web API, and native R / Python connector packages.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Hueni, A., Nieke, J., Schopfer, J., Kneubühler, M., &amp; Itten, K. (2009). Computers &amp; Geosciences, 35(4), 697-707.</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[DATABASE] • SLIDE 4/30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SPECCHIO Entity-Relationship Model &amp; Provenance Tracking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SPECCHIO models the complete measurement lineage from physical photons to calibrated reflectance.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Sensor Table: Serial numbers, detector array specifications, slit functions, and calibration history.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Calibration Table: Date-stamped radiometric responsivity files and white reference calibration certificates.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Measurement Geometry: Zenith angles, azimuth angles, sensor height, and calculated footprint area.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Hierarchy: Campaign -&gt; Site -&gt; Plot -&gt; Station -&gt; Capture Group -&gt; Spectral Vector.</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Hueni, A. et al. (2012). Data exchange between distributed spectral databases. Computers &amp; Geosciences.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[DATABASE] • SLIDE 5/30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Benchmark Global Spectral Libraries: USGS, ECOSTRESS &amp; JPL</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Authoritative international spectral libraries provide reference endmember signatures for material identification.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USGS Spectral Library (Clark et al., 2007; Kokaly et al., 2017): &gt; 2,400 laboratory spectra of minerals, rocks, soils, vegetation, and manmade materials (0.2 to 200 µm).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ECOSTRESS Spectral Library (Meerdink et al., 2019): Formerly ASTER library; comprehensive TIR and optical signatures.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JPL (Jet Propulsion Laboratory) Spectral Library: Pure mineralogical standards measured under laboratory conditions.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When validating mineral field spectra, match absorption band centers against USGS certified mineral standards.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Kokaly, R. F. et al. (2017). USGS Spectral Library Version 7. USGS Data Series 1035.</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6/30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CEOS WGCV Cal/Val Data Formatting Standards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The Committee on Earth Observation Satellites defines mandatory data interchange standards for satellite calibration networks.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Metadata compliance: Strict parameter nomenclature for illumination and viewing geometry.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Associated uncertainties: Every spectral vector must include a paired standard uncertainty vector u(λ).</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Automated ingestion: REST API endpoints exchanging JSON/GeoJSON payload records.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 linkage to RadCalNet automated radiometric ground validation networks.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CEOS WGCV (2014). Quality Assurance Framework for Earth Observation: Field Spectrometry Protocol.</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[PROCESSING] • SLIDE 7/30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Self-Describing Hierarchical Formats: NetCDF-4 and HDF5</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Modern field spectroscopy campaigns store high-volume multi-dimensional datasets in NetCDF-4 / HDF5 container formats.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Limitations of CSV: No standardized metadata headers; separated files lose context.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NetCDF-4 (Network Common Data Form): Combines multi-dimensional arrays (samples, bands, coordinates) with unlimited global metadata attributes.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CF (Climate and Forecast) Metadata Conventions: Standardizes coordinate reference systems, timestamps, and physical variable names.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Directly supported in Python (`xarray`, `netCDF4`), R (`ncdf4`), and QGIS.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Rew, R., &amp; Davis, G. (1990). NetCDF: An interface for scientific data access. IEEE Computer Graphics and Applications.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[PROCESSING] • SLIDE 8/30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Automated Ingestion Pipelines: From Raw Spectrometer to Database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Automated Python/R loaders parse vendor binary formats, extract embedded EXIF metadata, and populate database tables.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FileReader module: Decodes ASD binary streams, SVC SIG ASCII, or Spectral Evolution SED files.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Header extraction: Reads internal GPS coordinates, integration time, detector temperatures, and operator text logs.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Quality gatekeeper: Automatically rejects saturated scans, scans with WR departure &gt; 1.5%, or scans outside SZA windows.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Database insertion: Commits clean records to relational SQL or document NoSQL backends with cryptographic MD5 hashes.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Hueni, A. et al. (2012). Computers &amp; Geosciences.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[DATABASE] • SLIDE 9/30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Spatial Querying and SQL Integration: PostGIS for Field Spectra</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Pairing spectral databases with PostGIS spatial extensions enables multi-criteria spatial and spectral queries.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Spatial filtering: Query all spectra collected within 50 meters of an eddy covariance flux tower or within a Sentinel-2 tile.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Temporal filtering: Query all spectra acquired within ±30 minutes of a satellite overpass.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filtering: Query all vegetation spectra where NDVI &gt; 0.70 and Kaolinite absorption depth &lt; 0.05.</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 linkage to enterprise GIS platforms (QGIS, ArcGIS Pro) via spatial database connections.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\text{SELECT * FROM spectra WHERE ST\_DWithin(geom, ST\_MakePoint(lon, lat), 50.0);}</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PostGIS spatial proximity query isolating spectra within a 50m radius.</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Obe, R. O., &amp; Hsu, L. S. (2015). PostGIS in Action (2nd ed.). Manning Publications.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[PROCESSING] • SLIDE 10/30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Spectral Resampling Engines: Satellite Sensor Convolution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Spectral resampling convolves continuous high-resolution field spectra to match discrete satellite multispectral bands.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Satellite sensors (Sentinel-2 MSI, Landsat-9 OLI, WorldView-3, PlanetScope) have distinct Spectral Response Functions (SRF).</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convolution integrates field radiance or reflectance weighted by the sensor SRF: R_band = (∫ R(λ) · SRF(λ) dλ) / (∫ SRF(λ) dλ).</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Enables direct quantitative cross-validation between ground truth and satellite pixel digital numbers.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Implemented natively in SPECCHIO, `hsdar` (R), and `pysptools` (Python).</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\rho_{\text{band}} = \frac{\int_{\lambda_1}^{\lambda_2} \rho_{\text{field}}(\lambda) \cdot \text{SRF}(\lambda) \, d\lambda}{\int_{\lambda_1}^{\lambda_2} \text{SRF}(\lambda) \, d\lambda}</a:t>
            </a:r>
            <a:endParaRPr lang="en-US" sz="1100" dirty="0"/>
          </a:p>
        </p:txBody>
      </p:sp>
      <p:sp>
        <p:nvSpPr>
          <p:cNvPr id="11" name="Text 9"/>
          <p:cNvSpPr/>
          <p:nvPr/>
        </p:nvSpPr>
        <p:spPr>
          <a:xfrm>
            <a:off x="5577840" y="2423160"/>
            <a:ext cx="2926080" cy="27432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Spectral convolution integral for sensor band simulation.</a:t>
            </a:r>
            <a:endParaRPr lang="en-US" sz="850" dirty="0"/>
          </a:p>
        </p:txBody>
      </p:sp>
      <p:sp>
        <p:nvSpPr>
          <p:cNvPr id="12" name="Text 10"/>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Barsi, J. A. et al. (2014). Remote Sensing.</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[PROCESSING] • SLIDE 11/30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Reproducible Research: Jupyter Notebooks &amp; R Markdown Workflows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Computational notebooks integrate executable code, equations, data visualizations, and explanatory text into audited scientific workflows.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Jupyter and R Markdown ensure complete scientific provenance: From raw field binary file ingestion to published figures.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Parameter transparency: Every threshold (e.g. S-G window size, continuum removal endpoints) is explicitly documented and version-controlled.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Version control: Git and GitHub repositories enable collaborative code development and peer-review reproducibility.</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latin typeface="Arial" pitchFamily="34" charset="0"/>
                <a:ea typeface="Arial" pitchFamily="34" charset="-122"/>
                <a:cs typeface="Arial" pitchFamily="34" charset="-120"/>
              </a:rPr>
              <a:t>Require students to submit their final MSc course capstone as a self-contained, reproducible notebook.</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Perkel, J. M. (2018). Why Jupyter is data scientists’ computational notebook of choice. Nature, 563(7729), 145-147.</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[CASESTUDY] • SLIDE 12/30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Field Spectroscopy in Spaceborne Hyperspectral Missions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A new golden era of spaceborne imaging spectroscopy (PRISMA, EnMAP, EMIT, CHIME, SBG) relies on ground field spectroscopy networks.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PRISMA (Italy, launched 2019): 240 bands (400–2500 nm), 30 m GSD.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EnMAP (Germany, launched 2022): 242 bands, 30 m GSD, signal-to-noise ratio &gt; 500:1.</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EMIT (NASA / ISS, launched 2022): 285 bands mapping global mineral dust sources.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CHIME (ESA Copernicus) and SBG (NASA): Next-generation operational routine hyperspectral missions.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All missions maintain active ground cal/val networks requiring standardized field spectroscopy datasets.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Guanter, L. et al. (2015). The EnMAP imaging spectroscopy mission. Remote Sensing.</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[CASESTUDY] • SLIDE 13/30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Course Capstone: Designing an End-to-End Field Campaign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The MSc capstone project synthesizes all 8 modules into an operational, peer-reviewed field validation campaign.</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1: Pre-field planning (Solar geometry calculation, SZA window determination, sample size N, RTK GPS grid design).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2: Laboratory instrument calibration and Spectralon verification against NIST standards.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3: Field execution (Two-person choreography, pyranometer illumination tracking, foreoptic footprint control, ISO metadata logging).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4: Laboratory preprocessing (Savitzky-Golay, continuum removal, GUM uncertainty budget).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5: Satellite validation and PROSAIL RTM inversion (Publishing data to SPECCHIO / Zenodo with DOI).</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Milton, E. J. et al. (2009). Remote Sensing of Environment, 113, S92-S109.</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14/30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Course Synthesis: Core Principles of Field Spectroscopy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Mastery of optical physics, rigorous geometrical protocols, metrological traceability, and RTM modeling underpins modern Earth observation.</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1. Optical Physics: Respect radiometric units, Planck radiation, and atmospheric absorption windows.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2. Geometric Rigor: Restrict observations to SZA &lt; 50°, avoid hotspot retro-reflection, and eliminate operator cast shadows.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3. Metrological Integrity: Treat Spectralon panels with extreme care, re-acquire white references every 5 minutes, and quantify uncertainty.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4. Physics-Based Analysis: Combine statistical chemometrics (PLSR) with forward radiative transfer models (PROSAIL).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5. Data Preservation: Structure all datasets according to ISO 19115-2 and FAIR principles in spectral databases like SPECCHIO.</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Milton, E. J., Schaepman, M. E., Anderson, K., &amp; Gao, B. C. (2009). Progress in field spectroscopy. Remote Sensing of Environment, 113, S92-S109.</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[DATABASE] • SLIDE 15/30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Open Data Repositories: Zenodo, PANGAEA &amp; Figshare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Long-term scientific archiving requires depositing final spectral datasets in citable, non-commercial repositories.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Zenodo (CERN / OpenAIRE): Issues permanent Digital Object Identifiers (DOIs), guarantees 20-year preservation.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PANGAEA: Specialized data publisher for earth &amp; environmental science, enforcing rigorous metadata curation.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Data citation: Enables tracking dataset re-use and citations in peer-reviewed scientific literature.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Wilkinson, M. D. et al. (2016). Scientific Data, 3, 160018.</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16/30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Building Automated Quality-Control Dashboards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Interactive web dashboards provide immediate visual feedback on campaign progress, spatial coverage, and spectral QA flags.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Real-time visualization of field spectra, SNR curves, and white reference check ratios.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Interactive Leaflet/Mapbox maps displaying GPS sampling tracks and sensor footprints.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Automated warning flags for SZA violations, detector splice steps, and saturated bands.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Hueni, A. et al. (2009). Computers &amp; Geosciences.</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17/30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Exporting Presentations to Google Slides &amp; Educational Platforms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Academic workflows benefit from direct programmatic export of generated lecture modules to Google Slides and Workspace.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Google Slides REST API: Programmatically constructs slide decks with title, category badges, key takeaways, and academic citations.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Collaborative editing: Allows instructors and student research groups to annotate slides in real time.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Cloud storage: Directly archives presentations within institutional Google Drive workspaces.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Google Workspace Developer Documentation (2024). Google Slides API v1.</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18/30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Continuous Professional Development in Spectroscopy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Graduates should engage with international professional bodies and community calibration working groups.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CEOS Working Group on Calibration and Validation (WGCV).</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IEEE Geoscience and Remote Sensing Society (GRSS).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NERC Field Spectroscopy Facility annual training workshops and instrument loan programs.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Coblentz Society: Conferences, standards committees, and educational resources.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Coblentz Society (2022). Education and Spectroscopy Standards.</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[PROCESSING] • SLIDE 19/30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Spectral Index Standardization: The Index DataBase (IDB)</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The Index DataBase (IDB) catalog provides standardized mathematical definitions and sensor formulations for &gt; 300 spectral indices.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Maintained by University of Bonn: Searchable catalog covering vegetation, soil, water, snow, and burned area indices.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Sensor specific formulations: Maps generic indices (e.g. NDVI, NDWI) to specific band numbers of Sentinel-2, Landsat, and MODIS.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Prevents indexing ambiguities in peer-reviewed scientific publications.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Henrich, V. et al. (2012). The Index Database (IDB). University of Bonn.</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20/30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Ethical Guidelines &amp; Environmental Stewardship in Field Campaigns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Field researchers must practice Leave-No-Trace ethics, obtain landowner permissions, and respect protected ecological habitats.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Trampling minimization: Avoid establishing heavy foot trails across fragile alpine, peatland, or biocrust ecosystems.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Destructive sampling limits: Harvest only the minimum leaf biomass required for laboratory calibration.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Indigenous lands and permits: Secure institutional permits and respect traditional ecological stewardship.</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Leave No Trace Center for Outdoor Ethics (2020). Seven Principles of Leave No Trace.</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[MATHEMATICS] • SLIDE 21/30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Spectral Deconvolution: Gaussian and Lorentzian Peak Fitting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Deconvolution decomposes complex composite absorption bands into constituent Gaussian and Lorentzian sub-bands.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Overlapping vibrational bands in SWIR (e.g. Al-OH and Fe-OH combinations) blend into single broad troughs.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Nonlinear least-squares fitting of Voigt or Gaussian profiles isolates individual absorption energies.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Reveals mineral solid solution series and lattice defect densities.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Sunshine, J. M. et al. (1990). Deconvolution of mineral absorption bands: An improved approach. JGR.</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[PROCESSING] • SLIDE 22/30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Imaging Spectroscopy Data Cubes: Spatial-Spectral Visualizations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3D hyperspectral data cubes contain two spatial dimensions (X, Y) and one contiguous spectral dimension (λ).</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Cube slicing: Extracting 2D spatial images at single wavelengths vs extracting 1D spectral curves at single spatial coordinates.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False-color composites: Mapping diagnostic spectral bands into Red, Green, and Blue color channels (e.g. CIR: NIR=Red, Red=Green, Green=Blue).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Interactive cube inspection tools: ENVI, QGIS Crayfish/Spectral, and Python `hyperspy`.</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Richards, J. A. (2013). Remote Sensing Digital Image Analysis.</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[CASESTUDY] • SLIDE 23/30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Long-Term Ecological Monitoring Networks: NEON and ICOS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Automated tower-mounted spectrometers in NEON and ICOS networks provide decade-long continuous time series of canopy phenology.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NEON (National Ecological Observatory Network, USA): Airborne Observation Platform (AOP) hyperspectral surveys paired with tower radiometry.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ICOS (Integrated Carbon Observation System, Europe): Continuous spectral radiometers tracking gross primary productivity and phenology.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Captures inter-annual climate impacts: Drought stress, spring green-up anomalies, and autumn senescence.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Kampe, T. U. et al. (2010). NEON: Airborne observation platform for detecting continental-scale ecological change. SPIE.</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[PROTOCOL] • SLIDE 24/30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Laboratory Protocol for Wet Chemistry Ground Truth</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Spectroscopic models are only as accurate as the laboratory wet chemistry used to calibrate them.</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Chlorophyll extraction: Spectrophotometric assay using 80% acetone or 96% ethanol and Lichtenthaler equations.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Nitrogen determination: Dumas high-temperature combustion or micro-Kjeldahl digestion.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Quality control: Triplicate analytical replicates, certified laboratory reference standards, and blind blank samples.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Lichtenthaler, H. K. (1987). Chlorophylls and carotenoids: Pigments of photosynthetic biomembranes. Methods in Enzymology.</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[CASESTUDY] • SLIDE 25/30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Spectroscopy in Planetary Exploration: Mars and Moon Analog Studies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Terrestrial field spectroscopy is the primary tool for interpreting reflectance data from Mars rovers and lunar orbiters.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Mars 2020 Perseverance Rover: SuperCam and SHERLOC spectrometers analyzing Jezero Crater mineralogy.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Terrestrial field analogs: Atacama Desert, Iceland basalt volcanic fields, and Antarctic dry valleys.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Field spectrometers validate detection of phyllosilicates, sulfates, and carbonates that indicate ancient water activity.</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Wiens, R. C. et al. (2021). The SuperCam instrument suite on the Mars 2020 rover: Body unit and combined system tests. Space Science Reviews.</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[MATHEMATICS] • SLIDE 26/30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Machine Learning vs. Physics-Based Models: A Philosophical Debate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The future of remote sensing lies in hybrid modeling: embedding physical laws (RTMs) directly into deep learning architectures.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Pure Machine Learning: Flexible and fast, but prone to spurious correlations and catastrophic failure outside training domains.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Pure Physics (RTM): Universally valid and mechanistic, but computationally heavy and simplified (turbid assumptions).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Physics-Informed Neural Networks (PINNs): Loss functions penalize predictions that violate energy conservation or RTM equations.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Camps-Valls, G. et al. (2021). Physics-aware machine learning for Earth observation. Nature Reviews Earth &amp; Environment.</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27/30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Field Equipment Maintenance and Post-Season Storage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Proper seasonal storage preserves spectrometer optical bench alignment and prevents detector mold degradation.</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Desiccant maintenance: Recharge instrument internal desiccant cartridges whenever indicator turns pink.</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Battery storage: Store lithium batteries at 50% state of charge (3.85V/cell) in fireproof containers at 15°C.</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Fiber storage: Never coil cables tighter than 30 cm diameter; install protective metal end caps on all optical connectors.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Annual recalibration: Schedule factory or certified metrology laboratory calibration every 12 months.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Analytical Spectral Devices (2012). FieldSpec Maintenance and Care Guide.</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28/30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Preparing Research Papers for Publication in Remote Sensing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Peer-reviewed remote sensing journals enforce strict methodological reporting for field radiometry.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Mandatory reporting checklist: Sensor model, foreoptic FOV, sensor height, SZA range, sky condition (AOD, clouds).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White reference panel serial number, calibration certificate date, and re-acquisition interval.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Uncertainty statement: State whether reported reflectance is HCRF or BRF, and provide error bars / confidence ribbons.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Target journals: Remote Sensing of Environment (RSE), IEEE TGRS, ISPRS Journal, International Journal of Applied Earth Observation.</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Milton, E. J. et al. (2009). Remote Sensing of Environment.</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29/30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AI Research Tutor: Interactive Learning &amp; Real-Time Q&amp;A</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Students can utilize the integrated AI Research Tutor powered by Gemini with deep academic reasoning for instant concept guidance.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Interactive inquiry: Ask complex questions regarding equations, calibration pitfalls, and code troubleshooting.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Grounded in academic standards: Provides authoritative explanations citing Milton et al., Schaepman-Strub, and Jacquemoud.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Code generation: Assists in customizing Python and R scripts for specific field instruments and experimental designs.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Google DeepMind (2024). Gemini Models Technical Documentation.</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latin typeface="Arial" pitchFamily="34" charset="0"/>
                <a:ea typeface="Arial" pitchFamily="34" charset="-122"/>
                <a:cs typeface="Arial" pitchFamily="34" charset="-120"/>
              </a:rPr>
              <a:t>MOD 8 • [QUALITYASSURANCE] • SLIDE 30/30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Module 8 Capstone &amp; Course Completion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latin typeface="Arial" pitchFamily="34" charset="0"/>
                <a:ea typeface="Arial" pitchFamily="34" charset="-122"/>
                <a:cs typeface="Arial" pitchFamily="34" charset="-120"/>
              </a:rPr>
              <a:t>CORE TAKEAWAY: Congratulations on completing Principles of Field Spectroscopy: You now command the full theoretical and practical discipline.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You have mastered: Optical radiation physics, point spectroradiometer hardware, NIST calibration, outdoor sampling protocols, UAV imaging payloads, advanced spectral preprocessing, radiative transfer modeling, and spectral databases.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Proceed to execute your final Field Exercise Capstone and Automated Quizzes.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Your rigorous data will calibrate the satellites that monitor our changing planet.</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latin typeface="Arial" pitchFamily="34" charset="0"/>
                <a:ea typeface="Arial" pitchFamily="34" charset="-122"/>
                <a:cs typeface="Arial" pitchFamily="34" charset="-120"/>
              </a:rPr>
              <a:t>References: Milton, E. J., Schaepman, M. E., Anderson, K., &amp; Gao, B. C. (2009). Progress in field spectroscopy. Remote Sensing of Environment, 113, S92-S109.</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standalone="yes"?>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vt:lpstr>Fonts Used</vt:lpstr></vt:variant>
			<vt:variant><vt:i4>2</vt:i4></vt:variant>
			<vt:variant><vt:lpstr>Theme</vt:lpstr></vt:variant>
			<vt:variant><vt:i4>1</vt:i4></vt:variant>
			<vt:variant><vt:lpstr>Slide Titles</vt:lpstr></vt:variant>
			<vt:variant><vt:i4>31</vt:i4></vt:variant>
		</vt:vector>
	</HeadingPairs>
	<TitlesOfParts>
		<vt:vector size="34" baseType="lpstr">
			<vt:lpstr>Arial</vt:lpstr>
			<vt:lpstr>Calibri</vt:lpstr>
			<vt:lpstr>Office Theme</vt:lpstr>
			<vt:lpstr>Slide 1</vt:lpstr><vt:lpstr>Slide 2</vt:lpstr><vt:lpstr>Slide 3</vt:lpstr><vt:lpstr>Slide 4</vt:lpstr><vt:lpstr>Slide 5</vt:lpstr><vt:lpstr>Slide 6</vt:lpstr><vt:lpstr>Slide 7</vt:lpstr><vt:lpstr>Slide 8</vt:lpstr><vt:lpstr>Slide 9</vt:lpstr><vt:lpstr>Slide 10</vt:lpstr><vt:lpstr>Slide 11</vt:lpstr><vt:lpstr>Slide 12</vt:lpstr><vt:lpstr>Slide 13</vt:lpstr><vt:lpstr>Slide 14</vt:lpstr><vt:lpstr>Slide 15</vt:lpstr><vt:lpstr>Slide 16</vt:lpstr><vt:lpstr>Slide 17</vt:lpstr><vt:lpstr>Slide 18</vt:lpstr><vt:lpstr>Slide 19</vt:lpstr><vt:lpstr>Slide 20</vt:lpstr><vt:lpstr>Slide 21</vt:lpstr><vt:lpstr>Slide 22</vt:lpstr><vt:lpstr>Slide 23</vt:lpstr><vt:lpstr>Slide 24</vt:lpstr><vt:lpstr>Slide 25</vt:lpstr><vt:lpstr>Slide 26</vt:lpstr><vt:lpstr>Slide 27</vt:lpstr><vt:lpstr>Slide 28</vt:lpstr><vt:lpstr>Slide 29</vt:lpstr><vt:lpstr>Slide 30</vt:lpstr><vt:lpstr>Slide 31</vt:lpstr>
		</vt:vector>
	</TitlesOfParts>
	<Company>GEO-MSc-704 Earth Observation & Geo-Information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 Spectral Databases, SPECCHIO, Metadata Architecture &amp; Course Capstone</dc:title>
  <dc:subject>PptxGenJS Presentation</dc:subject>
  <dc:creator>Principles of Field Spectroscopy - MSc Curriculum</dc:creator>
  <cp:lastModifiedBy>Principles of Field Spectroscopy - MSc Curriculum</cp:lastModifiedBy>
  <cp:revision>1</cp:revision>
  <dcterms:created xsi:type="dcterms:W3CDTF">2026-10-12T19:27:31Z</dcterms:created>
  <dcterms:modified xsi:type="dcterms:W3CDTF">2026-10-12T19:27:31Z</dcterms:modified>
</cp:coreProperties>
</file>
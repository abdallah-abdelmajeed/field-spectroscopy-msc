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4. Here we transition from instrument mechanics to the operational choreography of outdoor field campaigns.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solar elevation chart and emphasize why trying to acquire field spectra at 8:00 AM or 17:00 PM yields uninterpretable BRDF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calculating true solar noon for their exact university campus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aerial photos of the bright hotspot halo around an aircraft shadow over forests or crop canopies.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with a laser pointer mounted on a handheld grip how much hand tremor shifts the target footprint.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calculate footprint sizes for 1°, 8°, and 25° foreoptics held at heights of 1 m, 2 m, and 5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REV graph: variance is huge at small scale, drops to a stable plateau, then rises as regional landscape heterogeneity enters.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polar diagram of diffuse sky blockage caused by an operator standing 50 cm away from a Spectralon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3D spherical coordinate geometry showing the SPP and CPP orientations relative to solar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an example: If CV = 20% and we want mean reflectance estimated within 5% error, N = (1.96 * 0.20 / 0.05)^2 ≈ 62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four sampling diagrams and discuss when stratified random is superior to systematic grids.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Gaussian 2D PSF of Sentinel-2 MSI and how off-center ground targets contribute to adjacent pixels.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RTK Fixed (integer ambiguity resolved, cm accuracy) and RTK Float (decimeter uncertainty).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 passing thin cirrus cloud creates a 3% dip in pyranometer flux that is invisible to the naked eye.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Microtops instrument and show how AERONET data can substitute if a fixed site is within 25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neglecting soil moisture changes during a day can lead to false conclusions about vegetation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photos of an erectophile grass canopy vs planophile clover and contrast their nadir reflectance spectra.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proper leaf preservation techniques for remote expeditions.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biological soil crusts in drylands produce a false "vegetation" signal due to cyanobacterial chlorophyll.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why measuring water straight down (nadir) fails: severe sun glint blinds the spectrometer.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video/photos of the FIGIFIGO goniometer operating over snow and peat bogs.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UAV reconnaissance prevents wasting field time on non-representative ground patches.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hierarchical tree structure of an ISO 19115-2 metadata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printable NERC FSF field sheets and review their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an electronic form ensures no required parameter is accidentally skipped.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 photograph taken 5 years ago helped resolve an unexpected spectral anomaly in a long-term ecological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 mock drill in the classroom simulating the two-person team verbal communication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students the heartbreak of lost field data and how strict daily triage saves research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Jasper Ridge spatial maps, hyperspectral image cubes, and the strong agreement with field spectra.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golden rules of field radiometry, answer questions on sampling geometry, and introduce Lab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FIELD SPECTROSCOPY • GEO-MSc-704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Field Sampling Protocols, Geometry &amp; Quality Assurance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Teaching Hours • 1.5 ECTS Credits • 30 Lecture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bridges laboratory precision with the complex realities of outdoor field environments. MSc students master the geometry and physics of natural outdoor radiometry: restricting observations to the SZA &lt; 45°–50° golden window, converting between civil time and true local solar time, and avoiding the optical retro-reflection hotspot. The module formulates sensor height and foreoptic footprint math, defines operator shadow/skylight exclusion zones, and establishes robust spatial sampling strategies (stratified random, regular grids, transects) for scaling up to Sentinel-2 and Landsat pixels. Students implement comprehensive metadata logging compliant with ISO 19115-2 and NERC FSF guidelines.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Field Sampling Design &amp; Geometrical Protocols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 situ optical radiometry is subject to dynamic outdoor environmental perturbations that require strict geometric and temporal sampling protocols.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laboratory benches, outdoor fields feature shifting solar angles, moving shadows, wind-induced canopy motion, and atmospheric aerosol variations.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reproducibility demands standardized geometrical constraints on illumination and viewing.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establishes the rules of engagement for outdoor data acquisition to ensure high-fidelity surface reflectance retrieval.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Flawed field protocol produces corrupted spectral signatures that no downstream algorithm can salvage.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et al. (2009). Progress in field spectroscopy. Remote Sensing of Environment, 113, S92-S109.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Solar Zenith Angle (SZA) Window: The ±2 Hour Golden Window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Valid field spectroradiometry must be strictly confined to solar zenith angles θ_s &lt; 45°–50° (within ±2 hours of local solar noon).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θ_s &gt; 50°, direct solar irradiance decreases rapidly, while optical air mass (AM) increases steeply.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SZA elongates surface shadows, exaggerating non-Lambertian BRDF cavity scattering and micro-topographic shading.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SZA causes forward specular scattering on Spectralon reference panels, introducing systematic calibration errors.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Restrict primary field campaigns to between 10:00 and 14:00 true local solar time.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\theta_s \le 50^\circ \implies \text{Air Mass } m \le 1.55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ensuring high solar elevation and manageable atmospheric attenuation.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Curtiss, B., &amp; Goetz, A. F. (1994). Field spectrometry: Techniques and instrumentation.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[MATHEMATICS] • SLIDE 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Solar Time vs. Civil Clock 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Civil clock time differs substantially from true local solar time due to time zones, Daylight Saving Time, and orbital eccentricity.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noon (12:00 on your watch) rarely coincides with true solar noon (maximum solar elevation).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Equation of Time (EoT): Accounts for Earth's orbital eccentricity and axial tilt (up to ±16 minutes shift).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Longitude correction: 4 minutes of time per degree of longitude away from the time zone meridian.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compute the exact solar noon timestamp using NOAA solar calculator algorithms before setting out.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\text{Solar Time} = \text{Civil Time} + \frac{4(\text{Lon} - \text{Lon}_{\text{ref}})}{60} + \frac{\text{EoT}}{60} - \text{DST}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calculation of local solar time in hours.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Reda, I., &amp; Andreas, A. (2004). Solar position algorithm. Solar Energy.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[PHYSICS] • SLIDE 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Reflectance &amp; The Optical Hotspot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When the illumination angle and viewing angle coincide (exact retro-reflection), shadows vanish, producing the optical hotspot.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(opposition surge): Sharp peak in reflected radiance when looking directly along the solar illumination vector.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causes: Complete disappearance of cast shadows behind foliage/soil particles + coherent backscatter.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reflectance can double within 2°–5° of the exact retro-illumination direction.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viewing geometries within 15° of the solar anti-solar point unless explicitly measuring hotspot parameters.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Kuusk, A. (1991). The hot spot effect of a plant canopy. In Photon-Vegetation Interactions, Springer.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Geometry: Nadir vs. Off-Nadir Alignments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Standard ground validation requires strict nadir viewing (θ_v = 0°); unintended tilts introduce multi-percent BRDF errors.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Nadir viewing (0° zenith) looks straight down, matching typical satellite near-nadir swaths (e.g. Landsat, Sentinel-2).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5° tilt of the foreoptic towards the sun increases shadow exposure, artificially reducing apparent NIR reflectance.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5° tilt away from the sun captures illuminated leaf facets, artificially boosting reflectance.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equipment: Two-axis bubble level mounted directly onto the foreoptic barrel.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human hand leveling; handheld foreoptics consistently drift by 6° to 12° during scans.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(2014). Optimizing the use of field spectrometers.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[MATHEMATICS] • SLIDE 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Calculating the Foreoptic Ground Footprint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spatial sampling footprint is governed by sensor height, angular field of view, and viewing zenith angle.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circular nadir foreoptics, the footprint is a circle of diameter D = 2 · h · tan(FOV / 2).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 area scales with the square of height: A = π · (h · tan(FOV / 2))².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off-nadir viewing (θ_v &gt; 0°), the footprint elongates into an ellipse with major and minor axes governed by perspective projection.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D_{\text{nadir}} = 2 \cdot h \cdot \tan\left(\frac{\text{FOV}}{2}\right), \quad a = h \cdot \frac{\sin(\text{FOV}/2)}{\cos(\theta_v + \text{FOV}/2)}, \; b = h \cdot \frac{\sin(\text{FOV}/2)}{\cos(\theta_v - \text{FOV}/2)}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nadir footprint and elliptical off-nadir footprint semimajor axes.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Curtiss, B., &amp; Goetz, A. F. (1994). Field spectrometry techniques.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Footprint Sizing vs. Canopy Structural Scale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footprint diameter must be at least 3 to 5 times larger than individual canopy structural elements to achieve representative averaging.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footprint is smaller than a single leaf or gap: Measurements fluctuate wildly between 100% sunlit leaf and 100% dark shadow gap.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Elementary Volume (REV): The minimum footprint size that yields a stable spatial average of canopy architecture.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row crops (e.g. maize, vineyards), footprint must span an integer number of crop rows and inter-row spaces to prevent row-phase bias.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1 m tall agricultural crops, mount the 25° foreoptic at least 2.5 m above the top of the canopy.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(1987). Principles of field spectroscopy. International Journal of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Exclusion Zone &amp; Cast Shadows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field operator and metallic equipment must remain outside the direct solar line and diffuse field of view.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cast shadow: An operator standing between the sun and the target casts an obvious dark shadow, ruining the scan.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 sky obstruction: An operator standing near the target blocks a fraction of the 2π diffuse skylight, creating a subtle 2–5% blue deficit.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reflection: A bright yellow, red, or white jacket reflects colored photons onto the target or reference panel.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rule: Operators must wear matte, non-reflective neutral gray or dark clothing and stand opposite or perpendicular to the solar azimuth.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must stand at least 1.5 to 2.0 meters back from the target, aligned perpendicular to the solar principal plane.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Best Practice Manual for Field Spectroradiometry.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[MATHEMATICS] • SLIDE 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Solar Principal Plane and Cross-Principal Plane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Anisotropy is maximum along the Solar Principal Plane and minimum along the Cross-Principal Plane.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Principal Plane (SPP): Vertical plane containing the solar vector and the surface normal (azimuths φ = φ_s and φ = φ_s + 180°).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both the optical hotspot (retro-reflection) and forward specular scattering peak.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Cross-Principal Plane (CPP): Vertical plane perpendicular to the SPP (azimuths φ = φ_s ± 90°).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BRDF variation is most symmetric and minimal in the Cross-Principal Plane, making it ideal for directional calibration tests.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Schaepman-Strub, G. et al. (2006). Remote Sensing of Environment, 103(1), 27-42.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[MATHEMATICS] • SLIDE 10/30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Heterogeneity &amp; Sample Size Determination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required number of field spectra depends statistically on target spatial variance and the desired margin of error.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Limit Theorem: The standard error of the mean decreases with the square root of sample size: SE = s / √N.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95% confidence interval with allowable relative margin of error E: N = (t_crit · CV / E)², where CV is coefficient of variation (s / x̄).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uniform wheat fields, N = 10–15 spectra may suffice; in heterogeneous rangelands, N = 50–100 spectra are required.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\left( \frac{z_{1-\alpha/2} \cdot \text{CV}}{E} \right)^2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 formula for estimating population mean reflectance within relative tolerance 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Cochran, W. G. (1977). Sampling Techniques (3rd ed.). John Wiley &amp; Sons.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11/30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Strategies: Stratified Random vs. Systematic Grids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Spatial sampling designs must avoid sampling bias to represent true landscape pixel compositions accurately.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Random Sampling: Every ground point has an equal chance of selection; avoids spatial autocorrelation bias.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Random Sampling: Divides heterogeneous field into homogeneous strata (e.g. hill crest, slope, hollow) and samples each proportionally.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Regular Grid: Evenly spaced grid nodes; guarantees uniform spatial coverage across satellite pixel footprints.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Cross-Transects (Star / X-shape): Rapid collection covering major directional gradients across a 30m × 30m pixel.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McCoy, R. M. (2005). Field Methods in Remote Sensing. Guilford Press.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[CASESTUDY] • SLIDE 12/30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Pixel Validation: Upscaling to Sentinel-2 and Landsat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Validating a 10m Sentinel-2 or 30m Landsat pixel requires integrating multi-point ground spectra weighted by Point Spread Function (PSF).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point spectrometer footprint (0.5 m) covers &lt; 0.25% of a 10m × 10m Sentinel-2 pixel area (100 m²).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Spread Function (PSF): Satellite pixels are not square boxcars; the optical system weights central radiance higher than edges.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sampling must distribute 20 to 50 spectral points across the satellite Elementary Sampling Unit (ESU) centered on high-precision GNSS coordinates.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\bar{\rho}_{\text{pixel}}(\lambda) = \frac{\sum_{i=1}^N \text{PSF}(x_i, y_i) \cdot \rho_i(\lambda)}{\sum_{i=1}^N \text{PSF}(x_i, y_i)}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PSF-weighted spatial aggregation of point field spectra to satellite pixel scale.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Baret, F. et al. (2006). VALERI: A network of sites and a methodology for the validation of medium spatial resolution land products.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13/30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High-Precision GNSS Georeferencing in the Field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Standard smartphone GPS (±5 m error) is unacceptable for validating 10m satellite pixels; RTK-GNSS (±2 cm) is mandatory.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5-meter positional error places the validation sample into an adjacent agricultural field or road boundary.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Kinematic (RTK) GNSS: Uses base-station carrier-phase differential corrections to achieve 1–2 cm horizontal precision.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PPK (Post-Processed Kinematic): Logs raw satellite observables for post-survey processing when cell coverage is absent.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GNSS coordinate at every spectral sampling station and record antenna height and horizontal dilution of precision (HDOP).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RTK Fixed status before logging waypoint; never accept RTK Float or autonomous GPS fixes.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Hofmann-Wellenhof, B. et al. (2008). GNSS – Global Navigation Satellite Systems. Springer.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[QUALITYASSURANCE] • SLIDE 14/30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Illumination Monitoring: Pyranometers &amp; Sky Radiometers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Deploying a continuous solar pyranometer station concurrent with field scans detects sub-visual cloud transients.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pyranometer logging global solar irradiance at 1-second intervals provides an objective atmospheric stability record.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Irradiance coefficient of variation: CV_solar = σ(E) / μ(E) evaluated over 60-second sliding windows.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threshold: Flag and discard field spectral scans acquired when CV_solar &gt; 0.5% over the measurement duration.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pyranometer logger on a small tripod in the center of the field site, connected via Bluetooth or SD card.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(2014).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[INSTRUMENTATION] • SLIDE 15/30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Aerosol Optical Depth (AOD) Tracking with Sun Photometers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Handheld sun photometers (Microtops II) track instantaneous aerosol optical depth and total precipitable water column.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Microtops II: Five-channel handheld sun photometer pointed directly at the solar disk.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direct solar irradiance at 380, 440, 675, 870, and 936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AOD at 500 nm (τ₅₀₀) and water vapor column (W in cm) via Langley plot calibration.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CEOS WGCV requirement: Field campaigns must log AOD &lt; 0.20 to guarantee clear-sky calibration quality.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the sun's image onto the Microtops alignment target with steady hands and take triplets of readings.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Morys, M. et al. (2001). Design, calibration, and performance of Microtops II handheld sunphotometer. Journal of Geophysical Research.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[QUALITYASSURANCE] • SLIDE 16/30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Covariates: Soil Moisture, Air Temp &amp; Humidity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Spectra are meaningless without concurrent documentation of auxiliary biophysical and environmental covariates.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moisture: Volumetric Water Content (VWC %) measured with TDR / FDR impedance probes in the top 5 cm.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temperature: Thermal infrared radiometer (e.g. Apogee IRT) measuring target kinetic temperature.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Meteorological covariates: Air temperature, relative humidity, wind speed, barometric pressure logged with portable weather station.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soil drying during a 4-hour midday campaign increases soil reflectance at 1600 nm by up to 15%.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McCoy, R. M. (2005). Field Methods in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17/30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Vegetation Canopy Structural Metrics: LAI and Leaf Angle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Canopy reflectance is strongly governed by Leaf Area Index (LAI) and Leaf Angle Distribution (LAD).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Area Index (LAI): Total one-sided leaf area per unit ground surface area [m² / m²].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LAI concurrently using digital hemispherical photography (DHP) or plant canopy analyzers (LI-COR LAI-2200C).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Angle Distribution: Planophile (horizontal), erectophile (vertical), spherical, or plagiophile.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Erectophile canopies (grasses) show deep photon penetration and high shadow fractions at low SZA.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Planophile canopies (sunflower, clover) saturate reflectance at lower LAI values.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Jonckheere, I. et al. (2004). Review of methods for in situ leaf area index determination. Agricultural and Forest Meteorology.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18/30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Sampling Protocols: Top-of-Canopy vs. Understory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When collecting foliar contact probe spectra, sampling must follow standardized vertical canopy stratification.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Sunlit top-of-canopy leaves have higher nitrogen, higher chlorophyll a/b ratio, thicker cuticles, and more palisade parenchyma layers.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 leaves have higher specific leaf area (SLA) and lower overall reflectance in the NIR.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Collect fully expanded, healthy leaves from the upper outer sunlit crown (sun leaves) using pole pruners.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detached petioles in moist paper towels, seal in dark zip-bags on blue ice, and measure within 2 hours.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leaves wilt or dehydrate before contact probe measurement; cell collapse alters NIR scattering instantly.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Doughty, C. E. et al. (2011). Foliar spectral traits in tropical trees.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19/30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Surface Preparation Protocols: Roughness and Crusts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Surface crusts, tillage furrows, and gravel lag deposits dictate soil directional reflectance and micro-shadowing.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Micro-relief and surface roughness cast micro-shadows that reduce overall spectral reflectance (darkening effect).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soil crusts (biocrusts): Cyanobacteria, lichens, and mosses produce distinct chlorophyll absorption features on soil surfaces.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Document whether the soil surface is undisturbed, crusted, ploughed, or freshly raked.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collecting soil for laboratory spectroscopy, follow ISO 18400 sampling and dry sieving protocols (&lt; 2 mm).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Ben-Dor, E. et al. (1999). Imaging spectrometry for soil applications.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20/30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Aquatic and Water Surface Protocols: Above-Water Radiometry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Water surface radiometry requires precise viewing angles (θ_v = 40°, φ_rel = 135°) to avoid direct sun glint.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Mobley (1999) protocol: Aim foreoptic at water surface at viewing zenith angle θ_v = 40° and relative azimuth angle Δφ = 135° from the sun.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water radiance L_t, sky radiance L_sky (at θ_sky = 40°), and downwelling irradiance E_s.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Water-leaving radiance: L_w = L_t - ρ_sky · L_sky, where ρ_sky is the Fresnel surface reflectance factor (typically 0.028 for calm water).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R_{\text{rs}}(\lambda) = \frac{L_w(\lambda)}{E_s(\lambda)} = \frac{L_t(\lambda) - \rho_{\text{sky}} L_{\text{sky}}(\lambda)}{E_s(\lambda)}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Sensing Reflectance (R_rs) [sr⁻¹] for aquatic optical applications.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Mobley, C. D. (1999). Estimation of the remote-sensing reflectance from above-surface measurements. Applied Optics.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[INSTRUMENTATION] • SLIDE 21/30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Goniometers: Measuring Multi-Angular BRDF Outdoors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Field goniometers rotate a spectrometer foreoptic across a hemispherical arc to map surface anisotropy in situ.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FIGIFIGO (Finnish Geodetic Institute), ASG (Airborne Spectrometer Goniometer), MUFIGO.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Acquires reflected radiance across multiple view zenith angles (0° to 70°) and azimuth angles (0° to 360°).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rapid automated acquisition (&lt; 10 minutes) before solar position shifts significantly.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empirical BRDF kernels used to calibrate MODIS and satellite BRDF/albedo products.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Suomalainen, J. et al. (2009). FIGIFIGO—A new Brazilian-Finnish field goniometer system. Sensors.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[CASESTUDY] • SLIDE 22/30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/ UAV Pre-Survey Reconnaissance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Deploying a high-resolution RGB drone before ground spectroscopy maps micro-spatial heterogeneity and guides sampling strata.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a preliminary 15-minute drone orthophoto survey at 30 m altitude (GSD &lt; 1 cm).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instant NDVI and elevation models to identify canopy gaps, bare soil patches, and vegetation vigor gradients.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Delineate homogeneous strata and assign optimal GPS waypoints for ground spectrometer operators.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drone orthomosaic on field tablets for real-time navigation to sampling stations.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Anderson, K., &amp; Gaston, K. J. (2013). Lightweight unmanned aerial vehicles will revolutionize spatial ecology. Frontiers in Ecology.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[QUALITYASSURANCE] • SLIDE 23/30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Standards: ISO 19115-2 &amp; FGDC Extensions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Data without standardized metadata is scientifically useless; ISO 19115-2 defines geospatial imagery and gridded data schemas.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19115-2: Geographic information — Metadata — Part 2: Extensions for acquisition and processing.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sections: Lineage, instrument identification, platform characteristics, acquisition geometry, environmental conditions.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metadata: XML and JSON schemas enabling automated ingestion into global spectral repositories (SPECCHIO, ECOSTRESS).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ISO (2019). ISO 19115-2:2019 Geographic information — Metadata — Part 2. International Organization for Standardization.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[QUALITYASSURANCE] • SLIDE 24/30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NERC FSF Field Metadata Protocol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Natural Environment Research Council Field Spectroscopy Facility defines the gold-standard operational field logging template.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field sheet tracks 28 mandatory parameters per sampling station.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Campaign code, site name, instrument serial number, foreoptic ID, white reference ID, target description.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parameters: Time (UTC), solar zenith, solar azimuth, sensor height, view zenith, view azimuth.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logs: Sky clarity (oktas), cloud types, wind speed, relative humidity, air temperature.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every field sheet field in ink at the moment of acquisition; never reconstruct metadata from memory at the hotel.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Field Spectroscopy Protocol and Recording Template.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[INSTRUMENTATION] • SLIDE 25/30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Field Logging Systems: Mobile Apps &amp; Electronic Tablets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Ruggedized field tablets with synchronized digital logging eliminate transcription errors and automatically tag GNSS and timestamps.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tools: QField, ArcGIS Survey123, Fulcrum, or custom SPECCHIO mobile logging apps.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Bluetooth sensor integration: Auto-populates GPS coordinates, compass heading, and digital photo into the spectral database.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validation: Software validates that solar zenith is within bounds and alerts operator if time since last WR exceeds 5 minutes.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Hueni, A. et al. (2009). The spectral database SPECCHIO for improved data sharing and data analysis. Computers &amp; Geosciences.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26/30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Site Photography: Contextual and Nadir Imagery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Every spectral target must be paired with high-resolution nadir and oblique contextual photography.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Nadir target photo: Taken looking straight down with a scale bar / ruler and color calibration checker (e.g. Macbeth card) in frame.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automated digital image classification of fractional cover (green leaf %, brown litter %, bare soil %).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Four-cardinal-direction contextual photos: North, East, South, West views from the station to document surrounding terrain.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condition photo: 180° fish-eye or wide-angle sky photo showing cloud cover status at time of scan.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the scale bar on the edge of the target footprint, never inside the active field of view.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CEOS WGCV (2014). Field Spectrometry Protocol.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27/30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Team Logistics, Roles and Safety Choreography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 two-person field crew with distinct, synchronized roles operates 3x faster and with significantly fewer protocol errors.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1 (Instrument Operator): Manages foreoptic pistol grip/boom, maintains nadir level, aims precisely, wears dark clothing.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2 (Data Logger &amp; Navigator): Controls computer/tablet, monitors real-time spectrum, tracks time since last WR, logs environmental data.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Communication: Verbal callouts ("Optimizing", "White Reference Acquired", "Scanning Target 1 of 5", "Save Complete").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safety: Heat stress mitigation, hydration, snake/insect protection, and vehicle communications in remote terrains.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roles every 2 hours to maintain sharp attention and prevent operator physical fatigue.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Operational Field Guide.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[QUALITYASSURANCE] • SLIDE 28/30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Post-Field Data QA/QC Triage Protocol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Execute systematic data triage immediately at the end of each field day while field conditions remain fresh in memory.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(Integrity check): Verify file count matches field log sheets; confirm no corrupted or 0-byte files.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(Visual screening): Plot all spectra in batch; immediately flag and isolate outliers with spurious slopes or clipping.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(WR verification): Inspect WR check files; ensure maximum departure from 1.0 is &lt; 1.5%.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(Backup redundancy): Implement the 3-2-1 backup rule: 3 copies, 2 different media (laptop + external SSD), 1 cloud/remote copy.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wipe instrument memory cards until two verified backups have been completed and checked.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Wilkinson, M. D. et al. (2016). Scientific Data, 3, 160018.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[CASESTUDY] • SLIDE 29/30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Golden Grassland Cal/Val Campaign in California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Jasper Ridge grassland field campaigns demonstrate how rigorous geometric protocols validate AVIRIS and PRISMA missions.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Mediterranean annual grassland undergoing rapid summer dry-down.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100m × 100m grid with 49 sampling stations; ASD FieldSpec on 2.5m boom arm; RTK GPS coordinates.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Characterized dry matter fraction (cellulose and lignin absorption at 2100 and 2300 nm) with R² = 0.89 against satellite retrievals.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success factor: Strict adherence to SZA &lt; 40° window eliminated senescent canopy shadowing artifacts.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Gamon, J. A. et al. (1993). Functional patterns in an annual grassland during an AVIRIS overflight.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4 • [PROTOCOL] • SLIDE 30/30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Synthesis &amp; Preparing for Hyperspectral Imaging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Flawless field protocols guarantee high-confidence ground truth data ready for scaling to UAV and satellite imaging platforms.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synthesized: Solar zenith angle restrictions, BRDF avoidance, footprint calculations, operator exclusion, and ISO metadata.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Module 5, we transition from single-point spectrometers to 2D hyperspectral and multispectral imaging: pushbroom cameras, UAV payloads, and image cubes.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for Field Exercise 4: Executing a full multi-point sampling grid over a heterogeneous vegetated parcel.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et al. (2009). Progress in field spectroscopy. Remote Sensing of Environment, 113, S92-S109.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31</Slides>
	<Notes>31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31</vt:i4></vt:variant>
		</vt:vector>
	</HeadingPairs>
	<TitlesOfParts>
		<vt:vector size="3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<vt:lpstr>Slide 19</vt:lpstr><vt:lpstr>Slide 20</vt:lpstr><vt:lpstr>Slide 21</vt:lpstr><vt:lpstr>Slide 22</vt:lpstr><vt:lpstr>Slide 23</vt:lpstr><vt:lpstr>Slide 24</vt:lpstr><vt:lpstr>Slide 25</vt:lpstr><vt:lpstr>Slide 26</vt:lpstr><vt:lpstr>Slide 27</vt:lpstr><vt:lpstr>Slide 28</vt:lpstr><vt:lpstr>Slide 29</vt:lpstr><vt:lpstr>Slide 30</vt:lpstr><vt:lpstr>Slide 31</vt:lpstr>
		</vt:vector>
	</TitlesOfParts>
	<Company>GEO-MSc-704 Earth Observation & Geo-Information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Rigorous Field Sampling Protocols, Geometry &amp; Quality Assurance</dc:title>
  <dc:subject>PptxGenJS Presentation</dc:subject>
  <dc:creator>Principles of Field Spectroscopy - MSc Curriculum</dc:creator>
  <cp:lastModifiedBy>Principles of Field Spectroscopy - MSc Curriculum</cp:lastModifiedBy>
  <cp:revision>1</cp:revision>
  <dcterms:created xsi:type="dcterms:W3CDTF">2026-10-12T19:27:31Z</dcterms:created>
  <dcterms:modified xsi:type="dcterms:W3CDTF">2026-10-12T19:27:31Z</dcterms:modified>
</cp:coreProperties>
</file>
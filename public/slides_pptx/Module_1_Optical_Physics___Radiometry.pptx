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In this introductory lecture, we define field spectroscopy not merely as a measurement technique, but as the foundational ground-truth pillar of modern optical remote sensing.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division of wavelengths. Each spectral region interacts with matter at distinct quantum energetic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why we neglect self-emission from targets below 2500 nm in normal environmental temperatures (&lt; 50°C). Optical field spectroscopy measures reflected solar photons.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mathematical derivation connecting Wien's displacement to the derivative of Planck's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 close attention to projected area (dA cos θ). Spectroradiometers measure spectral radiance entering their field-of-view foreoptic.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 broadband pyranometer can indicate stable global solar flux while spectral irradiance changes due to changing water vapor.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field spectroscopic campaigns should restrict measurements to AM &lt; 1.5 to minimize excessive atmospheric attenuation.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solar distance correction factor (d0/d) squared for Earth-Sun elliptical orbital eccentricity.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transmission spectrum from MODTRAN/6S radiative transfer code to demonstrate the deep water vapor dips.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Oxygen A-band at 760 nm. This band is widely used in satellite remote sensing to retrieve solar-induced chlorophyll fluorescence (SIF).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why targets measured in shadows still receive significant blue illumination: diffuse Rayleigh skylight.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hazy day with identical total lux to a clear day has radically different spectral composition due to forward Mie scattering.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measurements made under partly cloudy skies fail because the diffuse component fluctuates erratically.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students distinguish between reflected radiance [W/m²/sr/nm] and reflectance [dimensionless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BRDF is not dimensionless—it has units of 1/steradian. Its integral over the hemisphere produces directional-hemispherical reflectance.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by Schaepman-Strub is mandatory reading. Misidentifying HCRF as BRF or BRDF is an immediate red flag in MSc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integral on the board. Students often confuse 2π with π because they forget the cosine projection weighting.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to always compute true solar time rather than civil clock time (accounting for equation of time and longitude).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cross-polarizing filters can remove waxy specular reflections, isolating the internal diffuse cellular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absorbance spectra of isolated pigments in acetone vs. in vivo intact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atoms like Hydrogen (H) vibrating against O, C, or N yield high vibrational frequencies, placing overtones in the SWIR.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Water Index (WI = R900 / R970) as a robust indicator of canopy hydration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field spectroscopy is utilized in exploration geology, planetary missions, and acid mine drainage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without multiple internal scattering, leaves would be transparent in the NIR. The NIR plateau reflectance is typically 40–50%.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Soil roughness creates micro-shadows that decrease apparent reflectance; always rake or level soil surfaces or log roughness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laboratory measurements cannot simply be substituted for field spectra: canopies are dynamic living biophysical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an optical pyranometer or dual-beam spectrometer setup is ideal for detecting subtle irradiance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expanding conical footprint on the board. Remind students that moving the sensor 2x higher covers 4x the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students to the NERC FSF calibration documentation and Coblentz spectral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lecture, open the floor for questions, and preview the practical laboratory on solar spectrum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731520" y="914400"/>
            <a:ext cx="7772400" cy="365760"/>
          </a:xfrm>
          <a:prstGeom prst="rect">
            <a:avLst/>
          </a:prstGeom>
          <a:noFill/>
          <a:ln/>
        </p:spPr>
        <p:txBody>
          <a:bodyPr wrap="square" rtlCol="0" anchor="ctr"/>
          <a:lstStyle/>
          <a:p>
            <a:pPr indent="0" marL="0">
              <a:buNone/>
            </a:pPr>
            <a:r>
              <a:rPr lang="en-US" sz="1300" b="1" dirty="0">
                <a:solidFill>
                  <a:srgbClr val="34D399"/>
                </a:solidFill>
                <a:latin typeface="Arial" pitchFamily="34" charset="0"/>
                <a:ea typeface="Arial" pitchFamily="34" charset="-122"/>
                <a:cs typeface="Arial" pitchFamily="34" charset="-120"/>
              </a:rPr>
              <a:t>PRINCIPLES OF FIELD SPECTROSCOPY • GEO-MSc-704</a:t>
            </a:r>
            <a:endParaRPr lang="en-US" sz="1300" dirty="0"/>
          </a:p>
        </p:txBody>
      </p:sp>
      <p:sp>
        <p:nvSpPr>
          <p:cNvPr id="3" name="Text 1"/>
          <p:cNvSpPr/>
          <p:nvPr/>
        </p:nvSpPr>
        <p:spPr>
          <a:xfrm>
            <a:off x="731520" y="1371600"/>
            <a:ext cx="7772400" cy="457200"/>
          </a:xfrm>
          <a:prstGeom prst="rect">
            <a:avLst/>
          </a:prstGeom>
          <a:noFill/>
          <a:ln/>
        </p:spPr>
        <p:txBody>
          <a:bodyPr wrap="square" rtlCol="0" anchor="ctr"/>
          <a:lstStyle/>
          <a:p>
            <a:pPr indent="0" marL="0">
              <a:buNone/>
            </a:pPr>
            <a:r>
              <a:rPr lang="en-US" sz="1600" b="1" dirty="0">
                <a:solidFill>
                  <a:srgbClr val="94A3B8"/>
                </a:solidFill>
                <a:latin typeface="Arial" pitchFamily="34" charset="0"/>
                <a:ea typeface="Arial" pitchFamily="34" charset="-122"/>
                <a:cs typeface="Arial" pitchFamily="34" charset="-120"/>
              </a:rPr>
              <a:t>MODULE 1</a:t>
            </a:r>
            <a:endParaRPr lang="en-US" sz="1600" dirty="0"/>
          </a:p>
        </p:txBody>
      </p:sp>
      <p:sp>
        <p:nvSpPr>
          <p:cNvPr id="4" name="Text 2"/>
          <p:cNvSpPr/>
          <p:nvPr/>
        </p:nvSpPr>
        <p:spPr>
          <a:xfrm>
            <a:off x="731520" y="1920240"/>
            <a:ext cx="7772400" cy="13716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Physics of Optical Radiation, Radiometry &amp; Atmospheric Transmission</a:t>
            </a:r>
            <a:endParaRPr lang="en-US" sz="2800" dirty="0"/>
          </a:p>
        </p:txBody>
      </p:sp>
      <p:sp>
        <p:nvSpPr>
          <p:cNvPr id="5" name="Text 3"/>
          <p:cNvSpPr/>
          <p:nvPr/>
        </p:nvSpPr>
        <p:spPr>
          <a:xfrm>
            <a:off x="731520" y="3474720"/>
            <a:ext cx="7772400" cy="365760"/>
          </a:xfrm>
          <a:prstGeom prst="rect">
            <a:avLst/>
          </a:prstGeom>
          <a:noFill/>
          <a:ln/>
        </p:spPr>
        <p:txBody>
          <a:bodyPr wrap="square" rtlCol="0" anchor="ctr"/>
          <a:lstStyle/>
          <a:p>
            <a:pPr indent="0" marL="0">
              <a:buNone/>
            </a:pPr>
            <a:r>
              <a:rPr lang="en-US" sz="1200" dirty="0">
                <a:solidFill>
                  <a:srgbClr val="CBD5E1"/>
                </a:solidFill>
                <a:latin typeface="Arial" pitchFamily="34" charset="0"/>
                <a:ea typeface="Arial" pitchFamily="34" charset="-122"/>
                <a:cs typeface="Arial" pitchFamily="34" charset="-120"/>
              </a:rPr>
              <a:t>4 Teaching Hours • 1.5 ECTS Credits • 30 Lecture Slides</a:t>
            </a:r>
            <a:endParaRPr lang="en-US" sz="1200" dirty="0"/>
          </a:p>
        </p:txBody>
      </p:sp>
      <p:sp>
        <p:nvSpPr>
          <p:cNvPr id="6" name="Text 4"/>
          <p:cNvSpPr/>
          <p:nvPr/>
        </p:nvSpPr>
        <p:spPr>
          <a:xfrm>
            <a:off x="731520" y="4023360"/>
            <a:ext cx="7772400" cy="1645920"/>
          </a:xfrm>
          <a:prstGeom prst="rect">
            <a:avLst/>
          </a:prstGeom>
          <a:noFill/>
          <a:ln/>
        </p:spPr>
        <p:txBody>
          <a:bodyPr wrap="square" rtlCol="0" anchor="ctr"/>
          <a:lstStyle/>
          <a:p>
            <a:pPr indent="0" marL="0">
              <a:buNone/>
            </a:pPr>
            <a:r>
              <a:rPr lang="en-US" sz="1100" i="1" dirty="0">
                <a:solidFill>
                  <a:srgbClr val="94A3B8"/>
                </a:solidFill>
                <a:latin typeface="Arial" pitchFamily="34" charset="0"/>
                <a:ea typeface="Arial" pitchFamily="34" charset="-122"/>
                <a:cs typeface="Arial" pitchFamily="34" charset="-120"/>
              </a:rPr>
              <a:t>This foundational module introduces MSc students to the core electromagnetic physics and radiative principles governing field spectroscopy. Students master Planck's law, Wien's displacement, blackbody emission, and the radiometric cascade from radiant flux to spectral radiance. The module investigates extraterrestrial solar irradiance (AM0 vs AM1.5), atmospheric attenuation mechanisms (Rayleigh and Mie scattering, gaseous absorption by H2O, CO2, O2, and O3), and the formal reflectance nomenclature defined by Schaepman-Strub et al., contrasting theoretical BRDF with field-measurable HCRF.</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1/30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Introduction to Field Spectroscopy in Environmental Science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Field spectroscopy bridges laboratory optical physics, ground truth validation, and airborne/satellite Earth observation.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Definition: In situ measurement of solar spectral radiance and material spectral reflectance.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Core purpose: Calibrating spaceborne sensors, validating atmospheric corrections, and quantifying surface biogeochemical traits.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Distinction between laboratory spectrophotometry and field spectroradiometry under dynamic solar illumination.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Natural outdoor measurements inherit solar zenith dynamics and atmospheric aerosol fluctuations.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Milton, E. J. (1987). Principles of field spectroscopy. International Journal of Remote Sensing, 8(12), 1807-1827.</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2/30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Electromagnetic Spectrum &amp; Optical Domain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Field spectroscopy operates primarily in the 350–2500 nm range: VNIR (350–1000 nm), SWIR-1 (1000–1800 nm), and SWIR-2 (1800–2500 nm).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Visible range (380–740 nm): Governed by electronic transitions in photosynthetic pigments and iron oxides.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Near-Infrared (NIR 740–1000 nm): Dominated by internal leaf cellular scattering and mineral crystal lattice reflections.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Shortwave-Infrared (SWIR 1000–2500 nm): Dominated by fundamental molecular vibrations, overtones, and combination bands (O-H, C-H, N-H, Al-OH).</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c = \lambda \cdot \nu \quad \text{and} \quad E = h \cdot \nu = \frac{h \cdot c}{\lambda}</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Photon energy is inversely proportional to wavelength; SWIR photons have lower energy than VNIR photons.</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Clark, R. N. (1999). Spectroscopy of rocks and minerals, and principles of spectroscopy. Manual of Remote Sensing, 3, 3-58.</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3/30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Blackbody Radiation &amp; Planck's Law</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Planck's distribution defines ideal thermal radiative emission as a function of absolute temperature and wavelength.</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Ideal blackbody: Perfect absorber and emitter of electromagnetic radiation at thermodynamic equilibrium.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effective surface temperature: ~5778 K, with spectral emission peaking around 500 nm (green visible light).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Earth surface temperature: ~300 K, peaking in thermal infrared (8–14 µm), well outside optical field spectroscopy.</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B_\lambda(\lambda, T) = \frac{2hc^2}{\lambda^5 \left( e^{\frac{hc}{\lambda k_B T}} - 1 \right)}</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Spectral radiance emitted into normal hemisphere [W m⁻² sr⁻¹ nm⁻¹].</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Planck, M. (1901). On the law of distribution of energy in the normal spectrum. Annalen der Physik, 4(553), 1-11.</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[MATHEMATICS] • SLIDE 4/30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Wien's Displacement Law &amp; Stefan-Boltzmann Law</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The peak wavelength of emission shifts inversely with absolute temperature; total radiant emittance scales with T⁴.</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Wien's displacement constant b ≈ 2897.77 µm·K.</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peak: λ_max = 2898 / 5778 K ≈ 0.501 µm (501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Stefan-Boltzmann law integrates Planck's equation across all wavelengths: M = σ·T⁴ (σ = 5.670374 × 10⁻⁸ W m⁻² K⁻⁴).</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\lambda_{\max} = \frac{b}{T} \quad \text{and} \quad M = \sigma T^4</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Explains the concentration of solar irradiance in the visible and near-infrared spectrum.</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Siegel, R., &amp; Howell, J. R. (2002). Thermal Radiation Heat Transfer. Taylor &amp; Francis.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5/30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Radiometric Quantities: Energy to Radiance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Understanding radiometric units is mandatory to avoid catastrophic calibration and unit-conversion errors.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Radiant Flux (Φ): Total radiant energy per unit time [Watts, W].</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Radiant Intensity (I): Radiant flux emitted per unit solid angle [W sr⁻¹].</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Irradiance (E): Radiant flux incident onto a surface per unit area [W m⁻²].</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Radiance (L): Radiant flux per unit projected surface area per unit solid angle [W m⁻² sr⁻¹].</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 = \frac{d^2\Phi}{dA \cos\theta \, d\Omega}</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Radiance is conserved along a ray path through non-attenuating media.</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Nicodemus, F. E. et al. (1977). Geometrical Considerations and Nomenclature for Reflectance. NBS Monograph 160.</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[INSTRUMENTATION] • SLIDE 6/30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Spectral Radiometry vs. Broadband Radiometry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Spectral quantities are derivatives with respect to wavelength, expressed per unit wavelength interval (nm or µm).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Irradiance: E_λ(λ) [W m⁻² nm⁻¹].</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Radiance: L_λ(λ) [W m⁻² sr⁻¹ nm⁻¹].</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Broadband sensors (pyranometers) integrate over 300–3000 nm, losing molecular absorption fingerprinting.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Spectroradiometers resolve radiation into hundreds or thousands of discrete contiguous spectral channels.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E = \int_{\lambda_1}^{\lambda_2} E_\lambda(\lambda) \, d\lambda</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Integration of spectral irradiance yields total broadband irradiance.</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Schaepman, M. E. (2007). Spectroradiometry—A review. Remote Sensing of Environment.</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7/30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Extraterrestrial Solar Spectrum: AM0 vs. AM1.5</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Atmospheric path length attenuates extraterrestrial irradiance according to the optical Air Mass (AM).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AM0: Solar spectrum outside Earth's atmosphere (solar constant S₀ ≈ 1361 W m⁻²).</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AM1: Sun directly overhead at zenith (θ_s = 0°) at sea level.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AM1.5: Standard solar reference spectrum for mid-latitudes (θ_s ≈ 48.2°), representing path length 1.5 times zenith.</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AM \approx \frac{1}{\cos\theta_s + 0.50572(96.07995 - \theta_s)^{-1.6364}}</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Kasten-Young formulation accounts for Earth atmospheric curvature and refraction.</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Gueymard, C. A. (2004). The sun’s total and spectral irradiance for solar energy applications and solar radiation models. Solar Energy, 76(4), 423-453.</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[MATHEMATICS] • SLIDE 8/30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Beer-Lambert-Bouguer Attenuation Law</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Direct beam solar radiance decays exponentially through an absorbing and scattering atmospheric column.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Total atmospheric optical depth (τ_λ) is the sum of Rayleigh scattering, aerosol scattering, and molecular absorption.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Transmittance: T_λ = exp(-m · τ_λ), where m is the relative optical air mass.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Any spatial or temporal change in optical depth alters the downwelling spectral distribution incident on field targets.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E_{\text{dir},\lambda} = E_{0,\lambda} \cdot \left(\frac{d_0}{d}\right)^2 \cdot \cos\theta_s \cdot \exp\left( -m \cdot \tau_\lambda \right)</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Direct spectral irradiance on a horizontal ground surface.</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Bouguer, P. (1729). Essai d’optique sur la gradation de la lumière.</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9/30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Atmospheric Transmission Windows in Optical Sensing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Outdoor spectroscopy is only viable inside atmospheric transmission windows where gases do not completely extinguish photons.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Window 1 (VNIR): 400–920 nm (high transmission, minor ozone absorption in Chappuis band 550–650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Window 2 (SWIR-1): 1000–1350 nm (between water vapor bands).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Window 3 (SWIR-2): 1500–1800 nm (clean window, optimal for mineral and cellulose absorption).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Window 4 (SWIR-3): 2000–2400 nm (carbonate and clay mineral diagnostic absorption).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Never report reflectance data inside the 1350–1450 nm and 1800–1980 nm bands due to zero signal-to-noise ratio.</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Berk, A. et al. (2014). MODTRAN 6: A summary of recent advances. SPIE Defense + Security.</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10/30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Major Atmospheric Absorption Species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Water vapor, carbon dioxide, ozone, and oxygen create localized diagnostic absorption notches in solar irradiance.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Water Vapor (H₂O): 720 nm, 820 nm, 940 nm, 1130 nm, 1400 nm, 1900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Carbon Dioxide (CO₂): 2010 nm, 2060 nm (strong doublet in SWIR).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Oxygen (O₂): Fraunhofer A-band at 760.4 nm, B-band at 687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Ozone (O₃): Hartley band (&lt; 340 nm), Huggins band (310–380 nm), Chappuis band (500–700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\tau_\lambda = \tau_{\text{Rayleigh}} + \tau_{\text{Aerosol}} + \tau_{\text{H}_2\text{O}} + \tau_{\text{CO}_2} + \tau_{\text{O}_3} + \tau_{\text{O}_2}</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Total spectral optical depth is the linear sum of extinction components.</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Gao, B. C., &amp; Goetz, A. F. (1990). Column atmospheric water vapor and vegetation liquid water retrievals. Remote Sensing of Environment.</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11/30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Rayleigh Scattering: Molecular Physics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Elastic scattering by molecules much smaller than the wavelength scales with λ⁻⁴, dominating blue and UV wavelengths.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Discovered by Lord Rayleigh (1871); caused by polarizability of N₂ and O₂ molecules.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Explains the blue color of cloudless daytime skies and the strong polarization of skylight at 90° from the sun.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field spectroscopy, Rayleigh scattering creates significant diffuse downwelling skylight in the 350–500 nm range.</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\sigma_R(\lambda) = \frac{8\pi^3 (n^2 - 1)^2}{3 N^2 \lambda^4} \left( \frac{6 + 3\delta}{6 - 7\delta} \right)</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Rayleigh scattering cross-section per molecule, where n is refractive index and δ is depolarization factor.</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Rayleigh, Lord (1899). On the transmission of light through an atmosphere containing small particles. Philosophical Magazine.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12/30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Mie Scattering: Aerosols and Particulates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Scattering by particles of size comparable to wavelength (aerosols, dust, pollen, smog) is strongly forward-peaked.</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Wavelength dependency parameterized by Ångström turbidity law: τ_a(λ) = β · λ^(-α).</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Typical continental aerosol exponent α ≈ 1.3; lower α (~0.5) indicates coarse maritime or desert dust aerosols.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 aerosol loading creates a bright aureole around the sun, increasing diffuse-to-direct irradiance ratio.</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\tau_a(\lambda) = \beta \cdot \lambda^{-\alpha}</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Ångström power law for aerosol optical thickness extinction.</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Ångström, A. (1929). On the atmospheric transmission of sun radiation and on dust in the air. Geografiska Annaler.</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13/30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Direct vs. Diffuse Solar Irradiance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Global solar irradiance on a horizontal surface is the sum of direct beam and hemispherical diffuse skylight.</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 Irradiance (E_dir): Parallel collimated rays from the solar disk (subtending ~0.5°).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Diffuse Irradiance (E_dif): Scattered skylight arriving from the entire 2π steradian upper hemisphere.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 ratio E_dir / E_dif varies dramatically with wavelength, solar zenith angle, and aerosol optical depth.</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E_{\text{global}}(\lambda) = E_{\text{dir}}(\lambda) \cdot \cos\theta_s + E_{\text{dif}}(\lambda)</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Fundamental balance of downwelling optical energy at ground level.</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Milton, E. J. et al. (2009). Progress in field spectroscopy. Remote Sensing of Environment, 113, S92-S109.</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14/30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Concept of Surface Reflectance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Reflectance is an intrinsic material property independent of illumination intensity when measured correctly.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Radiance depends on solar position, cloud cover, and atmosphere; reflectance normalizes for incident irradiance.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True hemispherical reflectance: Fraction of total incident flux reflected across all directions into the upper hemisphere.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outdoor field spectroscopy, we rarely measure hemispherical reflectance directly; we measure directional reflectance factors.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\rho(\lambda) = \frac{\Phi_{\text{reflected}}(\lambda)}{\Phi_{\text{incident}}(\lambda)} = \frac{M(\lambda)}{E(\lambda)}</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Dimensionless ratio bound between 0 and 1 (or 0% to 100%).</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Nicodemus, F. E. (1970). Reflectance nomenclature and directional reflectance and emissivity. Applied Optics.</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[MATHEMATICS] • SLIDE 15/30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Bidirectional Reflectance Distribution Function (BRDF)</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BRDF describes the directional scattering behavior of a surface for a given incident and exitant beam geometry.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Formally defined by Nicodemus et al. (1977) as the ratio of differential reflected radiance to differential incident irradiance.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Unit of BRDF: Inverse steradians [sr⁻¹].</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BRDF is a theoretical distribution function for infinitesimal beams; cannot be measured directly with finite solid angles.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f_r(\theta_i, \phi_i; \theta_r, \phi_r; \lambda) = \frac{d L_r(\theta_i, \phi_i; \theta_r, \phi_r; \lambda)}{d E_i(\theta_i, \phi_i; \lambda)} \; [\text{sr}^{-1}]</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Directional dependency parameterized by incident zenith/azimuth (θi, φi) and reflected zenith/azimuth (θr, φr).</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Nicodemus, F. E. et al. (1977). Geometrical Considerations and Nomenclature for Reflectance. NBS Monograph 160.</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16/30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Schaepman-Strub Reflectance Nomenclature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Natural outdoor measurements yield Hemispherical-Conical Reflectance Factor (HCRF) rather than pure BRDF.</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Schaepman-Strub et al. (2006) unified reflectance terminology for remote sensing.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Illumination: Hemispherical (direct sun + diffuse skylight).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Viewing: Conical (defined by the finite Field of View FOV solid angle of the spectrometer foreoptic).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Standard field spectroscopy measurement is formally HCRF, denoted R(2π; θ_r, φ_r, ω_r; λ).</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R(2\pi; \theta_r, \phi_r, \omega_r; \lambda) = \frac{\int_{\omega_r} L_r(\theta, \phi; \lambda) \cos\theta \, d\Omega}{L_{\text{ref}}(\lambda) \int_{\omega_r} \cos\theta \, d\Omega}</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HCRF is the ratio of target radiance to an ideal lossless Lambertian reflector under identical hemispherical illumination.</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Schaepman-Strub, G. et al. (2006). Reflectance quantities in optical remote sensing—definitions and case studies. Remote Sensing of Environment, 103(1), 27-42.</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17/30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Ideal Lambertian Surface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A Lambertian reflector scatters incident light isotropically; its reflected radiance is invariant with viewing angle.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Reflected radiance L is constant in all directions across the 2π hemisphere.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Lambert's Cosine Law: Radiant intensity I(θ) varies with cos(θ), exactly offsetting the 1/cos(θ) foreshortening of projected area.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Integration over the hemisphere proves that total radiant exitance M = π · L.</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M = \int_{2\pi} L \cos\theta \, d\Omega = L \int_0^{2\pi} d\phi \int_0^{\pi/2} \cos\theta \sin\theta \, d\theta = \pi L</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The factor π converts radiance [W m⁻² sr⁻¹] to hemispherical exitance [W m⁻²] for a Lambertian surface.</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Lambert, J. H. (1760). Photometria sive de mensura et gradibus luminis, colorum et umbrae.</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[MATHEMATICS] • SLIDE 18/30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Solar Geometry: Solar Zenith &amp; Azimuth Angles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The position of the sun dictates the incidence angle θ_s and solar azimuth φ_s, controlling shadow fractions and BRDF.</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Zenith Angle (θ_s): Angle between the local vertical (zenith) and the sun center.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Elevation Angle: α_s = 90° - θ_s.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Azimuth Angle (φ_s): Angular position of the sun measured clockwise from true north.</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Noon: The moment the sun reaches maximum elevation (minimum zenith angle) for a specific longitude and day of year.</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\cos\theta_s = \sin\phi_{\text{lat}} \sin\delta + \cos\phi_{\text{lat}} \cos\delta \cos h</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Solar zenith angle calculation where δ is solar declination and h is local hour angle.</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Reda, I., &amp; Andreas, A. (2004). Solar position algorithm for solar radiation applications. Solar Energy, 76(5), 577-589.</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19/30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Snell's Law and Fresnel Equations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Specular reflections at air-water and air-leaf cuticle boundaries are governed by complex refractive indices.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Snell's Law: n₁ · sin(θ₁) = n₂ · sin(θ₂).</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Fresnel Reflection: Polarized reflection coefficients R_s (perpendicular) and R_p (parallel).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Leaf wax cuticles produce strong polarized specular reflection in the forward scattering direction that contains no biochemical info.</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R_s = \left| \frac{n_1 \cos\theta_i - n_2 \cos\theta_t}{n_1 \cos\theta_i + n_2 \cos\theta_t} \right|^2, \quad R_p = \left| \frac{n_1 \cos\theta_t - n_2 \cos\theta_i}{n_1 \cos\theta_t + n_2 \cos\theta_i} \right|^2</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Fresnel reflectance formulas for s-polarized and p-polarized incident light.</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Grant, L. (1987). Diffuse and specular characteristics of leaf reflectance. Remote Sensing of Environment.</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20/30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Molecular Electronic Transitions (UV-VNIR)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Absorption in the 350–700 nm region arises from valence electrons excited across quantized molecular orbitals.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Photosynthetic pigments: Chlorophyll a (absorption peaks at 430 &amp; 662 nm), Chlorophyll b (453 &amp; 642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Carotenoids (lutein, β-carotene): Strong absorption in 400–500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Anthocyanins: Protective pigments absorbing around 530–550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Iron oxides in soils/minerals: Crystal field transitions in Hematite (Fe₂O₃) and Goethite (FeOOH) around 480–900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Green leaf reflectance peak at ~550 nm is not high reflectance in absolute terms (~15%), but merely lower absorption relative to blue and red.</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Gates, D. M. et al. (1965). Spectral properties of plants. Applied Optics, 4(1), 11-20.</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21/30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Vibrational Spectroscopy &amp; Molecular Bonds (SWIR)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SWIR features (1000–2500 nm) are caused by overtones and combination modes of fundamental molecular vibrations.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Fundamental vibrational modes (stretch, bend, rock) occur in the mid-infrared (3–15 µm).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Anharmonicity allows first overtones (2ν) and second overtones (3ν) to appear at higher frequencies (shorter wavelengths in SWIR).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Key functional groups: O-H (water, hydroxyl in clays), C-H (lignin, cellulose, plastics), N-H (proteins), C-O (carbonates).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\nu_{\text{osc}} = \frac{1}{2\pi c} \sqrt{\frac{k}{\mu}}, \quad \mu = \frac{m_1 m_2}{m_1 + m_2}</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Harmonic oscillator frequency where k is bond spring constant and μ is reduced mass.</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Coblentz, W. W. (1905). Investigations of Infra-Red Spectra. Carnegie Institution of Washington.</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22/30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Water Absorption Physics in Plants &amp; Soils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Liquid water exhibits prominent absorption bands at 970 nm, 1200 nm, 1450 nm, and 1940 nm due to O-H symmetric and asymmetric stretching.</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 970 nm and 1200 nm bands are weak overtones, making them ideal for retrieving equivalent water thickness (EWT) in dense canopies.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 1450 nm and 1940 nm bands are strong combination bands (ν₁ + ν₃ and ν₂ + ν₃), saturating rapidly in hydrated vegetation.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desiccated vegetation, cellulose and lignin features become unmasked at 2100 nm and 2300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Measure vegetation moisture during midday water deficit to capture dynamic canopy water status.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Peñuelas, J. et al. (1993). The reflectance at the 950–970 nm region as an indicator of plant water status. International Journal of Remote Sensing.</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23/30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Mineral Spectroscopy &amp; Diagnostic Absorption Features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Clay minerals, carbonates, and sulfates exhibit sharp diagnostic absorption doublet/singlet features in SWIR-2 (2000–2500 nm).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Kaolinite: Classic Al-OH doublet at 2160 nm and 2209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Montmorillonite (Smectite): Single deep Al-OH feature at 2206 nm with strong hydration band at 1900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Calcite (CaCO₃): Carbonate radical (CO₃²⁻) vibrational overtones at 2340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Chlorite: Fe-OH / Mg-OH features at 2260 nm and 2350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Diagnostic mineral features are narrow (~10–20 nm FWHM), requiring spectroradiometers with ≤ 3–8 nm spectral resolution.</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Hunt, G. R. (1977). Spectral signatures of particulate minerals in the visible and near infrared. Geophysics, 42(3), 501-513.</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24/30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Vegetation Red Edge: Physics and Anatomy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The abrupt reflectance jump between 680 nm and 750 nm (the "Red Edge") is caused by the transition from chlorophyll absorption to internal scattering.</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Chlorophyll absorbs &gt; 90% of red photons (680 nm) for charge separation in photosystems I &amp; II.</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 wavelengths &gt; 700 nm, pigment absorption ceases, while refractive index discontinuities between air and mesophyll cell walls cause intense multiple scattering.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Red edge inflection point (REIP) shifts to longer wavelengths as chlorophyll content increases (red edge shift).</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\lambda_{\text{REIP}} \approx 700 + 40 \cdot \left( \frac{\frac{R_{670} + R_{780}}{2} - R_{700}}{R_{740} - R_{700}} \right)</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Guyot and Baret (1988) linear interpolation algorithm for red edge position.</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Horler, D. N. H. et al. (1983). The red edge of plant leaf reflectance. International Journal of Remote Sensing, 4(2), 273-288.</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25/30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Soil Spectral Characteristics &amp; Organic Matter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Soil reflectance is governed by moisture, iron oxide content, soil organic carbon (SOC), mineralogy, and surface roughness.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Dry, bare mineral soils exhibit monotonic increase in reflectance from 400 nm to 2200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Soil Organic Carbon (SOC) flattens and darkens the entire spectrum, masking mineral absorption features when SOC &gt; 2%.</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Moisture reduces overall reflectance across all wavelengths via internal total reflection within water films surrounding soil particles.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\rho_{\text{wet}}(\lambda) = \frac{\rho_{\text{dry}}(\lambda)}{n_w^2 \cdot \left[ 1 - \rho_{\text{dry}}(\lambda) \cdot \left(1 - \frac{1}{n_w^2}\right) \right]}</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Lekner and Dorf (1988) model for darkening of moist materials.</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Ben-Dor, E. et al. (1999). Imaging spectrometry for soil applications. Remote Sensing of Environment.</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[QUALITYASSURANCE] • SLIDE 26/30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Environmental Perturbations: Wind, Temperature &amp; Humidity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Outdoor environmental noise directly modulates spectral measurements and must be systematically mitigated.</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 moves canopy leaves, altering instantaneous leaf angle distribution (LAD) and shadow fraction between consecutive scans.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Ambient temperature variations affect the dark current and band-gap energy of InGaAs detector arrays in the spectroradiometer.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Rapidly changing relative humidity alters water vapor absorption in the path between target and foreoptic.</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Abort field scans when wind speeds exceed Beaufort scale 3 (&gt; 5 m/s) or gusts displace canopies.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MacArthur, A. et al. (2014). Optimizing the use of field spectrometers. Remote Sensing of Environment.</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[PROTOCOL] • SLIDE 27/30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Illumination Stability &amp; Cloud Perturbations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Sub-visual cirrus clouds and passing cumulus fringes cause catastrophic calibration errors in single-beam spectrometers.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Single-beam instruments assume incident solar irradiance remains identical between White Reference and target scans.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2% drop in solar irradiance between reference and target creates an apparent 2% artifact across all calculated target reflectance values.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Cirrus clouds scatter selectively in the SWIR, creating spurious spectral slope distortions.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Inspect the sky continuously. Wear polarized sunglasses to spot high-altitude ice-crystal cirrus clouds.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Milton, E. J. (1987). Principles of field spectroscopy. International Journal of Remote Sensing.</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[CASESTUDY] • SLIDE 28/30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Scale and Spatial Heterogeneity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Field point spectra represent a localized footprint (cm to m) that must be scaled up to satellite pixel sizes (10 to 30 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25° field of view lens held 1 meter above the ground integrates a circular footprint of ~44 cm diameter.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Natural ecosystems exhibit micro-topographic, soil moisture, and species composition gradients within a single Sentinel-2 or Landsat pixel.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Spatial sampling design (random, regular grid, transect) is required to estimate the true mean and variance of a landscape element.</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D = 2 \cdot h \cdot \tan\left(\frac{\text{FOV}}{2}\right)</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Footprint diameter D as a function of sensor height h and angular field of view FOV.</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Curtiss, B., &amp; Goetz, A. F. (1994). Field spectrometry: Techniques and instrumentation. Proceedings of the International Symposium on Spectral Sensing Research.</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[QUALITYASSURANCE] • SLIDE 29/30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Academic Standards: NERC FSF &amp; Coblentz Society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Adherence to international metrological protocols guarantees scientific reproducibility and interoperability.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NERC Field Spectroscopy Facility (UK): Gold-standard operational guidelines for field radiometry, calibration tracking, and instrument loans.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Coblentz Society: Established standards for infrared spectra collection, signal-to-noise thresholds, and wavelength accuracy.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CEOS WGCV (Committee on Earth Observation Satellites - Working Group on Calibration and Validation): Global validation protocols.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Always record full campaign metadata in accordance with CEOS WGCV field spectroradiometry guidelines.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NERC FSF (2020). Operations and Best Practice Manual for Field Spectroradiometry. Natural Environment Research Council.</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1 • [PHYSICS] • SLIDE 30/30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Module 1 Synthesis &amp; Looking Ahead to Point Spectrometers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Field spectroscopy relies on rigorous physics: Planck's law, Beer-Lambert attenuation, and Schaepman-Strub HCRF geometry.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Module 1 established: Optical radiation physics, atmospheric transmission windows, molecular absorption bands, and reflectance definitions.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Module 2, we open the hardware box: diffraction gratings, photodiode arrays, fiber optics, and instrument architecture (ASD, SVC, PSR+).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Preparation for Field Exercise 1: Understanding solar angle limits and calculating foreoptic footprint geometries.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Milton, E. J., Schaepman, M. E., Anderson, K., &amp; Gao, B. C. (2009). Progress in field spectroscopy. Remote Sensing of Environment, 113, S92-S109.</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standalone="yes"?>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vt:lpstr>Fonts Used</vt:lpstr></vt:variant>
			<vt:variant><vt:i4>2</vt:i4></vt:variant>
			<vt:variant><vt:lpstr>Theme</vt:lpstr></vt:variant>
			<vt:variant><vt:i4>1</vt:i4></vt:variant>
			<vt:variant><vt:lpstr>Slide Titles</vt:lpstr></vt:variant>
			<vt:variant><vt:i4>31</vt:i4></vt:variant>
		</vt:vector>
	</HeadingPairs>
	<TitlesOfParts>
		<vt:vector size="34" baseType="lpstr">
			<vt:lpstr>Arial</vt:lpstr>
			<vt:lpstr>Calibri</vt:lpstr>
			<vt:lpstr>Office Theme</vt:lpstr>
			<vt:lpstr>Slide 1</vt:lpstr><vt:lpstr>Slide 2</vt:lpstr><vt:lpstr>Slide 3</vt:lpstr><vt:lpstr>Slide 4</vt:lpstr><vt:lpstr>Slide 5</vt:lpstr><vt:lpstr>Slide 6</vt:lpstr><vt:lpstr>Slide 7</vt:lpstr><vt:lpstr>Slide 8</vt:lpstr><vt:lpstr>Slide 9</vt:lpstr><vt:lpstr>Slide 10</vt:lpstr><vt:lpstr>Slide 11</vt:lpstr><vt:lpstr>Slide 12</vt:lpstr><vt:lpstr>Slide 13</vt:lpstr><vt:lpstr>Slide 14</vt:lpstr><vt:lpstr>Slide 15</vt:lpstr><vt:lpstr>Slide 16</vt:lpstr><vt:lpstr>Slide 17</vt:lpstr><vt:lpstr>Slide 18</vt:lpstr><vt:lpstr>Slide 19</vt:lpstr><vt:lpstr>Slide 20</vt:lpstr><vt:lpstr>Slide 21</vt:lpstr><vt:lpstr>Slide 22</vt:lpstr><vt:lpstr>Slide 23</vt:lpstr><vt:lpstr>Slide 24</vt:lpstr><vt:lpstr>Slide 25</vt:lpstr><vt:lpstr>Slide 26</vt:lpstr><vt:lpstr>Slide 27</vt:lpstr><vt:lpstr>Slide 28</vt:lpstr><vt:lpstr>Slide 29</vt:lpstr><vt:lpstr>Slide 30</vt:lpstr><vt:lpstr>Slide 31</vt:lpstr>
		</vt:vector>
	</TitlesOfParts>
	<Company>GEO-MSc-704 Earth Observation & Geo-Information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Physics of Optical Radiation, Radiometry &amp; Atmospheric Transmission</dc:title>
  <dc:subject>PptxGenJS Presentation</dc:subject>
  <dc:creator>Principles of Field Spectroscopy - MSc Curriculum</dc:creator>
  <cp:lastModifiedBy>Principles of Field Spectroscopy - MSc Curriculum</cp:lastModifiedBy>
  <cp:revision>1</cp:revision>
  <dcterms:created xsi:type="dcterms:W3CDTF">2026-10-12T19:27:31Z</dcterms:created>
  <dcterms:modified xsi:type="dcterms:W3CDTF">2026-10-12T19:27:31Z</dcterms:modified>
</cp:coreProperties>
</file>
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3. We focus on sensor calibration, white reference integrity, and rigorous uncertainty propagation.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emission spectrum of a Hg-Ar lamp. Emphasize that these physical atomic transitions never drift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practical procedure for placing a Mylar film over the entrance foreoptic under a stable halogen lamp.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integrating spheres must be calibrated against NIST gold-standard blackbody cavity furnaces.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a 1 mm positioning error in lamp distance at 50 cm produces a 0.4% calibration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dark current subtraction is non-negotiable; forgetting it renders all reflectance math invalid.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departure from linearity at counts &gt; 55,000 on a 16-bit ADC, explaining why 45,000 counts is the target optimization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reading a genuine Labsphere calibration certificate and extracting the tabular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before-and-after spectral curves of an abused field panel versus a pristine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Labsphere recommended sanding procedure step-by-step.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Instill this institutional discipline: field working standards will get dirty; master standards must remain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BRDF scattering polar plot of Spectralon measured by sandmeier et al. using a laboratory goniometer.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polar response curve of a cosine diffuser against the theoretical cosine circle.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an uncorrected 5-minute delay creates a false spectral slope across the entire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dual-beam is not magic: it trades temporal solar uncertainty for inter-channel calibration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GUM methodology. Remote sensing papers that state "reflectance = 0.42" without ± uncertainty are methodologically deficient.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a spreadsheet table totaling the individual variance terms in quadrature.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derivative of a sharp absorption peak: slope is steepest on the wings, where wavelength shifts generate maximum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NERC FSF field validation lamp kits.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results from the CEOS WGCV inter-comparison campaigns over dry lake salt flats.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official CEOS document and review its mandatory field log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the live RadCalNet web portal and inspect a real-time calibrated reflectance curve from Railroad Valley.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field spectroscopy was critical for re-calibrating Landsat-7 ETM+ and Landsat-8 OLI after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 the laminated checklist template to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spectrum where one channel was saturated and how it created a massive spike when computing NDVI.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a cubic spline creates a false absorption feature near the steep red edge if tie points are sparse.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keeping these water vapor bands in statistical models (PLSR/Random Forest) leads to catastrophic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experimental layout diagram and show student-collected cross-calibration curves.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of the FAIR data principles: Findable, Accessible, Interoperable, Reusable.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calibration module, invite questions on the uncertainty budget, and preview Field Exercise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OF FIELD SPECTROSCOPY • GEO-MSc-704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Calibration, White Reference (Spectralon) &amp; Radiometric Validation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Teaching Hours • 1.5 ECTS Credits • 30 Lecture Slides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details laboratory metrological calibration and in-field radiometric validation procedures for field spectroradiometers. Students examine NIST-traceable standards, atomic emission line lamps (Hg-Ar) and polymer absorption standards (Mylar) for sub-nanometer wavelength calibration, and large integrating spheres for absolute spectral radiance responsivity mapping. The module investigates Spectralon sintered PTFE white reference physics, non-Lambertian departures at high solar zenith angles, degradation and cleaning protocols, cosine receptor characterization, and the construction of comprehensive measurement uncertainty budgets conforming to the ISO/BIPM Guide to the Expression of Uncertainty in Measurement (GUM).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of Metrological Traceability in Spectroscopy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Traceability establishes an unbroken chain of calibrated comparisons connecting field measurements back to international SI standards (NIST/NPL).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Metrological traceability: Property of a measurement result whereby the result can be related to a reference through a documented unbroken chain of calibrations, each contributing to the measurement uncertainty.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standards: National Metrology Institutes (e.g. NIST in USA, NPL in UK, PTB in Germany).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Secondary/Transfer standards: Laboratory integrating spheres, calibrated FEL tungsten lamps, and certified Spectralon panels.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NIST/NPL traceability, ground validation spectra cannot be accepted for satellite Cal/Val programs.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JCGM (2008). International Vocabulary of Metrology (VIM). Joint Committee for Guides in Metrology.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[INSTRUMENTATION] • SLIDE 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Wavelength Calibration: Physics of Gas Emission Lines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Wavelength calibration maps detector channel index numbers to absolute physical wavelengths using sharp atomic emission lines.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discharge pencil lamps: Low-pressure Mercury-Argon (Hg-Ar), Neon, Krypton, or Xenon.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Atoms excited by electric discharge emit photons at invariant, quantum-mechanically defined transition wavelengths.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 (Hg) primary lines: 404.66 nm, 435.84 nm, 546.07 nm, 576.96 nm, 579.07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Argon (Ar) lines: Dense emission line clusters in the 690–900 nm region.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\lambda_c = a_0 + a_1 \cdot x + a_2 \cdot x^2 + a_3 \cdot x^3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dispersion function relating pixel position x to calibrated wavelength λ_c.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Reader, J. et al. (1980). Wavelengths and Transition Probabilities for Atoms and Atomic Ions. NIST.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[INSTRUMENTATION] • SLIDE 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Wavelength Calibration in the SWIR: Mylar &amp; Rare Earth Filters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Solid rare-earth oxide and polymer standards provide narrow absorption lines in the SWIR (1000–2500 nm) where gas lamps have sparse lines.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Holmium Oxide (Ho₂O₃) and Dysprosium Oxide: Certified absorption bands in the NIR and SWIR.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Mylar film (polyester): Sharp C-H and ester vibrational absorption spikes at 1660 nm, 2135 nm, 2260 nm, and 2470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Band-centroid fitting: Fitting a parabolic or Gaussian peak over the observed absorption minimum yields wavelength accuracy &lt; 0.2 nm.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wavelength stability annually or following any physical drop or high-vibration vehicle transport.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MacArthur, A. et al. (2012). Calibration and characterization of field spectrometers. NERC FSF.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[INSTRUMENTATION] • SLIDE 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Radiometric Calibration: Integrating Spheres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Radiometric calibration determines absolute spectral responsivity, converting raw digital counts into physical radiance [W m⁻² sr⁻¹ nm⁻¹].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source: Large internally illuminated integrating sphere (e.g. 50 cm or 100 cm diameter).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Illumination: Multiple regulated quartz-tungsten-halogen (QTH) lamps operating with power supplies stable to ±0.01% current.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port: Uniform diffuse radiance field across the entire exit aperture (spatial uniformity &gt; 99%).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R_{\text{cal}}(\lambda) = \frac{\text{DN}_{\text{sphere}}(\lambda) - \text{DN}_{\text{dark}}(\lambda)}{t_{\text{int}} \cdot L_{\text{sphere}}(\lambda)}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spectral responsivity calibration factor R_cal [counts / (W m⁻² sr⁻¹ nm⁻¹ · ms)].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Walker, J. H. et al. (1987). Spectral Radiance Calibrations. NBS Special Publication 250-1.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[INSTRUMENTATION] • SLIDE 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Irradiance Calibration: Calibrated Standard FEL Lamps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Standard 1000-Watt FEL tungsten-halogen lamps provide calibrated spectral irradiance at an exact distance of 50.0 cm.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 lamps operate at ~3100 K color temperature inside a dark baffle tunnel to eliminate stray ambient wall reflections.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Inverse-square law: Spectral irradiance scales inversely with the square of the distance from the lamp filament plane.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calibrate cosine receptor diffusers for downwelling solar irradiance measurement.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E(\lambda, r_2) = E(\lambda, r_1) \cdot \left(\frac{r_1}{r_2}\right)^2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Inverse-square distance relationship for point-source irradiance calibration.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Yoon, H. W. et al. (2003). Realization of the NIST detector-based spectral irradiance scale. Metrologia.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Current Compensation: Methods and Drift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Dark current must be recorded with an optical shutter closed and subtracted from raw digital counts prior to any mathematical operations.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baseline: Even with zero incident photons, thermal energy excites electrons into detector wells.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time scaling: Dark current counts accumulate linearly with exposure time in silicon arrays.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drift: Internal instrument heating causes dark current to drift continuously during outdoor field campaigns.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re-acquire dark current every 10–15 minutes, or whenever ambient temperature shifts noticeably.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MacArthur, A. (2007). A field procedure to compensate for temperature drift. NERC FSF.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[INSTRUMENTATION] • SLIDE 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Non-Linearity Correction of Detector Electronics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Real photodiode arrays exhibit non-linear count responses as charge approaches the full well capacity of the junction.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linear detector: Double the photon flux produces exactly double the digital numbers (DN).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high charge levels (&gt; 80% full well), recombination rates increase, causing sub-linear response.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Characterized using beam-addition techniques or calibrated flux attenuator wheels.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Non-linearity correction polynomials linearize digital counts to &lt; 0.1% departure across the dynamic range.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\text{DN}_{\text{linear}} = \sum_{k=0}^p c_k \cdot (\text{DN}_{\text{raw}} - \text{DN}_{\text{dark}})^k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linearization function mapping raw counts to idealized linear response.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Saunders, R. D., &amp; Shumaker, J. B. (1984). Automated radiometric linearity tester. Applied Optics.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Spectralon® White Reference Reflectance Calibration Certificate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No white reference panel is 100% reflective; NIST calibration certificates provide exact spectral correction factors (98–99%).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panel assumed to be 100% introduces a systematic 1% to 2% underestimation of true target reflectance if uncorrected.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certificates provide 8°/hemispherical reflectance factors at 50 nm intervals from 250 to 2500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Interpolation: Cubic spline interpolation maps certificate values onto the 1 nm instrument channels.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\rho_{\text{target}}(\lambda) = \frac{\text{DN}_{\text{target}}(\lambda) - \text{DN}_{\text{dark}}(\lambda)}{\text{DN}_{\text{ref}}(\lambda) - \text{DN}_{\text{dark}}(\lambda)} \cdot R_{\text{certificate}}(\lambda)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application of the NIST-traceable Spectralon calibration vector R_certificate.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0" y="2880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926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77840" y="3136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active calibration certificate file in the field laptop and verify matching panel serial numbers.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Labsphere Inc. (2018). Spectralon Reflectance Standards Technical Guide.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Spectralon Degradation: UV Solarization &amp; Soil Dust Contamination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Field use inevitably degrades Spectralon panels; annual recalibration is essential for data credibility.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Solarization: Extended exposure to intense outdoor solar UV radiation breaks polymer bonds, causing yellowing and UV absorption.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 and Organic Particulates: Windblown fine dust lodges permanently into the microscopic porous PTFE matrix.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Hydrocarbon Stains: Touching the panel with oily fingers introduces C-H absorption troughs in the SWIR (1200, 1720, 2300 nm).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blow dust off a panel with your mouth (saliva droplets ruin the surface); use clean dry nitrogen or a photographic air bulb.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MacArthur, A. et al. (2012). NERC FSF Technical Report.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10/30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Spectralon Resurfacing &amp; Cleaning Protocol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Spectralon panels can be restored to near-factory reflectance by gentle wet-sanding under deionized water.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Equipment: Waterproof 220–400 grit silicon carbide emery sandpaper, glass plate, deionized water.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Procedure: Place sandpaper on flat glass, wet thoroughly, sand panel in a figure-eight pattern under gentle pressure.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Bakeout: Dry in a clean vacuum oven at 80°C for 8–12 hours to drive off residual water and volatile organics.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Post-sanding: Must be recalibrated or cross-calibrated against a secondary master laboratory panel.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cleaning only in a clean laboratory environment, never in the field hotel or tent.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Labsphere Inc. (2015). Care and Handling of Spectralon Diffuse Reflectance Targets.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11/30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Field Panels vs. Master Laboratory Standards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Protect master calibration standards by using dedicated secondary panels in the field and reserving pristine masters for lab checks.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Master Panel: Kept permanently in a dark, desiccated laboratory cabinet, never taken into the field.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Working Panels: Deployed in outdoor campaigns and subjected to dust, sun, and transport.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Cross-calibration: Measure field working panels against the golden master in the lab before and after every field campaign.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drift: Generates an empirical degradation vector that can retroactively correct field data.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et al. (2009). Progress in field spectroscopy.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[PHYSICS] • SLIDE 12/30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Reference Non-Lambertian Behavior at High Zenith Angles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Spectralon is not perfectly Lambertian; its reflectance factor increases significantly when solar zenith angles exceed 50°–60°.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normal incidence (θ_i &lt; 30°), Spectralon is isotropic within ±0.5%.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grazing angles (θ_i &gt; 60°), forward specular scattering emerges, and measured apparent reflectance rises by 2% to 6%.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operator uses a Spectralon panel at 16:00 in winter (θ_s = 65°), target reflectance is artificially suppressed by up to 5%.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R(\theta_i, 0; \text{nadir}) = 1.0 + c_1 \cdot \theta_i^2 + c_2 \cdot \theta_i^4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model for non-Lambertian Spectralon departure as a function of solar incidence angle.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Sandmeier, S. et al. (1998). Physical mechanisms in hyperspectral BRDF data of grass and watercress.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[INSTRUMENTATION] • SLIDE 13/30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Receptor Characterization: Directional Response Error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Cosine diffusers measure irradiance by capturing photons according to Lambert's cosine law; departures cause cosine error.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cosine receptor: Responsivity scales perfectly with cos(θ_i).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PTFE diffusers: Under-respond at high zenith angles (θ_i &gt; 60°) due to surface reflection and rim shading.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error: f₂(θ) = (Signal(θ) / [Signal(0) · cos θ]) - 1.0.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High-grade cosine receptors maintain total cosine error f₂ &lt; 3% up to 70° zenith angle.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f_2 = \int_0^{\pi/2} \left| \frac{S(\theta)}{S(0)\cos\theta} - 1 \right| \sin(2\theta) \, d\theta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 directional response index quantifying total cosine error.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CIE (1987). Methods of Characterizing the Performance of Radiometers and Photometers. Publication CIE 69.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14/30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Single-Beam Time-Drift Uncertainty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In single-beam field radiometry, the time elapsed between white reference and target scans is a primary uncertainty driver.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optical depth and solar position change continuously.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solar noon in summer, solar zenith angle changes slowly (&lt; 0.1° per minute).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mid-morning or late afternoon, solar zenith angle changes by &gt; 0.5° per minute, altering irradiance by ~1% every 2 minutes.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Complete target measurements within 3 to 5 minutes of white reference acquisition under clear skies.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an automatic timer on the field computer to alert the team when 5 minutes have elapsed since the last WR scan.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(1987). Principles of field spectroscopy. International Journal of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[INSTRUMENTATION] • SLIDE 15/30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Dual-Beam Inter-Calibration Protocols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Dual-beam systems require frequent cross-calibration of the reference and target sensors to track inter-channel drift.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Dual-beam eliminates solar temporal drift by recording WR and target simultaneously.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if the two spectrometers drift differentially in temperature or responsivity, a systematic cross-channel error occurs.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Every 30–60 minutes, place both optical heads over the same white reference panel to calculate the cross-calibration vector G(λ).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G(\lambda) = \frac{L_1^{\text{WR}}(\lambda)}{L_2^{\text{WR}}(\lambda)}, \quad \rho_{\text{target}}(\lambda) = \frac{L_1^{\text{target}}(\lambda)}{L_2^{\text{WR}}(\lambda) \cdot G(\lambda)} \cdot \rho_{\text{ref}}(\lambda)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Cross-calibration gain vector G(λ) continuously normalizes inter-channel differences.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MacArthur, A. et al. (2014).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16/30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 Framework: Guide to the Expression of Uncertainty in Measurement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Scientific measurements must be accompanied by an uncertainty statement compliant with international metrological standards.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JCGM 100:2008 (GUM): Defines standardized methodologies for evaluating and expressing measurement uncertainty.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Evaluation: Evaluated by statistical analysis of series of observations (e.g. sample standard deviation of repeated scans).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B Evaluation: Evaluated by scientific judgment, manufacturer certificates, calibration standards, or published literature.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u_c^2(y) = \sum_{i=1}^N \left(\frac{\partial f}{\partial x_i}\right)^2 u^2(x_i) + 2\sum_{i=1}^{N-1}\sum_{j=i+1}^N \frac{\partial f}{\partial x_i}\frac{\partial f}{\partial x_j} u(x_i, x_j)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of propagation of uncertainty for combined standard uncertainty u_c(y).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JCGM (2008). Evaluation of measurement data — Guide to the expression of uncertainty in measurement. JCGM 100:2008.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17/30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Field Spectroscopy Uncertainty Budget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 complete uncertainty budget aggregates all independent noise and systematic error components into a combined uncertainty curve.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1: Spectralon certificate uncertainty (u_ref ≈ 0.5%).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2: White reference aging/contamination (u_panel ≈ 1.0%).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3: Instrument noise / SNR (u_noise ≈ 0.2% in VNIR, 1.5% in SWIR).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4: Solar irradiance temporal drift (u_sun ≈ 0.5–2.0%).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5: Zenith/nadir pointing tilt error (u_tilt ≈ 0.8%).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combined relative reflectance uncertainty typically ranges from 1.5% to 3.0% under optimal clear-sky conditions.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Fox, N. et al. (2003). Traceability in remote sensing: The QE6 project. SPIE Proceedings.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[MATHEMATICS] • SLIDE 18/30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Wavelength Uncertainty vs. Band-Depth Retrieval Error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 tiny 1 nm wavelength shift creates massive errors when calculating narrow absorption band depths in minerals and pigments.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Kaolinite Al-OH doublet at 2206 nm has a half-width of only ~12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1.0 nm wavelength calibration error produces an apparent 5% to 10% error in calculated band absorption depth.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vegetation, red edge inflection point (REIP) shifts of 2–3 nm indicate heavy metal stress or nitrogen deficiency; wavelength stability &lt; 0.5 nm is mandatory.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Van der Meer, F. (2004). Analysis of spectral absorption features in hyperspectral imagery. International Journal of Applied Earth Observation.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[INSTRUMENTATION] • SLIDE 19/30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Radiometric Calibration Transfer Standards: Portable Field Lamps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Portable field calibration lamps allow on-site verification of instrument responsivity during remote field expeditions.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stabilized QTH light sources with precision DC constant-current power regulation.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Mounted directly to the foreoptic barrel to provide a repeatable radiant flux baseline.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detection of sudden optical component failure (e.g. fractured fiber strand or misaligned order-sorting filter) while still in the field.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portable lamp check at the field base camp every morning before setting off to remote field sites.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NERC FSF (2020). Calibration Equipment and Field Validation Manual.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20/30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Inter-Comparison Campaigns &amp; Round-Robin Experiments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Round-robin experiments comparing multiple spectrometers over identical targets reveal inter-instrument biases of 2% to 8%.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and CEOS regularly conduct field spectroradiometer inter-comparison campaigns (e.g. RadCalNet, FICE).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instruments (ASD vs SVC vs PSR) measuring the same Spectralon panel simultaneously frequently differ by 2–4% in the SWIR.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causes: Differing slit functions, stray light rejection, fiber cable geometries, and manufacturer calibration algorithms.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Anderson, K. et al. (2011). Field spectroradiometer inter-calibration: Methods and challenges.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21/30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CEOS WGCV Field Spectrometry Protocol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Committee on Earth Observation Satellites defines the global standard for ground validation of spaceborne missions.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requirements: Traceable calibration certificates &lt; 1 year old; clear sky criteria (AOD &lt; 0.2); SZA &lt; 50°.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footprint documentation: Drone imagery of target site, high-precision RTK GNSS coordinates (±2 cm).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statement: Every published spectral curve must report a combined standard uncertainty vector u(λ).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CEOS WGCV checklist prior to any satellite under-flight field validation campaign.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CEOS WGCV (2014). Quality Assurance Framework for Earth Observation: Field Spectrometry Protocol.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[CASESTUDY] • SLIDE 22/30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RadCalNet: Automated Ground Calibration Networks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RadCalNet provides automated, continuous in situ surface reflectance measurements for autonomous satellite vicarious calibration.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network of automated instrumented sites: Railroad Valley (USA), La Crau (France), Baotou (China), Gobabeb (Namibia).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nadir-viewing multi-channel spectroradiometers taking measurements every 30 minutes.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with co-located CIMEL sun photometers (AERONET) measuring atmospheric optical depth and water vapor column.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top-of-atmosphere (TOA) and surface reflectance with documented uncertainty &lt; 3% for Sentinel-2, Landsat-8/9, PlanetScope.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Bouvet, M. et al. (2019). RadCalNet: A radiometric calibration network for Earth observing imagers. Remote Sensing, 11(20), 2401.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[CASESTUDY] • SLIDE 23/30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Vicarious Calibration of Earth Observation Satellites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Vicarious calibration uses ground field spectroscopy over bright, homogeneous targets to validate satellite onboard sensors.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sensors degrade in orbit due to cosmic radiation, solar UV darkening of lenses, and outgassing contamination.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Reflectance-based method: Measure ground surface reflectance with field spectroradiometers during satellite overpass.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radiative transfer: Input ground spectra and AERONET aerosol/gas data into MODTRAN to predict Top-of-Atmosphere (TOA) radiance.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predicted TOA radiance against satellite digital counts to update sensor calibration gain coefficients.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L_{\text{TOA}}(\lambda) = L_{\text{path}}(\lambda) + \frac{\rho_{\text{ground}}(\lambda) \cdot E_{\text{solar}}(\lambda) \cdot T_{\downarrow}(\lambda) \cdot T_{\uparrow}(\lambda)}{\pi \cdot [1 - s(\lambda) \cdot \rho_{\text{ground}}(\lambda)]}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radiative transfer equation linking surface reflectance to satellite TOA radiance.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Thome, K. et al. (2004). Vicarious calibration of SPOT-4 HRVIR, Landsat-7 ETM+, and TERRA ASTER. IEEE TGRS.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24/30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Spectrometer Field Validation Checklist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Rigorous pre-flight and pre-field checklist execution prevents costly data invalidation in retrospective analysis.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(Laboratory): Inspect fiber bundle, confirm wavelength alignment with Hg-Ar or Mylar, verify Peltier cooling lock.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(Departure): Clean Spectralon panels, charge all lithium batteries, verify calibration files loaded in software.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(On-Site): Level tripod, orient station to solar azimuth, run auto-integration, record 100% white reference check.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(Post-Campaign): Inspect raw data for detector splice jumps, saturation flags, and SNR degradation.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Laminate this 4-phase checklist and keep it permanently inside the spectrometer rugged transport case.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NERC FSF (2020). Operational Field Guide.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[PROCESSING] • SLIDE 25/30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Clipping &amp; Saturated Band Masking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Saturated channels distort spectral shape and create spurious absorption artifacts in downstream derivative analysis.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occurs when ADC counts hit maximum (e.g. 65,535 counts in 16-bit).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saturation: Even at 63,000 counts, photodiode amplifiers may leave the linear regime.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masking: Flag and set all spectral channels with DN &gt; 0.90 · DN_max to NaN.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interpolate through saturated bands; flag them explicitly in the metadata record.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bright cloud borders momentarily illuminate the panel during WR acquisition, the entire subsequent dataset is ruined.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Analytical Spectral Devices (2012). RS3 User Guide.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[MATHEMATICS] • SLIDE 26/30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Interpolation: Splines vs. Linear vs. PCHIP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Interpolating irregular or missing spectral channels requires shape-preserving algorithms to prevent artificial oscillations.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interpolation: Fast and robust, but introduces sharp non-physical slope breaks at tie points.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Cubic spline: Smooth curves, but susceptible to Runge's phenomenon (overshooting and spurious wiggles) near steep absorption edges.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PCHIP (Piecewise Cubic Hermite Interpolating Polynomial): Preserves monotonicity and avoids artificial overshoot.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y(x) = h_{00}(t)y_k + h_{10}(t)d_k + h_{01}(t)y_{k+1} + h_{11}(t)d_{k+1}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Hermite basis formulation preserving monotonic derivative transitions.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Fritsch, F. N., &amp; Carlson, R. E. (1980). Monotone piecewise cubic interpolation. SIAM Journal on Numerical Analysis.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[PROCESSING] • SLIDE 27/30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Noise Truncation Protocols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Channels in deep atmospheric water vapor absorption bands (1350–1450 nm and 1800–1980 nm) must be masked out.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incident solar irradiance means dividing target counts by zero or near-zero reference counts.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extreme random division spikes with noise reaching ±1000% reflectance.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standard: Truncate and mask out: 1350–1460 nm and 1790–1990 nm prior to publication or modeling.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 noisy ends below 380 nm and above 2450 nm where detector responsivity is low.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present field reflectance curves showing noisy spiky grass in the 1400 nm and 1900 nm troughs.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et al. (2009).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[CASESTUDY] • SLIDE 28/30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Cross-Calibration Experiment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 structured laboratory experiment determines the relative spectral responsivity ratio between two field instruments.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 stabilized 1000W QTH lamp illuminating a pristine 10" master Spectralon panel.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both instruments on identical viewing jigs with optical axes aligned at 45° incidence, 0° nadir viewing.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50 scans per instrument, swap physical positions, and repeat to eliminate spatial illumination gradients.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cross-instrument transfer matrix with relative standard uncertainty &lt; 0.3%.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MacArthur, A. et al. (2012). NERC FSF Technical Report.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29/30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Record Keeping and Audit Trails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Reproducible geospatial science requires permanent digital audit trails linking raw scans to specific calibration files.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requirements: Spectrometer serial number, fiber optic bundle ID, foreoptic serial number.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reference panel serial number and calibration certificate issue date.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instrument operating firmware version and dark current subtraction timestamp.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these records, historic field data cannot be re-calibrated when standards improve.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calibration files alongside raw spectral files in read-only data repositories.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Wilkinson, M. D. et al. (2016). The FAIR Guiding Principles for scientific data management. Scientific Data, 3, 160018.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3 • [QUALITYASSURANCE] • SLIDE 30/30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Synthesis: Toward Rigorous Field Protocols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Calibration and uncertainty quantification transform raw digital numbers into defensible scientific measurements.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synthesized: NIST traceability, wavelength validation (Hg-Ar, Mylar), radiometric calibration, Spectralon care, and GUM uncertainty budgets.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Module 4, we step outdoors into dynamic environments: solar zenith windows, BRDF sampling geometry, footprint calculations, and field metadata.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practical: Computing GUM uncertainty propagation curves and building automated Spectralon contamination detectors.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Milton, E. J. et al. (2009). Progress in field spectroscopy. Remote Sensing of Environment, 113, S92-S109.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31</Slides>
	<Notes>31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31</vt:i4></vt:variant>
		</vt:vector>
	</HeadingPairs>
	<TitlesOfParts>
		<vt:vector size="3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<vt:lpstr>Slide 17</vt:lpstr><vt:lpstr>Slide 18</vt:lpstr><vt:lpstr>Slide 19</vt:lpstr><vt:lpstr>Slide 20</vt:lpstr><vt:lpstr>Slide 21</vt:lpstr><vt:lpstr>Slide 22</vt:lpstr><vt:lpstr>Slide 23</vt:lpstr><vt:lpstr>Slide 24</vt:lpstr><vt:lpstr>Slide 25</vt:lpstr><vt:lpstr>Slide 26</vt:lpstr><vt:lpstr>Slide 27</vt:lpstr><vt:lpstr>Slide 28</vt:lpstr><vt:lpstr>Slide 29</vt:lpstr><vt:lpstr>Slide 30</vt:lpstr><vt:lpstr>Slide 31</vt:lpstr>
		</vt:vector>
	</TitlesOfParts>
	<Company>GEO-MSc-704 Earth Observation & Geo-Information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Sensor Calibration, White Reference (Spectralon) &amp; Radiometric Validation</dc:title>
  <dc:subject>PptxGenJS Presentation</dc:subject>
  <dc:creator>Principles of Field Spectroscopy - MSc Curriculum</dc:creator>
  <cp:lastModifiedBy>Principles of Field Spectroscopy - MSc Curriculum</cp:lastModifiedBy>
  <cp:revision>1</cp:revision>
  <dcterms:created xsi:type="dcterms:W3CDTF">2026-10-12T19:27:31Z</dcterms:created>
  <dcterms:modified xsi:type="dcterms:W3CDTF">2026-10-12T19:27:31Z</dcterms:modified>
</cp:coreProperties>
</file>